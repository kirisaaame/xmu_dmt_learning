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41" r:id="rId2"/>
    <p:sldId id="327" r:id="rId3"/>
    <p:sldId id="328" r:id="rId4"/>
    <p:sldId id="330" r:id="rId5"/>
    <p:sldId id="370" r:id="rId6"/>
    <p:sldId id="331" r:id="rId7"/>
    <p:sldId id="334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D99F8-2109-4508-B89D-C5654C3CD072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ACD33D-4843-4BCC-BBB3-AB1B0AC6E60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ACD33D-4843-4BCC-BBB3-AB1B0AC6E60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03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3C79AEB-7568-4B2D-A287-3BB200D9C69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C0EC0D7-905B-4E79-824C-A226C0EE1D2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jpmorganchase.github.io/anu/api/classes/Selection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jpmorganchase.github.io/anu/api/classes/Selection.html#prop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1992314" y="3130550"/>
            <a:ext cx="8207375" cy="407988"/>
          </a:xfrm>
        </p:spPr>
        <p:txBody>
          <a:bodyPr/>
          <a:lstStyle/>
          <a:p>
            <a:r>
              <a:rPr lang="zh-CN" altLang="en-US"/>
              <a:t>实验四：</a:t>
            </a:r>
            <a:r>
              <a:rPr lang="en-US" altLang="zh-CN" dirty="0"/>
              <a:t>Anu</a:t>
            </a:r>
            <a:r>
              <a:rPr lang="zh-CN" altLang="en-US" dirty="0"/>
              <a:t>入门</a:t>
            </a:r>
          </a:p>
        </p:txBody>
      </p:sp>
      <p:sp>
        <p:nvSpPr>
          <p:cNvPr id="6147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1992314" y="1989139"/>
            <a:ext cx="8207375" cy="960437"/>
          </a:xfrm>
        </p:spPr>
        <p:txBody>
          <a:bodyPr/>
          <a:lstStyle/>
          <a:p>
            <a:pPr eaLnBrk="1" hangingPunct="1"/>
            <a:r>
              <a:rPr lang="zh-CN" altLang="en-US" dirty="0"/>
              <a:t>信息可视化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目录</a:t>
            </a:r>
          </a:p>
        </p:txBody>
      </p:sp>
      <p:sp>
        <p:nvSpPr>
          <p:cNvPr id="717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简介</a:t>
            </a:r>
            <a:endParaRPr lang="en-US" altLang="zh-CN" dirty="0"/>
          </a:p>
          <a:p>
            <a:r>
              <a:rPr lang="zh-CN" altLang="en-US" dirty="0"/>
              <a:t>安装</a:t>
            </a:r>
            <a:endParaRPr lang="en-US" altLang="zh-CN" dirty="0"/>
          </a:p>
          <a:p>
            <a:r>
              <a:rPr lang="zh-CN" altLang="en-US" dirty="0"/>
              <a:t>创建网格体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selections</a:t>
            </a:r>
          </a:p>
          <a:p>
            <a:r>
              <a:rPr lang="zh-CN" altLang="en-US" dirty="0">
                <a:latin typeface="Times New Roman Regular" panose="02020603050405020304" charset="0"/>
              </a:rPr>
              <a:t>包装器方法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>
          <a:xfrm>
            <a:off x="1251678" y="382385"/>
            <a:ext cx="10178322" cy="93892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简介</a:t>
            </a:r>
          </a:p>
        </p:txBody>
      </p:sp>
      <p:sp>
        <p:nvSpPr>
          <p:cNvPr id="8195" name="内容占位符 2"/>
          <p:cNvSpPr>
            <a:spLocks noGrp="1" noChangeArrowheads="1"/>
          </p:cNvSpPr>
          <p:nvPr>
            <p:ph idx="1"/>
          </p:nvPr>
        </p:nvSpPr>
        <p:spPr>
          <a:xfrm>
            <a:off x="1251678" y="3327532"/>
            <a:ext cx="10178322" cy="3027042"/>
          </a:xfrm>
        </p:spPr>
        <p:txBody>
          <a:bodyPr>
            <a:normAutofit/>
          </a:bodyPr>
          <a:lstStyle/>
          <a:p>
            <a:r>
              <a:rPr lang="zh-CN" altLang="en-US" dirty="0"/>
              <a:t>基于 </a:t>
            </a:r>
            <a:r>
              <a:rPr lang="en-US" altLang="zh-CN" dirty="0"/>
              <a:t>Babylon.js + </a:t>
            </a:r>
            <a:r>
              <a:rPr lang="en-US" altLang="zh-CN" dirty="0" err="1"/>
              <a:t>WebXR</a:t>
            </a:r>
            <a:r>
              <a:rPr lang="en-US" altLang="zh-CN" dirty="0"/>
              <a:t> </a:t>
            </a:r>
            <a:r>
              <a:rPr lang="zh-CN" altLang="en-US" dirty="0"/>
              <a:t>的沉浸式可视化工具包</a:t>
            </a:r>
          </a:p>
          <a:p>
            <a:r>
              <a:rPr lang="zh-CN" altLang="en-US" dirty="0"/>
              <a:t>借鉴 </a:t>
            </a:r>
            <a:r>
              <a:rPr lang="en-US" altLang="zh-CN" dirty="0"/>
              <a:t>D3.js </a:t>
            </a:r>
            <a:r>
              <a:rPr lang="zh-CN" altLang="en-US" dirty="0"/>
              <a:t>的数据驱动选择模式</a:t>
            </a:r>
          </a:p>
          <a:p>
            <a:r>
              <a:rPr lang="zh-CN" altLang="en-US" dirty="0"/>
              <a:t>用于在浏览器中快速构建沉浸式 </a:t>
            </a:r>
            <a:r>
              <a:rPr lang="en-US" altLang="zh-CN" dirty="0"/>
              <a:t>3D </a:t>
            </a:r>
            <a:r>
              <a:rPr lang="zh-CN" altLang="en-US" dirty="0"/>
              <a:t>可视化</a:t>
            </a:r>
          </a:p>
          <a:p>
            <a:pPr eaLnBrk="1" hangingPunct="1"/>
            <a:endParaRPr lang="en-US" altLang="zh-CN" dirty="0"/>
          </a:p>
          <a:p>
            <a:pPr marL="0" indent="0" eaLnBrk="1" hangingPunct="1">
              <a:buNone/>
            </a:pP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090C3D-6184-FA06-1539-1C252E6C7089}"/>
              </a:ext>
            </a:extLst>
          </p:cNvPr>
          <p:cNvSpPr txBox="1"/>
          <p:nvPr/>
        </p:nvSpPr>
        <p:spPr>
          <a:xfrm>
            <a:off x="1251678" y="164581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什么是 </a:t>
            </a:r>
            <a:r>
              <a:rPr lang="en-US" altLang="zh-CN" sz="2800" dirty="0">
                <a:latin typeface="+mn-ea"/>
                <a:ea typeface="+mn-ea"/>
              </a:rPr>
              <a:t>Anu.js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51BEE8-FBA8-7E36-CD6A-A77BF877C4AA}"/>
              </a:ext>
            </a:extLst>
          </p:cNvPr>
          <p:cNvSpPr txBox="1"/>
          <p:nvPr/>
        </p:nvSpPr>
        <p:spPr>
          <a:xfrm>
            <a:off x="1251678" y="2314575"/>
            <a:ext cx="5796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开源的一个 </a:t>
            </a:r>
            <a:r>
              <a:rPr lang="zh-CN" altLang="en-US" b="1" dirty="0"/>
              <a:t>沉浸式可视化（</a:t>
            </a:r>
            <a:r>
              <a:rPr lang="en-US" altLang="zh-CN" b="1" dirty="0"/>
              <a:t>Immersive Visualization</a:t>
            </a:r>
            <a:r>
              <a:rPr lang="zh-CN" altLang="en-US" b="1" dirty="0"/>
              <a:t>）工具包</a:t>
            </a:r>
            <a:r>
              <a:rPr lang="zh-CN" altLang="en-US"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6347B3-D850-C143-30AB-3C323E43B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1604234"/>
            <a:ext cx="4345356" cy="36495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简介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982B948-49FC-33E7-3FAC-C14F2CC55359}"/>
              </a:ext>
            </a:extLst>
          </p:cNvPr>
          <p:cNvSpPr txBox="1">
            <a:spLocks noChangeArrowheads="1"/>
          </p:cNvSpPr>
          <p:nvPr/>
        </p:nvSpPr>
        <p:spPr>
          <a:xfrm>
            <a:off x="1251678" y="1341640"/>
            <a:ext cx="10178322" cy="505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ill Sans MT"/>
                <a:ea typeface="华文中宋" panose="02010600040101010101" pitchFamily="2" charset="-122"/>
                <a:cs typeface="+mn-cs"/>
              </a:rPr>
              <a:t>前置知识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Gill Sans MT"/>
              <a:ea typeface="华文中宋" panose="02010600040101010101" pitchFamily="2" charset="-122"/>
              <a:cs typeface="+mn-cs"/>
            </a:endParaRPr>
          </a:p>
          <a:p>
            <a:pPr lvl="1">
              <a:buClr>
                <a:srgbClr val="2A1A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000" dirty="0"/>
              <a:t>Web </a:t>
            </a:r>
            <a:r>
              <a:rPr lang="zh-CN" altLang="en-US" sz="2000" dirty="0"/>
              <a:t>开发基础</a:t>
            </a:r>
            <a:endParaRPr lang="en-US" altLang="zh-CN" sz="2000" dirty="0"/>
          </a:p>
          <a:p>
            <a:pPr lvl="2">
              <a:buClr>
                <a:srgbClr val="2A1A00"/>
              </a:buClr>
              <a:defRPr/>
            </a:pPr>
            <a:r>
              <a:rPr lang="en-US" altLang="zh-CN" sz="1800" dirty="0"/>
              <a:t>JavaScript</a:t>
            </a:r>
          </a:p>
          <a:p>
            <a:pPr lvl="2">
              <a:buClr>
                <a:srgbClr val="2A1A00"/>
              </a:buClr>
              <a:defRPr/>
            </a:pPr>
            <a:r>
              <a:rPr lang="en-US" altLang="zh-CN" sz="1800" dirty="0"/>
              <a:t>HTML </a:t>
            </a:r>
          </a:p>
          <a:p>
            <a:pPr lvl="2">
              <a:buClr>
                <a:srgbClr val="2A1A00"/>
              </a:buClr>
              <a:defRPr/>
            </a:pPr>
            <a:r>
              <a:rPr lang="en-US" altLang="zh-CN" sz="1800" dirty="0"/>
              <a:t>CSS</a:t>
            </a:r>
            <a:endParaRPr lang="zh-CN" alt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Node.js </a:t>
            </a:r>
            <a:r>
              <a:rPr lang="zh-CN" altLang="en-US" sz="2000" dirty="0"/>
              <a:t>是什么以及如何使用它。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D3 </a:t>
            </a:r>
            <a:r>
              <a:rPr lang="zh-CN" altLang="en-US" sz="2000" dirty="0"/>
              <a:t>的 </a:t>
            </a:r>
            <a:r>
              <a:rPr lang="en-US" altLang="zh-CN" sz="2000" dirty="0"/>
              <a:t>DOM </a:t>
            </a:r>
            <a:r>
              <a:rPr lang="zh-CN" altLang="en-US" sz="2000" dirty="0"/>
              <a:t>操作模式和可视化工具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lvl="0">
              <a:buClr>
                <a:srgbClr val="2A1A00"/>
              </a:buClr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推荐了解</a:t>
            </a: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vl="1">
              <a:buClr>
                <a:srgbClr val="2A1A00"/>
              </a:buClr>
              <a:defRPr/>
            </a:pPr>
            <a:r>
              <a:rPr lang="zh-CN" altLang="en-US" dirty="0"/>
              <a:t>如何设置和使用 </a:t>
            </a:r>
            <a:r>
              <a:rPr lang="en-US" altLang="zh-CN" dirty="0"/>
              <a:t>Babylon.js </a:t>
            </a:r>
            <a:r>
              <a:rPr lang="zh-CN" altLang="en-US" dirty="0"/>
              <a:t>创建 </a:t>
            </a:r>
            <a:r>
              <a:rPr lang="en-US" altLang="zh-CN" dirty="0"/>
              <a:t>3D </a:t>
            </a:r>
            <a:r>
              <a:rPr lang="zh-CN" altLang="en-US" dirty="0"/>
              <a:t>场景和网格。</a:t>
            </a:r>
            <a:endParaRPr lang="en-US" altLang="zh-CN" dirty="0"/>
          </a:p>
          <a:p>
            <a:pPr lvl="1"/>
            <a:r>
              <a:rPr lang="en-US" altLang="zh-CN" dirty="0" err="1"/>
              <a:t>WebXR</a:t>
            </a:r>
            <a:r>
              <a:rPr lang="en-US" altLang="zh-CN" dirty="0"/>
              <a:t> API </a:t>
            </a:r>
            <a:r>
              <a:rPr lang="zh-CN" altLang="en-US" dirty="0"/>
              <a:t>以及相关概念、应用和局限性</a:t>
            </a:r>
          </a:p>
          <a:p>
            <a:pPr lvl="1"/>
            <a:r>
              <a:rPr lang="zh-CN" altLang="en-US" dirty="0"/>
              <a:t>熟悉 </a:t>
            </a:r>
            <a:r>
              <a:rPr lang="en-US" altLang="zh-CN" dirty="0"/>
              <a:t>Node.js </a:t>
            </a:r>
            <a:r>
              <a:rPr lang="zh-CN" altLang="en-US" dirty="0"/>
              <a:t>工具链 和打包工具，如 </a:t>
            </a:r>
            <a:r>
              <a:rPr lang="en-US" altLang="zh-CN" dirty="0"/>
              <a:t>Vite</a:t>
            </a:r>
            <a:r>
              <a:rPr lang="zh-CN" altLang="en-US" dirty="0"/>
              <a:t>、</a:t>
            </a:r>
            <a:r>
              <a:rPr lang="en-US" altLang="zh-CN" dirty="0"/>
              <a:t>webpack </a:t>
            </a:r>
            <a:r>
              <a:rPr lang="zh-CN" altLang="en-US" dirty="0"/>
              <a:t>等</a:t>
            </a:r>
          </a:p>
          <a:p>
            <a:pPr lvl="0">
              <a:buClr>
                <a:srgbClr val="2A1A00"/>
              </a:buClr>
              <a:defRPr/>
            </a:pPr>
            <a:endParaRPr lang="en-US" altLang="zh-CN" sz="24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457200" lvl="1" indent="0">
              <a:buNone/>
            </a:pPr>
            <a:endParaRPr lang="zh-CN" altLang="en-US" sz="2000" dirty="0"/>
          </a:p>
          <a:p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0EE2A-BDEF-6E71-6859-CD582B9D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B9E866BA-4A13-83E4-93C4-AB231A09B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安装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52F5CB3-5AAC-DD80-EE28-737CD38E1BC2}"/>
              </a:ext>
            </a:extLst>
          </p:cNvPr>
          <p:cNvSpPr txBox="1">
            <a:spLocks noChangeArrowheads="1"/>
          </p:cNvSpPr>
          <p:nvPr/>
        </p:nvSpPr>
        <p:spPr>
          <a:xfrm>
            <a:off x="1251678" y="1341640"/>
            <a:ext cx="10178322" cy="505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2A1A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Gill Sans MT"/>
                <a:ea typeface="华文中宋" panose="02010600040101010101" pitchFamily="2" charset="-122"/>
              </a:rPr>
              <a:t>已有项目结构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Gill Sans MT"/>
              <a:ea typeface="华文中宋" panose="02010600040101010101" pitchFamily="2" charset="-122"/>
              <a:cs typeface="+mn-cs"/>
            </a:endParaRPr>
          </a:p>
          <a:p>
            <a:pPr lvl="1">
              <a:buClr>
                <a:srgbClr val="2A1A00"/>
              </a:buClr>
              <a:defRPr/>
            </a:pPr>
            <a:r>
              <a:rPr lang="zh-CN" altLang="en-US" dirty="0"/>
              <a:t>项目结构启动并运行后，在终端中运行以下命令来安装 </a:t>
            </a:r>
            <a:r>
              <a:rPr lang="en-US" altLang="zh-CN" dirty="0"/>
              <a:t>Anu</a:t>
            </a:r>
            <a:endParaRPr lang="en-US" altLang="zh-CN" sz="22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457200" lvl="1" indent="0">
              <a:buNone/>
            </a:pPr>
            <a:r>
              <a:rPr lang="en-US" altLang="zh-CN" sz="2000" dirty="0" err="1">
                <a:highlight>
                  <a:srgbClr val="C0C0C0"/>
                </a:highlight>
              </a:rPr>
              <a:t>npm</a:t>
            </a:r>
            <a:r>
              <a:rPr lang="en-US" altLang="zh-CN" sz="2000" dirty="0">
                <a:highlight>
                  <a:srgbClr val="C0C0C0"/>
                </a:highlight>
              </a:rPr>
              <a:t> install @jpmorganchase/anu</a:t>
            </a:r>
          </a:p>
          <a:p>
            <a:pPr lvl="1"/>
            <a:r>
              <a:rPr lang="zh-CN" altLang="en-US" dirty="0"/>
              <a:t>在脚本文件中导入 </a:t>
            </a:r>
            <a:r>
              <a:rPr lang="en-US" altLang="zh-CN" dirty="0"/>
              <a:t>Anu</a:t>
            </a:r>
          </a:p>
          <a:p>
            <a:pPr marL="457200" lvl="1" indent="0">
              <a:buNone/>
            </a:pPr>
            <a:r>
              <a:rPr lang="en-US" altLang="zh-CN" sz="2000" dirty="0">
                <a:highlight>
                  <a:srgbClr val="C0C0C0"/>
                </a:highlight>
              </a:rPr>
              <a:t>import * as anu from '@</a:t>
            </a:r>
            <a:r>
              <a:rPr lang="en-US" altLang="zh-CN" sz="2000" dirty="0" err="1">
                <a:highlight>
                  <a:srgbClr val="C0C0C0"/>
                </a:highlight>
              </a:rPr>
              <a:t>jpmorganchase</a:t>
            </a:r>
            <a:r>
              <a:rPr lang="en-US" altLang="zh-CN" sz="2000" dirty="0">
                <a:highlight>
                  <a:srgbClr val="C0C0C0"/>
                </a:highlight>
              </a:rPr>
              <a:t>/anu’;</a:t>
            </a:r>
          </a:p>
          <a:p>
            <a:pPr marL="457200" lvl="1" indent="0">
              <a:buNone/>
            </a:pPr>
            <a:endParaRPr lang="zh-CN" altLang="en-US" sz="2000" dirty="0">
              <a:highlight>
                <a:srgbClr val="C0C0C0"/>
              </a:highlight>
            </a:endParaRPr>
          </a:p>
          <a:p>
            <a:r>
              <a:rPr lang="zh-CN" altLang="en-US" b="1" dirty="0"/>
              <a:t>或使用 </a:t>
            </a:r>
            <a:r>
              <a:rPr lang="en-US" altLang="zh-CN" b="1" dirty="0"/>
              <a:t>Anu-Starter </a:t>
            </a:r>
            <a:r>
              <a:rPr lang="zh-CN" altLang="en-US" b="1" dirty="0"/>
              <a:t>模板创建项目（推荐）</a:t>
            </a:r>
          </a:p>
          <a:p>
            <a:pPr marL="0" indent="0">
              <a:buNone/>
            </a:pPr>
            <a:r>
              <a:rPr lang="en-US" altLang="zh-CN" dirty="0" err="1">
                <a:highlight>
                  <a:srgbClr val="C0C0C0"/>
                </a:highlight>
              </a:rPr>
              <a:t>npx</a:t>
            </a:r>
            <a:r>
              <a:rPr lang="en-US" altLang="zh-CN" dirty="0">
                <a:highlight>
                  <a:srgbClr val="C0C0C0"/>
                </a:highlight>
              </a:rPr>
              <a:t> @jpmorganchase/anu-starter@latest </a:t>
            </a:r>
            <a:r>
              <a:rPr lang="en-US" altLang="zh-CN" dirty="0" err="1">
                <a:highlight>
                  <a:srgbClr val="C0C0C0"/>
                </a:highlight>
              </a:rPr>
              <a:t>my_project</a:t>
            </a:r>
            <a:r>
              <a:rPr lang="en-US" altLang="zh-CN" dirty="0">
                <a:highlight>
                  <a:srgbClr val="C0C0C0"/>
                </a:highlight>
              </a:rPr>
              <a:t> </a:t>
            </a:r>
            <a:r>
              <a:rPr lang="en-US" altLang="zh-CN" dirty="0"/>
              <a:t>  //</a:t>
            </a:r>
            <a:r>
              <a:rPr lang="zh-CN" altLang="en-US" dirty="0"/>
              <a:t>生成项目结构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highlight>
                  <a:srgbClr val="C0C0C0"/>
                </a:highlight>
              </a:rPr>
              <a:t>cd </a:t>
            </a:r>
            <a:r>
              <a:rPr lang="en-US" altLang="zh-CN" dirty="0" err="1">
                <a:highlight>
                  <a:srgbClr val="C0C0C0"/>
                </a:highlight>
              </a:rPr>
              <a:t>my_project</a:t>
            </a:r>
            <a:endParaRPr lang="en-US" altLang="zh-CN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en-US" altLang="zh-CN" dirty="0" err="1">
                <a:highlight>
                  <a:srgbClr val="C0C0C0"/>
                </a:highlight>
              </a:rPr>
              <a:t>npm</a:t>
            </a:r>
            <a:r>
              <a:rPr lang="en-US" altLang="zh-CN" dirty="0">
                <a:highlight>
                  <a:srgbClr val="C0C0C0"/>
                </a:highlight>
              </a:rPr>
              <a:t> install </a:t>
            </a:r>
            <a:r>
              <a:rPr lang="en-US" altLang="zh-CN" dirty="0"/>
              <a:t>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华文中宋" panose="02010600040101010101" pitchFamily="2" charset="-122"/>
                <a:cs typeface="+mn-cs"/>
              </a:rPr>
              <a:t>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华文中宋" panose="02010600040101010101" pitchFamily="2" charset="-122"/>
                <a:cs typeface="+mn-cs"/>
              </a:rPr>
              <a:t>安装依赖</a:t>
            </a:r>
            <a:endParaRPr lang="en-US" altLang="zh-CN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en-US" altLang="zh-CN" dirty="0" err="1">
                <a:highlight>
                  <a:srgbClr val="C0C0C0"/>
                </a:highlight>
              </a:rPr>
              <a:t>npm</a:t>
            </a:r>
            <a:r>
              <a:rPr lang="en-US" altLang="zh-CN" dirty="0">
                <a:highlight>
                  <a:srgbClr val="C0C0C0"/>
                </a:highlight>
              </a:rPr>
              <a:t> run dev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华文中宋" panose="02010600040101010101" pitchFamily="2" charset="-122"/>
                <a:cs typeface="+mn-cs"/>
              </a:rPr>
              <a:t>   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华文中宋" panose="02010600040101010101" pitchFamily="2" charset="-122"/>
                <a:cs typeface="+mn-cs"/>
              </a:rPr>
              <a:t>运行</a:t>
            </a:r>
            <a:endParaRPr lang="en-US" altLang="zh-CN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92722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 Regular" panose="02020603050405020304" charset="0"/>
                <a:cs typeface="Times New Roman Regular" panose="02020603050405020304" charset="0"/>
              </a:rPr>
              <a:t>创建网格体</a:t>
            </a:r>
          </a:p>
        </p:txBody>
      </p:sp>
      <p:sp>
        <p:nvSpPr>
          <p:cNvPr id="11267" name="内容占位符 2"/>
          <p:cNvSpPr>
            <a:spLocks noGrp="1" noChangeArrowheads="1"/>
          </p:cNvSpPr>
          <p:nvPr>
            <p:ph idx="1"/>
          </p:nvPr>
        </p:nvSpPr>
        <p:spPr>
          <a:xfrm>
            <a:off x="1251678" y="1279779"/>
            <a:ext cx="10178322" cy="3593591"/>
          </a:xfrm>
        </p:spPr>
        <p:txBody>
          <a:bodyPr/>
          <a:lstStyle/>
          <a:p>
            <a:r>
              <a:rPr lang="zh-CN" altLang="en-US" dirty="0"/>
              <a:t>添加一个 </a:t>
            </a:r>
            <a:r>
              <a:rPr lang="en-US" altLang="zh-CN" dirty="0"/>
              <a:t>Box</a:t>
            </a:r>
          </a:p>
          <a:p>
            <a:r>
              <a:rPr lang="en-US" altLang="zh-CN" dirty="0"/>
              <a:t>Anu </a:t>
            </a:r>
            <a:r>
              <a:rPr lang="zh-CN" altLang="en-US" dirty="0"/>
              <a:t>的 </a:t>
            </a:r>
            <a:r>
              <a:rPr lang="en-US" altLang="zh-CN" b="1" dirty="0"/>
              <a:t>create()</a:t>
            </a:r>
            <a:r>
              <a:rPr lang="en-US" altLang="zh-CN" dirty="0"/>
              <a:t> </a:t>
            </a:r>
            <a:r>
              <a:rPr lang="zh-CN" altLang="en-US" dirty="0"/>
              <a:t>函数如何向场景中添加一个 </a:t>
            </a:r>
            <a:r>
              <a:rPr lang="en-US" altLang="zh-CN" dirty="0"/>
              <a:t>Mesh</a:t>
            </a:r>
            <a:r>
              <a:rPr lang="zh-CN" altLang="en-US" dirty="0"/>
              <a:t>，并返回该 </a:t>
            </a:r>
            <a:r>
              <a:rPr lang="en-US" altLang="zh-CN" dirty="0"/>
              <a:t>Mesh</a:t>
            </a:r>
          </a:p>
          <a:p>
            <a:r>
              <a:rPr lang="en-US" altLang="zh-CN" b="1" dirty="0"/>
              <a:t>create()</a:t>
            </a:r>
            <a:r>
              <a:rPr lang="en-US" altLang="zh-CN" dirty="0"/>
              <a:t> </a:t>
            </a:r>
            <a:r>
              <a:rPr lang="zh-CN" altLang="en-US" dirty="0"/>
              <a:t>可以接收一个可选参数 </a:t>
            </a:r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797175" y="2707242"/>
            <a:ext cx="4572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/>
              <a:t>let box = </a:t>
            </a:r>
            <a:r>
              <a:rPr lang="en-US" altLang="zh-CN" dirty="0" err="1"/>
              <a:t>anu.create</a:t>
            </a:r>
            <a:r>
              <a:rPr lang="en-US" altLang="zh-CN" dirty="0"/>
              <a:t>('box', '</a:t>
            </a:r>
            <a:r>
              <a:rPr lang="en-US" altLang="zh-CN" dirty="0" err="1"/>
              <a:t>myBox</a:t>
            </a:r>
            <a:r>
              <a:rPr lang="en-US" altLang="zh-CN" dirty="0"/>
              <a:t>', {size: 2});</a:t>
            </a:r>
            <a:endParaRPr lang="zh-CN" altLang="en-US" sz="1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413062C-2C1C-D43E-D22B-161D99C05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3635696"/>
            <a:ext cx="8171752" cy="2526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  <a:cs typeface="Times New Roman Regular" panose="02020603050405020304" charset="0"/>
              </a:rPr>
              <a:t>创建</a:t>
            </a:r>
            <a:r>
              <a:rPr lang="zh-CN" altLang="en-US" sz="4000" dirty="0">
                <a:latin typeface="Times New Roman Regular" panose="02020603050405020304" charset="0"/>
              </a:rPr>
              <a:t>网格</a:t>
            </a:r>
            <a:r>
              <a:rPr lang="zh-CN" altLang="en-US" sz="4000" dirty="0">
                <a:latin typeface="Times New Roman Regular" panose="02020603050405020304" charset="0"/>
                <a:cs typeface="Times New Roman Regular" panose="02020603050405020304" charset="0"/>
              </a:rPr>
              <a:t>体</a:t>
            </a:r>
            <a:endParaRPr lang="zh-CN" altLang="en-US" sz="4000" b="1" dirty="0"/>
          </a:p>
        </p:txBody>
      </p:sp>
      <p:sp>
        <p:nvSpPr>
          <p:cNvPr id="12291" name="内容占位符 2"/>
          <p:cNvSpPr>
            <a:spLocks noGrp="1" noChangeArrowheads="1"/>
          </p:cNvSpPr>
          <p:nvPr>
            <p:ph idx="1"/>
          </p:nvPr>
        </p:nvSpPr>
        <p:spPr>
          <a:xfrm>
            <a:off x="1251678" y="1389893"/>
            <a:ext cx="10178322" cy="3593591"/>
          </a:xfrm>
        </p:spPr>
        <p:txBody>
          <a:bodyPr/>
          <a:lstStyle/>
          <a:p>
            <a:r>
              <a:rPr lang="zh-CN" altLang="en-US" dirty="0"/>
              <a:t>更改框属性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2210662" y="1874517"/>
            <a:ext cx="685800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dirty="0"/>
              <a:t>    </a:t>
            </a:r>
            <a:r>
              <a:rPr lang="en-US" altLang="zh-CN" dirty="0" err="1"/>
              <a:t>box.position</a:t>
            </a:r>
            <a:r>
              <a:rPr lang="en-US" altLang="zh-CN" dirty="0"/>
              <a:t> = new Vector3(2,-1,2);</a:t>
            </a:r>
          </a:p>
          <a:p>
            <a:r>
              <a:rPr lang="en-US" altLang="zh-CN" dirty="0"/>
              <a:t>    </a:t>
            </a:r>
            <a:r>
              <a:rPr lang="en-US" altLang="zh-CN" dirty="0" err="1"/>
              <a:t>box.scaling.y</a:t>
            </a:r>
            <a:r>
              <a:rPr lang="en-US" altLang="zh-CN" dirty="0"/>
              <a:t> = 2;</a:t>
            </a:r>
          </a:p>
          <a:p>
            <a:r>
              <a:rPr lang="en-US" altLang="zh-CN" dirty="0"/>
              <a:t>    </a:t>
            </a:r>
            <a:r>
              <a:rPr lang="en-US" altLang="zh-CN" dirty="0" err="1"/>
              <a:t>box.rotation.x</a:t>
            </a:r>
            <a:r>
              <a:rPr lang="en-US" altLang="zh-CN" dirty="0"/>
              <a:t> = 1.5708; //radians</a:t>
            </a:r>
          </a:p>
          <a:p>
            <a:r>
              <a:rPr lang="en-US" altLang="zh-CN" dirty="0"/>
              <a:t>    let material = new </a:t>
            </a:r>
            <a:r>
              <a:rPr lang="en-US" altLang="zh-CN" dirty="0" err="1"/>
              <a:t>StandardMaterial</a:t>
            </a:r>
            <a:r>
              <a:rPr lang="en-US" altLang="zh-CN" dirty="0"/>
              <a:t>('box-mat');</a:t>
            </a:r>
          </a:p>
          <a:p>
            <a:r>
              <a:rPr lang="en-US" altLang="zh-CN" dirty="0"/>
              <a:t>    </a:t>
            </a:r>
            <a:r>
              <a:rPr lang="en-US" altLang="zh-CN" dirty="0" err="1"/>
              <a:t>material.diffuseColor</a:t>
            </a:r>
            <a:r>
              <a:rPr lang="en-US" altLang="zh-CN" dirty="0"/>
              <a:t> = Color3.Green();</a:t>
            </a:r>
          </a:p>
          <a:p>
            <a:r>
              <a:rPr lang="en-US" altLang="zh-CN" dirty="0"/>
              <a:t>    </a:t>
            </a:r>
            <a:r>
              <a:rPr lang="en-US" altLang="zh-CN" dirty="0" err="1"/>
              <a:t>box.material</a:t>
            </a:r>
            <a:r>
              <a:rPr lang="en-US" altLang="zh-CN" dirty="0"/>
              <a:t> = material;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E5740B-0884-EFB9-6ABB-02F1736CB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3" y="4000500"/>
            <a:ext cx="7548562" cy="23388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9FDCF-1DCE-405C-38A7-FFA0292D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1E8E8303-2B82-89DF-BBB0-2DE21A57A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将数据绑定到网格体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FBFC8886-1CC1-226D-4AAC-1270DBCFF6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389893"/>
            <a:ext cx="10178322" cy="3593591"/>
          </a:xfrm>
        </p:spPr>
        <p:txBody>
          <a:bodyPr/>
          <a:lstStyle/>
          <a:p>
            <a:r>
              <a:rPr lang="zh-CN" altLang="en-US" b="1" dirty="0"/>
              <a:t>动态设置网格体选项，</a:t>
            </a:r>
            <a:r>
              <a:rPr lang="zh-CN" altLang="en-US" dirty="0"/>
              <a:t>使用数据来动态设置盒体网格的初始化属性</a:t>
            </a:r>
            <a:endParaRPr lang="zh-CN" altLang="en-US" b="1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DC8C4E-AC9B-8491-C77D-FEF09D64FFE7}"/>
              </a:ext>
            </a:extLst>
          </p:cNvPr>
          <p:cNvSpPr/>
          <p:nvPr/>
        </p:nvSpPr>
        <p:spPr>
          <a:xfrm>
            <a:off x="1458676" y="1935523"/>
            <a:ext cx="8834435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let data = { goals: 5, assists: 10, points: 2 };</a:t>
            </a:r>
          </a:p>
          <a:p>
            <a:r>
              <a:rPr lang="en-US" altLang="zh-CN" dirty="0"/>
              <a:t>  let box = </a:t>
            </a:r>
            <a:r>
              <a:rPr lang="en-US" altLang="zh-CN" dirty="0" err="1"/>
              <a:t>anu.create</a:t>
            </a:r>
            <a:r>
              <a:rPr lang="en-US" altLang="zh-CN" dirty="0"/>
              <a:t>(</a:t>
            </a:r>
          </a:p>
          <a:p>
            <a:r>
              <a:rPr lang="en-US" altLang="zh-CN" dirty="0"/>
              <a:t>    'box',</a:t>
            </a:r>
          </a:p>
          <a:p>
            <a:r>
              <a:rPr lang="en-US" altLang="zh-CN" dirty="0"/>
              <a:t>    '</a:t>
            </a:r>
            <a:r>
              <a:rPr lang="en-US" altLang="zh-CN" dirty="0" err="1"/>
              <a:t>ourBox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    { height: (d) =&gt; </a:t>
            </a:r>
            <a:r>
              <a:rPr lang="en-US" altLang="zh-CN" dirty="0" err="1"/>
              <a:t>d.goals</a:t>
            </a:r>
            <a:r>
              <a:rPr lang="en-US" altLang="zh-CN" dirty="0"/>
              <a:t>, width: (d) =&gt; </a:t>
            </a:r>
            <a:r>
              <a:rPr lang="en-US" altLang="zh-CN" dirty="0" err="1"/>
              <a:t>d.assists</a:t>
            </a:r>
            <a:r>
              <a:rPr lang="en-US" altLang="zh-CN" dirty="0"/>
              <a:t>, depth: (d) =&gt; </a:t>
            </a:r>
            <a:r>
              <a:rPr lang="en-US" altLang="zh-CN" dirty="0" err="1"/>
              <a:t>d.points</a:t>
            </a:r>
            <a:r>
              <a:rPr lang="en-US" altLang="zh-CN" dirty="0"/>
              <a:t> },</a:t>
            </a:r>
          </a:p>
          <a:p>
            <a:r>
              <a:rPr lang="en-US" altLang="zh-CN" dirty="0"/>
              <a:t>    data,</a:t>
            </a:r>
          </a:p>
          <a:p>
            <a:r>
              <a:rPr lang="en-US" altLang="zh-CN" dirty="0"/>
              <a:t>  );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BDE51F-3B66-84AA-4555-7E43C2277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138" y="4470602"/>
            <a:ext cx="6503512" cy="200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13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DA693-78F1-2C92-8760-1373F3E7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EC5D0660-DDB9-7225-2DCA-42308C683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绑定多个网格体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3E5E3D-D9EA-E1B4-103E-97A7583A03F4}"/>
              </a:ext>
            </a:extLst>
          </p:cNvPr>
          <p:cNvSpPr/>
          <p:nvPr/>
        </p:nvSpPr>
        <p:spPr>
          <a:xfrm>
            <a:off x="1420087" y="1874517"/>
            <a:ext cx="3637688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    let data = [</a:t>
            </a:r>
          </a:p>
          <a:p>
            <a:r>
              <a:rPr lang="en-US" altLang="zh-CN" dirty="0"/>
              <a:t>        {goals: 10, assists: 5, points: 2},</a:t>
            </a:r>
          </a:p>
          <a:p>
            <a:r>
              <a:rPr lang="en-US" altLang="zh-CN" dirty="0"/>
              <a:t>        {goals: 3, assists: 15, points: 8},</a:t>
            </a:r>
          </a:p>
          <a:p>
            <a:r>
              <a:rPr lang="en-US" altLang="zh-CN" dirty="0"/>
              <a:t>        {goals: 1, assists: 8, points: 15}</a:t>
            </a:r>
          </a:p>
          <a:p>
            <a:r>
              <a:rPr lang="en-US" altLang="zh-CN" dirty="0"/>
              <a:t>      ];</a:t>
            </a:r>
          </a:p>
          <a:p>
            <a:r>
              <a:rPr lang="en-US" altLang="zh-CN" dirty="0"/>
              <a:t>    let boxes = </a:t>
            </a:r>
            <a:r>
              <a:rPr lang="en-US" altLang="zh-CN" dirty="0" err="1"/>
              <a:t>anu.bind</a:t>
            </a:r>
            <a:r>
              <a:rPr lang="en-US" altLang="zh-CN" dirty="0"/>
              <a:t>('box',</a:t>
            </a:r>
          </a:p>
          <a:p>
            <a:r>
              <a:rPr lang="en-US" altLang="zh-CN" dirty="0"/>
              <a:t>    {</a:t>
            </a:r>
          </a:p>
          <a:p>
            <a:r>
              <a:rPr lang="en-US" altLang="zh-CN" dirty="0"/>
              <a:t>      height: (d) =&gt; </a:t>
            </a:r>
            <a:r>
              <a:rPr lang="en-US" altLang="zh-CN" dirty="0" err="1"/>
              <a:t>d.goals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      width: (d) =&gt; </a:t>
            </a:r>
            <a:r>
              <a:rPr lang="en-US" altLang="zh-CN" dirty="0" err="1"/>
              <a:t>d.assists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      depth: (d) =&gt; </a:t>
            </a:r>
            <a:r>
              <a:rPr lang="en-US" altLang="zh-CN" dirty="0" err="1"/>
              <a:t>d.points</a:t>
            </a:r>
            <a:endParaRPr lang="en-US" altLang="zh-CN" dirty="0"/>
          </a:p>
          <a:p>
            <a:r>
              <a:rPr lang="en-US" altLang="zh-CN" dirty="0"/>
              <a:t>    },</a:t>
            </a:r>
          </a:p>
          <a:p>
            <a:r>
              <a:rPr lang="en-US" altLang="zh-CN" dirty="0"/>
              <a:t>    data,</a:t>
            </a:r>
          </a:p>
          <a:p>
            <a:r>
              <a:rPr lang="en-US" altLang="zh-CN" dirty="0"/>
              <a:t>    scene</a:t>
            </a:r>
          </a:p>
          <a:p>
            <a:r>
              <a:rPr lang="en-US" altLang="zh-CN" dirty="0"/>
              <a:t>    );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4E1C2F-01A9-048B-63CF-6E9C1D4C6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275" y="2513370"/>
            <a:ext cx="5991225" cy="21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569DD-45B4-5F00-357B-29273927C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90D6CBDF-34EF-DCEE-FB4B-479FDCEAC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绑定实例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0DC66E1F-B532-DA68-AB84-87390D9B98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389893"/>
            <a:ext cx="10178322" cy="3593591"/>
          </a:xfrm>
        </p:spPr>
        <p:txBody>
          <a:bodyPr/>
          <a:lstStyle/>
          <a:p>
            <a:r>
              <a:rPr lang="zh-CN" altLang="en-US" b="1" dirty="0"/>
              <a:t>生成一千个颜色各异的小球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0AA482-749E-0461-D2A5-C3DACD085DF7}"/>
              </a:ext>
            </a:extLst>
          </p:cNvPr>
          <p:cNvSpPr/>
          <p:nvPr/>
        </p:nvSpPr>
        <p:spPr>
          <a:xfrm>
            <a:off x="1156428" y="1874517"/>
            <a:ext cx="5053872" cy="4524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//Generate 1000 fake data points</a:t>
            </a:r>
          </a:p>
          <a:p>
            <a:r>
              <a:rPr lang="en-US" altLang="zh-CN" sz="1200" dirty="0"/>
              <a:t>let data = [];</a:t>
            </a:r>
          </a:p>
          <a:p>
            <a:r>
              <a:rPr lang="en-US" altLang="zh-CN" sz="1200" dirty="0"/>
              <a:t>for (let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 = 0;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 &lt; 1000;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++) {</a:t>
            </a:r>
          </a:p>
          <a:p>
            <a:r>
              <a:rPr lang="en-US" altLang="zh-CN" sz="1200" dirty="0"/>
              <a:t>  </a:t>
            </a:r>
            <a:r>
              <a:rPr lang="en-US" altLang="zh-CN" sz="1200" dirty="0" err="1"/>
              <a:t>data.push</a:t>
            </a:r>
            <a:r>
              <a:rPr lang="en-US" altLang="zh-CN" sz="1200" dirty="0"/>
              <a:t>(</a:t>
            </a:r>
          </a:p>
          <a:p>
            <a:r>
              <a:rPr lang="en-US" altLang="zh-CN" sz="1200" dirty="0"/>
              <a:t>    {</a:t>
            </a:r>
          </a:p>
          <a:p>
            <a:r>
              <a:rPr lang="en-US" altLang="zh-CN" sz="1200" dirty="0"/>
              <a:t>      x: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 - 0.5,</a:t>
            </a:r>
          </a:p>
          <a:p>
            <a:r>
              <a:rPr lang="en-US" altLang="zh-CN" sz="1200" dirty="0"/>
              <a:t>      y: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 - 0.5,</a:t>
            </a:r>
          </a:p>
          <a:p>
            <a:r>
              <a:rPr lang="en-US" altLang="zh-CN" sz="1200" dirty="0"/>
              <a:t>      z: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 - 0.5,</a:t>
            </a:r>
          </a:p>
          <a:p>
            <a:r>
              <a:rPr lang="en-US" altLang="zh-CN" sz="1200" dirty="0"/>
              <a:t>      col: new Color4(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1)</a:t>
            </a:r>
          </a:p>
          <a:p>
            <a:r>
              <a:rPr lang="en-US" altLang="zh-CN" sz="1200" dirty="0"/>
              <a:t>    });</a:t>
            </a:r>
          </a:p>
          <a:p>
            <a:r>
              <a:rPr lang="en-US" altLang="zh-CN" sz="1200" dirty="0"/>
              <a:t>};</a:t>
            </a:r>
          </a:p>
          <a:p>
            <a:endParaRPr lang="en-US" altLang="zh-CN" sz="1200" dirty="0"/>
          </a:p>
          <a:p>
            <a:r>
              <a:rPr lang="en-US" altLang="zh-CN" sz="1200" dirty="0"/>
              <a:t>//Create a sphere to be used in our instance and register a color buffer</a:t>
            </a:r>
          </a:p>
          <a:p>
            <a:r>
              <a:rPr lang="en-US" altLang="zh-CN" sz="1200" dirty="0"/>
              <a:t>let </a:t>
            </a:r>
            <a:r>
              <a:rPr lang="en-US" altLang="zh-CN" sz="1200" dirty="0" err="1"/>
              <a:t>rootSphere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anu.create</a:t>
            </a:r>
            <a:r>
              <a:rPr lang="en-US" altLang="zh-CN" sz="1200" dirty="0"/>
              <a:t>('sphere', '</a:t>
            </a:r>
            <a:r>
              <a:rPr lang="en-US" altLang="zh-CN" sz="1200" dirty="0" err="1"/>
              <a:t>rootSphere</a:t>
            </a:r>
            <a:r>
              <a:rPr lang="en-US" altLang="zh-CN" sz="1200" dirty="0"/>
              <a:t>', {diameter: 0.003});</a:t>
            </a:r>
          </a:p>
          <a:p>
            <a:r>
              <a:rPr lang="en-US" altLang="zh-CN" sz="1200" dirty="0" err="1"/>
              <a:t>rootSphere.isVisible</a:t>
            </a:r>
            <a:r>
              <a:rPr lang="en-US" altLang="zh-CN" sz="1200" dirty="0"/>
              <a:t> = false;</a:t>
            </a:r>
          </a:p>
          <a:p>
            <a:r>
              <a:rPr lang="en-US" altLang="zh-CN" sz="1200" dirty="0" err="1"/>
              <a:t>rootSphere.registerInstancedBuffer</a:t>
            </a:r>
            <a:r>
              <a:rPr lang="en-US" altLang="zh-CN" sz="1200" dirty="0"/>
              <a:t>("color", 4);</a:t>
            </a:r>
          </a:p>
          <a:p>
            <a:r>
              <a:rPr lang="en-US" altLang="zh-CN" sz="1200" dirty="0" err="1"/>
              <a:t>rootSphere.instancedBuffers.color</a:t>
            </a:r>
            <a:r>
              <a:rPr lang="en-US" altLang="zh-CN" sz="1200" dirty="0"/>
              <a:t> = new Color4(1,1,1,1);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//</a:t>
            </a:r>
            <a:r>
              <a:rPr lang="en-US" altLang="zh-CN" sz="1200" dirty="0" err="1"/>
              <a:t>bindInstance</a:t>
            </a:r>
            <a:r>
              <a:rPr lang="en-US" altLang="zh-CN" sz="1200" dirty="0"/>
              <a:t>(mesh: Mesh, data?: {}, scene?: Scene,)</a:t>
            </a:r>
          </a:p>
          <a:p>
            <a:r>
              <a:rPr lang="en-US" altLang="zh-CN" sz="1200" dirty="0"/>
              <a:t>let spheres =  </a:t>
            </a:r>
            <a:r>
              <a:rPr lang="en-US" altLang="zh-CN" sz="1200" dirty="0" err="1"/>
              <a:t>anu.bindInstance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rootSphere</a:t>
            </a:r>
            <a:r>
              <a:rPr lang="en-US" altLang="zh-CN" sz="1200" dirty="0"/>
              <a:t>, data)</a:t>
            </a:r>
          </a:p>
          <a:p>
            <a:r>
              <a:rPr lang="en-US" altLang="zh-CN" sz="1200" dirty="0"/>
              <a:t>  .</a:t>
            </a:r>
            <a:r>
              <a:rPr lang="en-US" altLang="zh-CN" sz="1200" dirty="0" err="1"/>
              <a:t>positionX</a:t>
            </a:r>
            <a:r>
              <a:rPr lang="en-US" altLang="zh-CN" sz="1200" dirty="0"/>
              <a:t>((d) =&gt; </a:t>
            </a:r>
            <a:r>
              <a:rPr lang="en-US" altLang="zh-CN" sz="1200" dirty="0" err="1"/>
              <a:t>d.x</a:t>
            </a:r>
            <a:r>
              <a:rPr lang="en-US" altLang="zh-CN" sz="1200" dirty="0"/>
              <a:t> * 10)</a:t>
            </a:r>
          </a:p>
          <a:p>
            <a:r>
              <a:rPr lang="en-US" altLang="zh-CN" sz="1200" dirty="0"/>
              <a:t>  .</a:t>
            </a:r>
            <a:r>
              <a:rPr lang="en-US" altLang="zh-CN" sz="1200" dirty="0" err="1"/>
              <a:t>positionY</a:t>
            </a:r>
            <a:r>
              <a:rPr lang="en-US" altLang="zh-CN" sz="1200" dirty="0"/>
              <a:t>((d) =&gt; </a:t>
            </a:r>
            <a:r>
              <a:rPr lang="en-US" altLang="zh-CN" sz="1200" dirty="0" err="1"/>
              <a:t>d.y</a:t>
            </a:r>
            <a:r>
              <a:rPr lang="en-US" altLang="zh-CN" sz="1200" dirty="0"/>
              <a:t> * 10)</a:t>
            </a:r>
          </a:p>
          <a:p>
            <a:r>
              <a:rPr lang="en-US" altLang="zh-CN" sz="1200" dirty="0"/>
              <a:t>  .</a:t>
            </a:r>
            <a:r>
              <a:rPr lang="en-US" altLang="zh-CN" sz="1200" dirty="0" err="1"/>
              <a:t>positionZ</a:t>
            </a:r>
            <a:r>
              <a:rPr lang="en-US" altLang="zh-CN" sz="1200" dirty="0"/>
              <a:t>((d) =&gt; </a:t>
            </a:r>
            <a:r>
              <a:rPr lang="en-US" altLang="zh-CN" sz="1200" dirty="0" err="1"/>
              <a:t>d.z</a:t>
            </a:r>
            <a:r>
              <a:rPr lang="en-US" altLang="zh-CN" sz="1200" dirty="0"/>
              <a:t> * 10)</a:t>
            </a:r>
          </a:p>
          <a:p>
            <a:r>
              <a:rPr lang="en-US" altLang="zh-CN" sz="1200" dirty="0"/>
              <a:t>  .</a:t>
            </a:r>
            <a:r>
              <a:rPr lang="en-US" altLang="zh-CN" sz="1200" dirty="0" err="1"/>
              <a:t>setInstancedBuffer</a:t>
            </a:r>
            <a:r>
              <a:rPr lang="en-US" altLang="zh-CN" sz="1200" dirty="0"/>
              <a:t>("color", (d) =&gt; </a:t>
            </a:r>
            <a:r>
              <a:rPr lang="en-US" altLang="zh-CN" sz="1200" dirty="0" err="1"/>
              <a:t>d.col</a:t>
            </a:r>
            <a:r>
              <a:rPr lang="en-US" altLang="zh-CN" sz="1200" dirty="0"/>
              <a:t>);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9BAB4FD-266D-160A-3BF4-94DD4F993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105" y="2045674"/>
            <a:ext cx="4116217" cy="394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12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1DEC-E38F-0F3E-CE05-82AB16BF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99AA85CD-9290-0C27-9451-2368F358C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使用</a:t>
            </a:r>
            <a:r>
              <a:rPr lang="en-US" altLang="zh-CN" sz="4000" dirty="0">
                <a:latin typeface="Times New Roman Regular" panose="02020603050405020304" charset="0"/>
              </a:rPr>
              <a:t>selections</a:t>
            </a:r>
            <a:endParaRPr lang="zh-CN" altLang="en-US" sz="4000" dirty="0">
              <a:latin typeface="Times New Roman Regular" panose="02020603050405020304" charset="0"/>
            </a:endParaRP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73B6D812-889B-68AE-5B18-757B82797F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389893"/>
            <a:ext cx="10178322" cy="3593591"/>
          </a:xfrm>
        </p:spPr>
        <p:txBody>
          <a:bodyPr/>
          <a:lstStyle/>
          <a:p>
            <a:r>
              <a:rPr lang="zh-CN" altLang="en-US" b="1" dirty="0"/>
              <a:t>按名称和 </a:t>
            </a:r>
            <a:r>
              <a:rPr lang="en-US" altLang="zh-CN" b="1" dirty="0"/>
              <a:t>ID </a:t>
            </a:r>
            <a:r>
              <a:rPr lang="zh-CN" altLang="en-US" b="1" dirty="0"/>
              <a:t>选择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39116F-60D2-05D8-F256-8DDC3F8B676B}"/>
              </a:ext>
            </a:extLst>
          </p:cNvPr>
          <p:cNvSpPr/>
          <p:nvPr/>
        </p:nvSpPr>
        <p:spPr>
          <a:xfrm>
            <a:off x="1156428" y="2045674"/>
            <a:ext cx="5053872" cy="41857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/>
              <a:t>//</a:t>
            </a:r>
            <a:r>
              <a:rPr lang="en-US" altLang="zh-CN" sz="1400" dirty="0" err="1"/>
              <a:t>anu.create</a:t>
            </a:r>
            <a:r>
              <a:rPr lang="en-US" altLang="zh-CN" sz="1400" dirty="0"/>
              <a:t> returns a Mesh object that we can modify using Babylon.js functions</a:t>
            </a:r>
          </a:p>
          <a:p>
            <a:r>
              <a:rPr lang="en-US" altLang="zh-CN" sz="1400" dirty="0"/>
              <a:t>  let box = </a:t>
            </a:r>
            <a:r>
              <a:rPr lang="en-US" altLang="zh-CN" sz="1400" dirty="0" err="1"/>
              <a:t>anu.create</a:t>
            </a:r>
            <a:r>
              <a:rPr lang="en-US" altLang="zh-CN" sz="1400" dirty="0"/>
              <a:t>("box", "</a:t>
            </a:r>
            <a:r>
              <a:rPr lang="en-US" altLang="zh-CN" sz="1400" dirty="0" err="1"/>
              <a:t>myBox</a:t>
            </a:r>
            <a:r>
              <a:rPr lang="en-US" altLang="zh-CN" sz="1400" dirty="0"/>
              <a:t>", {size: 1}, scene);</a:t>
            </a:r>
          </a:p>
          <a:p>
            <a:r>
              <a:rPr lang="en-US" altLang="zh-CN" sz="1400" dirty="0"/>
              <a:t>  box.name = "box-name";</a:t>
            </a:r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box.position</a:t>
            </a:r>
            <a:r>
              <a:rPr lang="en-US" altLang="zh-CN" sz="1400" dirty="0"/>
              <a:t> = new Vector3(-1,0,0);</a:t>
            </a:r>
          </a:p>
          <a:p>
            <a:r>
              <a:rPr lang="en-US" altLang="zh-CN" sz="1400" dirty="0"/>
              <a:t>  let sphere = </a:t>
            </a:r>
            <a:r>
              <a:rPr lang="en-US" altLang="zh-CN" sz="1400" dirty="0" err="1"/>
              <a:t>anu.create</a:t>
            </a:r>
            <a:r>
              <a:rPr lang="en-US" altLang="zh-CN" sz="1400" dirty="0"/>
              <a:t>("sphere", "</a:t>
            </a:r>
            <a:r>
              <a:rPr lang="en-US" altLang="zh-CN" sz="1400" dirty="0" err="1"/>
              <a:t>mySphere</a:t>
            </a:r>
            <a:r>
              <a:rPr lang="en-US" altLang="zh-CN" sz="1400" dirty="0"/>
              <a:t>", {diameter: 1}, scene);</a:t>
            </a:r>
          </a:p>
          <a:p>
            <a:r>
              <a:rPr lang="en-US" altLang="zh-CN" sz="1400" dirty="0"/>
              <a:t>  sphere.id = "sphere-ID";</a:t>
            </a:r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sphere.position</a:t>
            </a:r>
            <a:r>
              <a:rPr lang="en-US" altLang="zh-CN" sz="1400" dirty="0"/>
              <a:t> = new Vector3(1,0,0);</a:t>
            </a:r>
          </a:p>
          <a:p>
            <a:r>
              <a:rPr lang="en-US" altLang="zh-CN" sz="1400" dirty="0"/>
              <a:t>  let </a:t>
            </a:r>
            <a:r>
              <a:rPr lang="en-US" altLang="zh-CN" sz="1400" dirty="0" err="1"/>
              <a:t>boxMaterial</a:t>
            </a:r>
            <a:r>
              <a:rPr lang="en-US" altLang="zh-CN" sz="1400" dirty="0"/>
              <a:t> = new </a:t>
            </a:r>
            <a:r>
              <a:rPr lang="en-US" altLang="zh-CN" sz="1400" dirty="0" err="1"/>
              <a:t>StandardMaterial</a:t>
            </a:r>
            <a:r>
              <a:rPr lang="en-US" altLang="zh-CN" sz="1400" dirty="0"/>
              <a:t>('</a:t>
            </a:r>
            <a:r>
              <a:rPr lang="en-US" altLang="zh-CN" sz="1400" dirty="0" err="1"/>
              <a:t>boxMaterial</a:t>
            </a:r>
            <a:r>
              <a:rPr lang="en-US" altLang="zh-CN" sz="1400" dirty="0"/>
              <a:t>', scene);</a:t>
            </a:r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boxMaterial.diffuseColor</a:t>
            </a:r>
            <a:r>
              <a:rPr lang="en-US" altLang="zh-CN" sz="1400" dirty="0"/>
              <a:t> = new Color3(1, 0, 0);</a:t>
            </a:r>
          </a:p>
          <a:p>
            <a:r>
              <a:rPr lang="en-US" altLang="zh-CN" sz="1400" dirty="0"/>
              <a:t>  let </a:t>
            </a:r>
            <a:r>
              <a:rPr lang="en-US" altLang="zh-CN" sz="1400" dirty="0" err="1"/>
              <a:t>sphereMaterial</a:t>
            </a:r>
            <a:r>
              <a:rPr lang="en-US" altLang="zh-CN" sz="1400" dirty="0"/>
              <a:t> = new </a:t>
            </a:r>
            <a:r>
              <a:rPr lang="en-US" altLang="zh-CN" sz="1400" dirty="0" err="1"/>
              <a:t>StandardMaterial</a:t>
            </a:r>
            <a:r>
              <a:rPr lang="en-US" altLang="zh-CN" sz="1400" dirty="0"/>
              <a:t>('</a:t>
            </a:r>
            <a:r>
              <a:rPr lang="en-US" altLang="zh-CN" sz="1400" dirty="0" err="1"/>
              <a:t>sphereMaterial</a:t>
            </a:r>
            <a:r>
              <a:rPr lang="en-US" altLang="zh-CN" sz="1400" dirty="0"/>
              <a:t>', scene);</a:t>
            </a:r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sphereMaterial.diffuseColor</a:t>
            </a:r>
            <a:r>
              <a:rPr lang="en-US" altLang="zh-CN" sz="1400" dirty="0"/>
              <a:t> = new Color3(0, 1, 0);</a:t>
            </a:r>
          </a:p>
          <a:p>
            <a:r>
              <a:rPr lang="en-US" altLang="zh-CN" sz="1400" dirty="0"/>
              <a:t>  //</a:t>
            </a:r>
            <a:r>
              <a:rPr lang="en-US" altLang="zh-CN" sz="1400" dirty="0" err="1"/>
              <a:t>anu.selectName</a:t>
            </a:r>
            <a:r>
              <a:rPr lang="en-US" altLang="zh-CN" sz="1400" dirty="0"/>
              <a:t> and </a:t>
            </a:r>
            <a:r>
              <a:rPr lang="en-US" altLang="zh-CN" sz="1400" dirty="0" err="1"/>
              <a:t>anu.selectId</a:t>
            </a:r>
            <a:r>
              <a:rPr lang="en-US" altLang="zh-CN" sz="1400" dirty="0"/>
              <a:t> both return a Selection object that we can modify using Anu methods</a:t>
            </a:r>
          </a:p>
          <a:p>
            <a:r>
              <a:rPr lang="en-US" altLang="zh-CN" sz="1400" dirty="0"/>
              <a:t>  let </a:t>
            </a:r>
            <a:r>
              <a:rPr lang="en-US" altLang="zh-CN" sz="1400" dirty="0" err="1"/>
              <a:t>boxSelection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anu.selectName</a:t>
            </a:r>
            <a:r>
              <a:rPr lang="en-US" altLang="zh-CN" sz="1400" dirty="0"/>
              <a:t>('box-name', scene)</a:t>
            </a:r>
          </a:p>
          <a:p>
            <a:r>
              <a:rPr lang="en-US" altLang="zh-CN" sz="1400" dirty="0"/>
              <a:t>                        .material(</a:t>
            </a:r>
            <a:r>
              <a:rPr lang="en-US" altLang="zh-CN" sz="1400" dirty="0" err="1"/>
              <a:t>boxMaterial</a:t>
            </a:r>
            <a:r>
              <a:rPr lang="en-US" altLang="zh-CN" sz="1400" dirty="0"/>
              <a:t>);</a:t>
            </a:r>
          </a:p>
          <a:p>
            <a:r>
              <a:rPr lang="en-US" altLang="zh-CN" sz="1400" dirty="0"/>
              <a:t>  let </a:t>
            </a:r>
            <a:r>
              <a:rPr lang="en-US" altLang="zh-CN" sz="1400" dirty="0" err="1"/>
              <a:t>sphereSelection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anu.selectId</a:t>
            </a:r>
            <a:r>
              <a:rPr lang="en-US" altLang="zh-CN" sz="1400" dirty="0"/>
              <a:t>('sphere-ID', scene)</a:t>
            </a:r>
          </a:p>
          <a:p>
            <a:r>
              <a:rPr lang="en-US" altLang="zh-CN" sz="1400" dirty="0"/>
              <a:t>                        .material(</a:t>
            </a:r>
            <a:r>
              <a:rPr lang="en-US" altLang="zh-CN" sz="1400" dirty="0" err="1"/>
              <a:t>sphereMaterial</a:t>
            </a:r>
            <a:r>
              <a:rPr lang="en-US" altLang="zh-CN" sz="1400" dirty="0"/>
              <a:t>);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6552CA-BA9E-8DA5-AC55-B7483A3FF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687" y="3128904"/>
            <a:ext cx="338137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58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E4136-29A8-3491-D14E-6E42AAC9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CC97F460-E5C7-F43E-6B60-57080E23F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使用</a:t>
            </a:r>
            <a:r>
              <a:rPr lang="en-US" altLang="zh-CN" sz="4000" dirty="0">
                <a:latin typeface="Times New Roman Regular" panose="02020603050405020304" charset="0"/>
              </a:rPr>
              <a:t>selections</a:t>
            </a:r>
            <a:endParaRPr lang="zh-CN" altLang="en-US" sz="4000" dirty="0">
              <a:latin typeface="Times New Roman Regular" panose="02020603050405020304" charset="0"/>
            </a:endParaRP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765CB8CA-8506-8F89-D8B6-3EB576ECB2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389893"/>
            <a:ext cx="2986947" cy="492241"/>
          </a:xfrm>
        </p:spPr>
        <p:txBody>
          <a:bodyPr/>
          <a:lstStyle/>
          <a:p>
            <a:r>
              <a:rPr lang="zh-CN" altLang="en-US" b="1" dirty="0"/>
              <a:t>按标签选择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831083-0915-F184-F745-99969F56A3B6}"/>
              </a:ext>
            </a:extLst>
          </p:cNvPr>
          <p:cNvSpPr/>
          <p:nvPr/>
        </p:nvSpPr>
        <p:spPr>
          <a:xfrm>
            <a:off x="1156428" y="1874517"/>
            <a:ext cx="4596672" cy="41857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/>
              <a:t>//Add the same tag to all Nodes in the Selection</a:t>
            </a:r>
          </a:p>
          <a:p>
            <a:r>
              <a:rPr lang="en-US" altLang="zh-CN" sz="1400" dirty="0" err="1"/>
              <a:t>mySelection.addTags</a:t>
            </a:r>
            <a:r>
              <a:rPr lang="en-US" altLang="zh-CN" sz="1400" dirty="0"/>
              <a:t>('</a:t>
            </a:r>
            <a:r>
              <a:rPr lang="en-US" altLang="zh-CN" sz="1400" dirty="0" err="1"/>
              <a:t>myTag</a:t>
            </a:r>
            <a:r>
              <a:rPr lang="en-US" altLang="zh-CN" sz="1400" dirty="0"/>
              <a:t>');</a:t>
            </a:r>
          </a:p>
          <a:p>
            <a:r>
              <a:rPr lang="en-US" altLang="zh-CN" sz="1400" dirty="0"/>
              <a:t>//Add a tag based on each Node's bound data in the Selection</a:t>
            </a:r>
          </a:p>
          <a:p>
            <a:r>
              <a:rPr lang="en-US" altLang="zh-CN" sz="1400" dirty="0" err="1"/>
              <a:t>mySelection.addTags</a:t>
            </a:r>
            <a:r>
              <a:rPr lang="en-US" altLang="zh-CN" sz="1400" dirty="0"/>
              <a:t>((d) =&gt; </a:t>
            </a:r>
            <a:r>
              <a:rPr lang="en-US" altLang="zh-CN" sz="1400" dirty="0" err="1"/>
              <a:t>d.tag</a:t>
            </a:r>
            <a:r>
              <a:rPr lang="en-US" altLang="zh-CN" sz="1400" dirty="0"/>
              <a:t>);</a:t>
            </a:r>
          </a:p>
          <a:p>
            <a:endParaRPr lang="en-US" altLang="zh-CN" sz="1400" dirty="0"/>
          </a:p>
          <a:p>
            <a:r>
              <a:rPr lang="en-US" altLang="zh-CN" sz="1400" dirty="0"/>
              <a:t>//Selects all Nodes with the "box" tag</a:t>
            </a:r>
          </a:p>
          <a:p>
            <a:r>
              <a:rPr lang="en-US" altLang="zh-CN" sz="1400" dirty="0" err="1"/>
              <a:t>anu.selectTag</a:t>
            </a:r>
            <a:r>
              <a:rPr lang="en-US" altLang="zh-CN" sz="1400" dirty="0"/>
              <a:t>('box', scene);</a:t>
            </a:r>
          </a:p>
          <a:p>
            <a:r>
              <a:rPr lang="en-US" altLang="zh-CN" sz="1400" dirty="0"/>
              <a:t>//Selects all Nodes with the "box" or "sphere" tag</a:t>
            </a:r>
          </a:p>
          <a:p>
            <a:r>
              <a:rPr lang="en-US" altLang="zh-CN" sz="1400" dirty="0" err="1"/>
              <a:t>anu.selectTag</a:t>
            </a:r>
            <a:r>
              <a:rPr lang="en-US" altLang="zh-CN" sz="1400" dirty="0"/>
              <a:t>('box || sphere', scene);</a:t>
            </a:r>
          </a:p>
          <a:p>
            <a:r>
              <a:rPr lang="en-US" altLang="zh-CN" sz="1400" dirty="0"/>
              <a:t>//Selects all Nodes with the "box" and "sphere" tag</a:t>
            </a:r>
          </a:p>
          <a:p>
            <a:r>
              <a:rPr lang="en-US" altLang="zh-CN" sz="1400" dirty="0" err="1"/>
              <a:t>anu.selectTag</a:t>
            </a:r>
            <a:r>
              <a:rPr lang="en-US" altLang="zh-CN" sz="1400" dirty="0"/>
              <a:t>('box &amp;&amp; sphere', scene);</a:t>
            </a:r>
          </a:p>
          <a:p>
            <a:r>
              <a:rPr lang="en-US" altLang="zh-CN" sz="1400" dirty="0"/>
              <a:t>//Selects all Nodes without the "box" tag</a:t>
            </a:r>
          </a:p>
          <a:p>
            <a:r>
              <a:rPr lang="en-US" altLang="zh-CN" sz="1400" dirty="0" err="1"/>
              <a:t>anu.selectTag</a:t>
            </a:r>
            <a:r>
              <a:rPr lang="en-US" altLang="zh-CN" sz="1400" dirty="0"/>
              <a:t>('!box', scene);</a:t>
            </a:r>
          </a:p>
          <a:p>
            <a:r>
              <a:rPr lang="en-US" altLang="zh-CN" sz="1400" dirty="0"/>
              <a:t>//Selects all Nodes without the "box" tag</a:t>
            </a:r>
          </a:p>
          <a:p>
            <a:r>
              <a:rPr lang="en-US" altLang="zh-CN" sz="1400" dirty="0" err="1"/>
              <a:t>anu.selectTag</a:t>
            </a:r>
            <a:r>
              <a:rPr lang="en-US" altLang="zh-CN" sz="1400" dirty="0"/>
              <a:t>('!box', scene);</a:t>
            </a:r>
          </a:p>
          <a:p>
            <a:r>
              <a:rPr lang="en-US" altLang="zh-CN" sz="1400" dirty="0"/>
              <a:t>//Selects all Nodes with the "box" tag but without the "sphere" tag</a:t>
            </a:r>
          </a:p>
          <a:p>
            <a:r>
              <a:rPr lang="en-US" altLang="zh-CN" sz="1400" dirty="0" err="1"/>
              <a:t>anu.selectTag</a:t>
            </a:r>
            <a:r>
              <a:rPr lang="en-US" altLang="zh-CN" sz="1400" dirty="0"/>
              <a:t>('box &amp;&amp; !sphere', scene);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41B402-7F98-6529-E763-5861030036B6}"/>
              </a:ext>
            </a:extLst>
          </p:cNvPr>
          <p:cNvSpPr/>
          <p:nvPr/>
        </p:nvSpPr>
        <p:spPr>
          <a:xfrm>
            <a:off x="6324601" y="1882134"/>
            <a:ext cx="5200650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/>
              <a:t>//Selects all Nodes with the name "box-name" OR "sphere-name"</a:t>
            </a:r>
          </a:p>
          <a:p>
            <a:r>
              <a:rPr lang="en-US" altLang="zh-CN" sz="1400" dirty="0" err="1"/>
              <a:t>anu.selectName</a:t>
            </a:r>
            <a:r>
              <a:rPr lang="en-US" altLang="zh-CN" sz="1400" dirty="0"/>
              <a:t>(['box-name', 'sphere-name'], scene);</a:t>
            </a:r>
          </a:p>
          <a:p>
            <a:r>
              <a:rPr lang="en-US" altLang="zh-CN" sz="1400" dirty="0"/>
              <a:t>//Selects all Nodes with the ID "sphere-ID" OR "box-ID"</a:t>
            </a:r>
          </a:p>
          <a:p>
            <a:r>
              <a:rPr lang="en-US" altLang="zh-CN" sz="1400" dirty="0" err="1"/>
              <a:t>anu.selectId</a:t>
            </a:r>
            <a:r>
              <a:rPr lang="en-US" altLang="zh-CN" sz="1400" dirty="0"/>
              <a:t>(['sphere-ID', 'box-ID'], scene);</a:t>
            </a:r>
          </a:p>
          <a:p>
            <a:r>
              <a:rPr lang="en-US" altLang="zh-CN" sz="1400" dirty="0"/>
              <a:t>//Selects all Nodes with the tag "box" OR "sphere"</a:t>
            </a:r>
          </a:p>
          <a:p>
            <a:r>
              <a:rPr lang="en-US" altLang="zh-CN" sz="1400" dirty="0" err="1"/>
              <a:t>anu.selectTag</a:t>
            </a:r>
            <a:r>
              <a:rPr lang="en-US" altLang="zh-CN" sz="1400" dirty="0"/>
              <a:t>(["box", "sphere"], scene);</a:t>
            </a:r>
          </a:p>
          <a:p>
            <a:r>
              <a:rPr lang="en-US" altLang="zh-CN" sz="1400" dirty="0"/>
              <a:t>//Selects all Nodes with bound data that has "sepal-length" of 1 OR "petal-length" of 2</a:t>
            </a:r>
          </a:p>
          <a:p>
            <a:r>
              <a:rPr lang="en-US" altLang="zh-CN" sz="1400" dirty="0"/>
              <a:t>//</a:t>
            </a:r>
            <a:r>
              <a:rPr lang="en-US" altLang="zh-CN" sz="1400" dirty="0" err="1"/>
              <a:t>selectData</a:t>
            </a:r>
            <a:r>
              <a:rPr lang="en-US" altLang="zh-CN" sz="1400" dirty="0"/>
              <a:t>(key: string | string[], value: string | number | string[] | number[], scene?: Scene, </a:t>
            </a:r>
            <a:r>
              <a:rPr lang="en-US" altLang="zh-CN" sz="1400" dirty="0" err="1"/>
              <a:t>useAndLogic</a:t>
            </a:r>
            <a:r>
              <a:rPr lang="en-US" altLang="zh-CN" sz="1400" dirty="0"/>
              <a:t>?: </a:t>
            </a:r>
            <a:r>
              <a:rPr lang="en-US" altLang="zh-CN" sz="1400" dirty="0" err="1"/>
              <a:t>boolean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 err="1"/>
              <a:t>anu.selectData</a:t>
            </a:r>
            <a:r>
              <a:rPr lang="en-US" altLang="zh-CN" sz="1400" dirty="0"/>
              <a:t>(['sepal-length', 'petal-length'], [1, 2], scene, false);</a:t>
            </a:r>
          </a:p>
          <a:p>
            <a:r>
              <a:rPr lang="en-US" altLang="zh-CN" sz="1400" dirty="0"/>
              <a:t>//Selects all Nodes with bound data that has "sepal-length" of 1 AND "petal-length" of 2</a:t>
            </a:r>
          </a:p>
          <a:p>
            <a:r>
              <a:rPr lang="en-US" altLang="zh-CN" sz="1400" dirty="0"/>
              <a:t>//Setting the last argument to true forces </a:t>
            </a:r>
            <a:r>
              <a:rPr lang="en-US" altLang="zh-CN" sz="1400" dirty="0" err="1"/>
              <a:t>selectData</a:t>
            </a:r>
            <a:r>
              <a:rPr lang="en-US" altLang="zh-CN" sz="1400" dirty="0"/>
              <a:t>() to use AND logic</a:t>
            </a:r>
          </a:p>
          <a:p>
            <a:r>
              <a:rPr lang="en-US" altLang="zh-CN" sz="1400" dirty="0" err="1"/>
              <a:t>anu.selectData</a:t>
            </a:r>
            <a:r>
              <a:rPr lang="en-US" altLang="zh-CN" sz="1400" dirty="0"/>
              <a:t>(['sepal-length', 'petal-length'], [1, 2], scene, true);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697669B-E04F-78F0-E51F-54E951F13876}"/>
              </a:ext>
            </a:extLst>
          </p:cNvPr>
          <p:cNvSpPr txBox="1">
            <a:spLocks noChangeArrowheads="1"/>
          </p:cNvSpPr>
          <p:nvPr/>
        </p:nvSpPr>
        <p:spPr>
          <a:xfrm>
            <a:off x="6252303" y="1389893"/>
            <a:ext cx="2986947" cy="492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多选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2701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1F748-998A-5749-F2BB-749202EC5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739C27EB-575B-A4B5-6804-9B2CABDD0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创建带有</a:t>
            </a:r>
            <a:r>
              <a:rPr lang="en-US" altLang="zh-CN" sz="4000" dirty="0">
                <a:latin typeface="Times New Roman Regular" panose="02020603050405020304" charset="0"/>
              </a:rPr>
              <a:t>selections</a:t>
            </a:r>
            <a:r>
              <a:rPr lang="zh-CN" altLang="en-US" sz="4000" dirty="0">
                <a:latin typeface="Times New Roman Regular" panose="02020603050405020304" charset="0"/>
              </a:rPr>
              <a:t>的节点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400DB213-F9B6-B5F4-2419-EC6A3ABDC2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389893"/>
            <a:ext cx="10178322" cy="1124707"/>
          </a:xfrm>
        </p:spPr>
        <p:txBody>
          <a:bodyPr/>
          <a:lstStyle/>
          <a:p>
            <a:r>
              <a:rPr lang="zh-CN" altLang="en-US" dirty="0"/>
              <a:t>创建一个由单个 </a:t>
            </a:r>
            <a:r>
              <a:rPr lang="en-US" altLang="zh-CN" u="sng" dirty="0" err="1"/>
              <a:t>TransformNode</a:t>
            </a:r>
            <a:r>
              <a:rPr lang="zh-CN" altLang="en-US" dirty="0"/>
              <a:t> 组成的 </a:t>
            </a:r>
            <a:r>
              <a:rPr lang="en-US" altLang="zh-CN" dirty="0"/>
              <a:t>Selection </a:t>
            </a:r>
            <a:r>
              <a:rPr lang="zh-CN" altLang="en-US" dirty="0"/>
              <a:t>对象。这作为我们的“变换中心”（</a:t>
            </a:r>
            <a:r>
              <a:rPr lang="en-US" altLang="zh-CN" dirty="0" err="1"/>
              <a:t>CoT</a:t>
            </a:r>
            <a:r>
              <a:rPr lang="zh-CN" altLang="en-US" dirty="0"/>
              <a:t>），它将成为场景图表中其他网格体的父级。类似于在 </a:t>
            </a:r>
            <a:r>
              <a:rPr lang="en-US" altLang="zh-CN" dirty="0"/>
              <a:t>D3 </a:t>
            </a:r>
            <a:r>
              <a:rPr lang="zh-CN" altLang="en-US" dirty="0"/>
              <a:t>中使用 </a:t>
            </a:r>
            <a:r>
              <a:rPr lang="en-US" altLang="zh-CN" dirty="0"/>
              <a:t>&lt;g&gt; </a:t>
            </a:r>
            <a:r>
              <a:rPr lang="zh-CN" altLang="en-US" dirty="0"/>
              <a:t>元素来对 </a:t>
            </a:r>
            <a:r>
              <a:rPr lang="en-US" altLang="zh-CN" dirty="0"/>
              <a:t>SVG </a:t>
            </a:r>
            <a:r>
              <a:rPr lang="zh-CN" altLang="en-US" dirty="0"/>
              <a:t>元素进行分组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8BA7CD-FD35-62D9-DA56-DCB06BAEB2ED}"/>
              </a:ext>
            </a:extLst>
          </p:cNvPr>
          <p:cNvSpPr/>
          <p:nvPr/>
        </p:nvSpPr>
        <p:spPr>
          <a:xfrm>
            <a:off x="1518680" y="2702276"/>
            <a:ext cx="5053872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//Create a single </a:t>
            </a:r>
            <a:r>
              <a:rPr lang="en-US" altLang="zh-CN" sz="1200" dirty="0" err="1"/>
              <a:t>TransformNode</a:t>
            </a:r>
            <a:r>
              <a:rPr lang="en-US" altLang="zh-CN" sz="1200" dirty="0"/>
              <a:t> as our </a:t>
            </a:r>
            <a:r>
              <a:rPr lang="en-US" altLang="zh-CN" sz="1200" dirty="0" err="1"/>
              <a:t>CoT</a:t>
            </a:r>
            <a:endParaRPr lang="en-US" altLang="zh-CN" sz="1200" dirty="0"/>
          </a:p>
          <a:p>
            <a:r>
              <a:rPr lang="en-US" altLang="zh-CN" sz="1200" dirty="0"/>
              <a:t>let cot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('cot');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//Bind spheres as children of our </a:t>
            </a:r>
            <a:r>
              <a:rPr lang="en-US" altLang="zh-CN" sz="1200" dirty="0" err="1"/>
              <a:t>CoT</a:t>
            </a:r>
            <a:endParaRPr lang="en-US" altLang="zh-CN" sz="1200" dirty="0"/>
          </a:p>
          <a:p>
            <a:r>
              <a:rPr lang="en-US" altLang="zh-CN" sz="1200" dirty="0"/>
              <a:t>let spheres = </a:t>
            </a:r>
            <a:r>
              <a:rPr lang="en-US" altLang="zh-CN" sz="1200" dirty="0" err="1"/>
              <a:t>cot.bind</a:t>
            </a:r>
            <a:r>
              <a:rPr lang="en-US" altLang="zh-CN" sz="1200" dirty="0"/>
              <a:t>('sphere', { diameter: 1 }, [-2, 0, 2])</a:t>
            </a:r>
          </a:p>
          <a:p>
            <a:r>
              <a:rPr lang="en-US" altLang="zh-CN" sz="1200" dirty="0"/>
              <a:t>                 .</a:t>
            </a:r>
            <a:r>
              <a:rPr lang="en-US" altLang="zh-CN" sz="1200" dirty="0" err="1"/>
              <a:t>positionX</a:t>
            </a:r>
            <a:r>
              <a:rPr lang="en-US" altLang="zh-CN" sz="1200" dirty="0"/>
              <a:t>(d =&gt; d);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E70B271-BAC2-1F1A-233C-DDDBE3DA5B7D}"/>
              </a:ext>
            </a:extLst>
          </p:cNvPr>
          <p:cNvSpPr txBox="1">
            <a:spLocks noChangeArrowheads="1"/>
          </p:cNvSpPr>
          <p:nvPr/>
        </p:nvSpPr>
        <p:spPr>
          <a:xfrm>
            <a:off x="1251678" y="4090281"/>
            <a:ext cx="10178322" cy="1124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如果我们在具有多个节点的 </a:t>
            </a:r>
            <a:r>
              <a:rPr lang="en-US" altLang="zh-CN" dirty="0"/>
              <a:t>Selection </a:t>
            </a:r>
            <a:r>
              <a:rPr lang="zh-CN" altLang="en-US" dirty="0"/>
              <a:t>上调用 </a:t>
            </a:r>
            <a:r>
              <a:rPr lang="en-US" altLang="zh-CN" dirty="0"/>
              <a:t>bind</a:t>
            </a:r>
            <a:r>
              <a:rPr lang="zh-CN" altLang="en-US" dirty="0"/>
              <a:t>（），它将对 </a:t>
            </a:r>
            <a:r>
              <a:rPr lang="en-US" altLang="zh-CN" dirty="0"/>
              <a:t>Selection </a:t>
            </a:r>
            <a:r>
              <a:rPr lang="zh-CN" altLang="en-US" dirty="0"/>
              <a:t>中的每个节点重复该方法。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CE3B48-DE5B-4B9B-A27C-5FD63865D75B}"/>
              </a:ext>
            </a:extLst>
          </p:cNvPr>
          <p:cNvSpPr/>
          <p:nvPr/>
        </p:nvSpPr>
        <p:spPr>
          <a:xfrm>
            <a:off x="1518680" y="4978751"/>
            <a:ext cx="5053872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//Calling bind() on our Selection of spheres will bind new Nodes as children </a:t>
            </a:r>
          </a:p>
          <a:p>
            <a:r>
              <a:rPr lang="en-US" altLang="zh-CN" sz="1200" dirty="0"/>
              <a:t>//of each sphere and by default will inherit the data bound to its parent</a:t>
            </a:r>
          </a:p>
          <a:p>
            <a:r>
              <a:rPr lang="en-US" altLang="zh-CN" sz="1200" dirty="0"/>
              <a:t>let boxes = </a:t>
            </a:r>
            <a:r>
              <a:rPr lang="en-US" altLang="zh-CN" sz="1200" dirty="0" err="1"/>
              <a:t>spheres.bind</a:t>
            </a:r>
            <a:r>
              <a:rPr lang="en-US" altLang="zh-CN" sz="1200" dirty="0"/>
              <a:t>('box')</a:t>
            </a:r>
          </a:p>
          <a:p>
            <a:r>
              <a:rPr lang="en-US" altLang="zh-CN" sz="1200" dirty="0"/>
              <a:t>                   .</a:t>
            </a:r>
            <a:r>
              <a:rPr lang="en-US" altLang="zh-CN" sz="1200" dirty="0" err="1"/>
              <a:t>positionY</a:t>
            </a:r>
            <a:r>
              <a:rPr lang="en-US" altLang="zh-CN" sz="1200" dirty="0"/>
              <a:t>(d =&gt; d);</a:t>
            </a:r>
          </a:p>
        </p:txBody>
      </p:sp>
    </p:spTree>
    <p:extLst>
      <p:ext uri="{BB962C8B-B14F-4D97-AF65-F5344CB8AC3E}">
        <p14:creationId xmlns:p14="http://schemas.microsoft.com/office/powerpoint/2010/main" val="1324535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3CFA8-E5E2-10C1-01A1-D7B8DDAB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2B45607E-C162-B16F-5625-E7872E9AE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使用选择作父子节点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6AC0E928-23F3-5EA0-F646-176E2ABF66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389894"/>
            <a:ext cx="10178322" cy="919632"/>
          </a:xfrm>
        </p:spPr>
        <p:txBody>
          <a:bodyPr/>
          <a:lstStyle/>
          <a:p>
            <a:r>
              <a:rPr lang="zh-CN" altLang="en-US" dirty="0"/>
              <a:t>更新父节点的变换属性（即位置、旋转、缩放）也会更改其子节点的相应属性。使用随机值更新子网格体的选择，这将单独更新每个网格体的属性。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778109-B319-2E3C-DF0F-2275306D8946}"/>
              </a:ext>
            </a:extLst>
          </p:cNvPr>
          <p:cNvSpPr/>
          <p:nvPr/>
        </p:nvSpPr>
        <p:spPr>
          <a:xfrm>
            <a:off x="1451703" y="2309525"/>
            <a:ext cx="5625372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let cot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('cot');</a:t>
            </a:r>
          </a:p>
          <a:p>
            <a:r>
              <a:rPr lang="en-US" altLang="zh-CN" sz="1200" dirty="0"/>
              <a:t>let boxes = </a:t>
            </a:r>
            <a:r>
              <a:rPr lang="en-US" altLang="zh-CN" sz="1200" dirty="0" err="1"/>
              <a:t>cot.bind</a:t>
            </a:r>
            <a:r>
              <a:rPr lang="en-US" altLang="zh-CN" sz="1200" dirty="0"/>
              <a:t>(‘box’, { size: 1 }, iris);// iris</a:t>
            </a:r>
            <a:r>
              <a:rPr lang="zh-CN" altLang="en-US" sz="1200" dirty="0"/>
              <a:t>导入，见后面</a:t>
            </a:r>
            <a:r>
              <a:rPr lang="en-US" altLang="zh-CN" sz="1200" dirty="0"/>
              <a:t>ppt</a:t>
            </a:r>
          </a:p>
          <a:p>
            <a:endParaRPr lang="en-US" altLang="zh-CN" sz="1200" dirty="0"/>
          </a:p>
          <a:p>
            <a:r>
              <a:rPr lang="en-US" altLang="zh-CN" sz="1200" dirty="0" err="1"/>
              <a:t>boxes.position</a:t>
            </a:r>
            <a:r>
              <a:rPr lang="en-US" altLang="zh-CN" sz="1200" dirty="0"/>
              <a:t>(() =&gt; new Vector3(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()))</a:t>
            </a:r>
          </a:p>
          <a:p>
            <a:r>
              <a:rPr lang="en-US" altLang="zh-CN" sz="1200" dirty="0"/>
              <a:t>     .rotation(() =&gt; new Vector3(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()))</a:t>
            </a:r>
          </a:p>
          <a:p>
            <a:r>
              <a:rPr lang="en-US" altLang="zh-CN" sz="1200" dirty="0"/>
              <a:t>     .scaling(() =&gt; new Vector3(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()));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78FE05-ACE2-305E-F5E7-BFF982D66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075" y="2270877"/>
            <a:ext cx="1731323" cy="1608308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EFBC22D-17B0-8007-EDC1-EA2F9BE781BA}"/>
              </a:ext>
            </a:extLst>
          </p:cNvPr>
          <p:cNvSpPr txBox="1">
            <a:spLocks noChangeArrowheads="1"/>
          </p:cNvSpPr>
          <p:nvPr/>
        </p:nvSpPr>
        <p:spPr>
          <a:xfrm>
            <a:off x="1251678" y="4088659"/>
            <a:ext cx="10178322" cy="835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相反，如果我们更新父</a:t>
            </a:r>
            <a:r>
              <a:rPr lang="en-US" altLang="zh-CN" dirty="0" err="1"/>
              <a:t>CoT</a:t>
            </a:r>
            <a:r>
              <a:rPr lang="zh-CN" altLang="en-US" dirty="0"/>
              <a:t>的选择的变换属性，则只有这个父节点会被更新，它的所有子网格体都会随之移动。</a:t>
            </a:r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033670-00A4-780C-345A-992F0C5A3854}"/>
              </a:ext>
            </a:extLst>
          </p:cNvPr>
          <p:cNvSpPr/>
          <p:nvPr/>
        </p:nvSpPr>
        <p:spPr>
          <a:xfrm>
            <a:off x="1451703" y="4949233"/>
            <a:ext cx="5053872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//Calling from "cot" and not "boxes"</a:t>
            </a:r>
          </a:p>
          <a:p>
            <a:r>
              <a:rPr lang="en-US" altLang="zh-CN" sz="1200" dirty="0" err="1"/>
              <a:t>cot.position</a:t>
            </a:r>
            <a:r>
              <a:rPr lang="en-US" altLang="zh-CN" sz="1200" dirty="0"/>
              <a:t>(() =&gt; new Vector3(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()))</a:t>
            </a:r>
          </a:p>
          <a:p>
            <a:r>
              <a:rPr lang="en-US" altLang="zh-CN" sz="1200" dirty="0"/>
              <a:t>   .rotation(() =&gt; new Vector3(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()))</a:t>
            </a:r>
          </a:p>
          <a:p>
            <a:r>
              <a:rPr lang="en-US" altLang="zh-CN" sz="1200" dirty="0"/>
              <a:t>   .scaling(() =&gt; new Vector3(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(), </a:t>
            </a:r>
            <a:r>
              <a:rPr lang="en-US" altLang="zh-CN" sz="1200" dirty="0" err="1"/>
              <a:t>Math.random</a:t>
            </a:r>
            <a:r>
              <a:rPr lang="en-US" altLang="zh-CN" sz="1200" dirty="0"/>
              <a:t>()));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F9CA294-A26F-1377-D2E3-F2A4879D5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131" y="4729030"/>
            <a:ext cx="1781209" cy="145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15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CFA38-41F8-5729-080A-F92066C2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A0E25C4D-89DE-D709-B5F4-9BA64ABCC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嵌套</a:t>
            </a:r>
            <a:r>
              <a:rPr lang="en-US" altLang="zh-CN" sz="4000" dirty="0">
                <a:latin typeface="Times New Roman Regular" panose="02020603050405020304" charset="0"/>
              </a:rPr>
              <a:t>SELECTIONS</a:t>
            </a:r>
            <a:endParaRPr lang="zh-CN" altLang="en-US" sz="4000" dirty="0">
              <a:latin typeface="Times New Roman Regular" panose="02020603050405020304" charset="0"/>
            </a:endParaRP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795F1C65-97B8-0CFD-CADA-61B5B6C9A4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389893"/>
            <a:ext cx="10178322" cy="3593591"/>
          </a:xfrm>
        </p:spPr>
        <p:txBody>
          <a:bodyPr/>
          <a:lstStyle/>
          <a:p>
            <a:r>
              <a:rPr lang="zh-CN" altLang="en-US" dirty="0"/>
              <a:t>可以从 </a:t>
            </a:r>
            <a:r>
              <a:rPr lang="en-US" altLang="zh-CN" dirty="0"/>
              <a:t>Selection </a:t>
            </a:r>
            <a:r>
              <a:rPr lang="zh-CN" altLang="en-US" dirty="0"/>
              <a:t>的实例调用任何 </a:t>
            </a:r>
            <a:r>
              <a:rPr lang="en-US" altLang="zh-CN" dirty="0"/>
              <a:t>Selection </a:t>
            </a:r>
            <a:r>
              <a:rPr lang="zh-CN" altLang="en-US" dirty="0"/>
              <a:t>方法。当我们这样做时，有两件事会改变。首先，我们不再需要将场景作为参数传递，其次，仅搜索 </a:t>
            </a:r>
            <a:r>
              <a:rPr lang="en-US" altLang="zh-CN" dirty="0"/>
              <a:t>Selection </a:t>
            </a:r>
            <a:r>
              <a:rPr lang="zh-CN" altLang="en-US" dirty="0"/>
              <a:t>对象中 </a:t>
            </a:r>
            <a:r>
              <a:rPr lang="en-US" altLang="zh-CN" dirty="0"/>
              <a:t>Nodes </a:t>
            </a:r>
            <a:r>
              <a:rPr lang="zh-CN" altLang="en-US" dirty="0"/>
              <a:t>的子图。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FABDF6-7400-271D-FCB6-C66B49A75B46}"/>
              </a:ext>
            </a:extLst>
          </p:cNvPr>
          <p:cNvSpPr/>
          <p:nvPr/>
        </p:nvSpPr>
        <p:spPr>
          <a:xfrm>
            <a:off x="1185003" y="2255584"/>
            <a:ext cx="5053872" cy="32316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let cot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('cot');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//Create two spheres and put them to the left and middle of the screen</a:t>
            </a:r>
          </a:p>
          <a:p>
            <a:r>
              <a:rPr lang="en-US" altLang="zh-CN" sz="1200" dirty="0"/>
              <a:t>let spheres = </a:t>
            </a:r>
            <a:r>
              <a:rPr lang="en-US" altLang="zh-CN" sz="1200" dirty="0" err="1"/>
              <a:t>cot.bind</a:t>
            </a:r>
            <a:r>
              <a:rPr lang="en-US" altLang="zh-CN" sz="1200" dirty="0"/>
              <a:t>('sphere', { diameter: 1 }, [-2, 0]);</a:t>
            </a:r>
          </a:p>
          <a:p>
            <a:r>
              <a:rPr lang="en-US" altLang="zh-CN" sz="1200" dirty="0"/>
              <a:t>                 .</a:t>
            </a:r>
            <a:r>
              <a:rPr lang="en-US" altLang="zh-CN" sz="1200" dirty="0" err="1"/>
              <a:t>positionX</a:t>
            </a:r>
            <a:r>
              <a:rPr lang="en-US" altLang="zh-CN" sz="1200" dirty="0"/>
              <a:t>(d =&gt; d);</a:t>
            </a:r>
          </a:p>
          <a:p>
            <a:r>
              <a:rPr lang="en-US" altLang="zh-CN" sz="1200" dirty="0"/>
              <a:t>//Create a box for each sphere as children</a:t>
            </a:r>
          </a:p>
          <a:p>
            <a:r>
              <a:rPr lang="en-US" altLang="zh-CN" sz="1200" dirty="0"/>
              <a:t>let boxes = </a:t>
            </a:r>
            <a:r>
              <a:rPr lang="en-US" altLang="zh-CN" sz="1200" dirty="0" err="1"/>
              <a:t>spheres.bind</a:t>
            </a:r>
            <a:r>
              <a:rPr lang="en-US" altLang="zh-CN" sz="1200" dirty="0"/>
              <a:t>('box');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//Create a third box and put it towards the right</a:t>
            </a:r>
          </a:p>
          <a:p>
            <a:r>
              <a:rPr lang="en-US" altLang="zh-CN" sz="1200" dirty="0"/>
              <a:t>let </a:t>
            </a:r>
            <a:r>
              <a:rPr lang="en-US" altLang="zh-CN" sz="1200" dirty="0" err="1"/>
              <a:t>rootBox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('box')</a:t>
            </a:r>
          </a:p>
          <a:p>
            <a:r>
              <a:rPr lang="en-US" altLang="zh-CN" sz="1200" dirty="0"/>
              <a:t>                 .</a:t>
            </a:r>
            <a:r>
              <a:rPr lang="en-US" altLang="zh-CN" sz="1200" dirty="0" err="1"/>
              <a:t>positionX</a:t>
            </a:r>
            <a:r>
              <a:rPr lang="en-US" altLang="zh-CN" sz="1200" dirty="0"/>
              <a:t>(2);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//Make a new Selection of boxes, but only to those that belong to or are children of our "spheres" Selection</a:t>
            </a:r>
          </a:p>
          <a:p>
            <a:r>
              <a:rPr lang="en-US" altLang="zh-CN" sz="1200" dirty="0"/>
              <a:t>let </a:t>
            </a:r>
            <a:r>
              <a:rPr lang="en-US" altLang="zh-CN" sz="1200" dirty="0" err="1"/>
              <a:t>newSelection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spheres.selectName</a:t>
            </a:r>
            <a:r>
              <a:rPr lang="en-US" altLang="zh-CN" sz="1200" dirty="0"/>
              <a:t>('box');</a:t>
            </a:r>
          </a:p>
          <a:p>
            <a:r>
              <a:rPr lang="en-US" altLang="zh-CN" sz="1200" dirty="0"/>
              <a:t>//Move only the selected boxes down</a:t>
            </a:r>
          </a:p>
          <a:p>
            <a:r>
              <a:rPr lang="en-US" altLang="zh-CN" sz="1200" dirty="0" err="1"/>
              <a:t>newSelection.positionY</a:t>
            </a:r>
            <a:r>
              <a:rPr lang="en-US" altLang="zh-CN" sz="1200" dirty="0"/>
              <a:t>(-1);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848D49-352C-9C3C-B0CB-BD50BECDB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011" y="2776036"/>
            <a:ext cx="404812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37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C3F0F-8725-E525-E3D0-EF00BAFF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34BF4BF-F756-9E2F-22E8-87F076CA3F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过滤</a:t>
            </a:r>
            <a:r>
              <a:rPr lang="en-US" altLang="zh-CN" sz="4000" dirty="0">
                <a:latin typeface="Times New Roman Regular" panose="02020603050405020304" charset="0"/>
              </a:rPr>
              <a:t>SELECTIONS</a:t>
            </a:r>
            <a:endParaRPr lang="zh-CN" altLang="en-US" sz="4000" dirty="0">
              <a:latin typeface="Times New Roman Regular" panose="02020603050405020304" charset="0"/>
            </a:endParaRP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43572982-C15A-F5AC-D29C-1D3989B50B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389893"/>
            <a:ext cx="10178322" cy="1810507"/>
          </a:xfrm>
        </p:spPr>
        <p:txBody>
          <a:bodyPr/>
          <a:lstStyle/>
          <a:p>
            <a:r>
              <a:rPr lang="zh-CN" altLang="en-US" dirty="0"/>
              <a:t>我们可以使用需要谓词函数的</a:t>
            </a:r>
            <a:r>
              <a:rPr lang="en-US" altLang="zh-CN" u="sng" dirty="0"/>
              <a:t>filter</a:t>
            </a:r>
            <a:r>
              <a:rPr lang="zh-CN" altLang="en-US" dirty="0"/>
              <a:t>方法过滤现有的选择，仅保留传递谓词的节点。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00DCD7-BCB1-75DC-0749-85376AFD2484}"/>
              </a:ext>
            </a:extLst>
          </p:cNvPr>
          <p:cNvSpPr/>
          <p:nvPr/>
        </p:nvSpPr>
        <p:spPr>
          <a:xfrm>
            <a:off x="1510956" y="1897090"/>
            <a:ext cx="5053872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let cot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('cot');</a:t>
            </a:r>
          </a:p>
          <a:p>
            <a:r>
              <a:rPr lang="en-US" altLang="zh-CN" sz="1200" dirty="0"/>
              <a:t>let spheres = </a:t>
            </a:r>
            <a:r>
              <a:rPr lang="en-US" altLang="zh-CN" sz="1200" dirty="0" err="1"/>
              <a:t>cot.bind</a:t>
            </a:r>
            <a:r>
              <a:rPr lang="en-US" altLang="zh-CN" sz="1200" dirty="0"/>
              <a:t>('sphere', { diameter: 1 }, iris);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let </a:t>
            </a:r>
            <a:r>
              <a:rPr lang="en-US" altLang="zh-CN" sz="1200" dirty="0" err="1"/>
              <a:t>setosa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spheres.filter</a:t>
            </a:r>
            <a:r>
              <a:rPr lang="en-US" altLang="zh-CN" sz="1200" dirty="0"/>
              <a:t>((d) =&gt; </a:t>
            </a:r>
            <a:r>
              <a:rPr lang="en-US" altLang="zh-CN" sz="1200" dirty="0" err="1"/>
              <a:t>d.species</a:t>
            </a:r>
            <a:r>
              <a:rPr lang="en-US" altLang="zh-CN" sz="1200" dirty="0"/>
              <a:t> === "</a:t>
            </a:r>
            <a:r>
              <a:rPr lang="en-US" altLang="zh-CN" sz="1200" dirty="0" err="1"/>
              <a:t>setosa</a:t>
            </a:r>
            <a:r>
              <a:rPr lang="en-US" altLang="zh-CN" sz="1200" dirty="0"/>
              <a:t>");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F8D45EED-8B02-6C1D-FBDA-D553B5273050}"/>
              </a:ext>
            </a:extLst>
          </p:cNvPr>
          <p:cNvSpPr txBox="1">
            <a:spLocks noChangeArrowheads="1"/>
          </p:cNvSpPr>
          <p:nvPr/>
        </p:nvSpPr>
        <p:spPr>
          <a:xfrm>
            <a:off x="1175478" y="3097034"/>
            <a:ext cx="10178322" cy="1810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iris</a:t>
            </a:r>
            <a:r>
              <a:rPr lang="zh-CN" altLang="en-US" dirty="0"/>
              <a:t>导入方法</a:t>
            </a:r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4252CD-B701-62E1-AE43-9FBF963BDE32}"/>
              </a:ext>
            </a:extLst>
          </p:cNvPr>
          <p:cNvSpPr/>
          <p:nvPr/>
        </p:nvSpPr>
        <p:spPr>
          <a:xfrm>
            <a:off x="1510956" y="3581658"/>
            <a:ext cx="4635118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  let res = await fetch("/iris.csv");</a:t>
            </a:r>
          </a:p>
          <a:p>
            <a:r>
              <a:rPr lang="en-US" altLang="zh-CN" sz="1200" dirty="0"/>
              <a:t>  let text = await </a:t>
            </a:r>
            <a:r>
              <a:rPr lang="en-US" altLang="zh-CN" sz="1200" dirty="0" err="1"/>
              <a:t>res.text</a:t>
            </a:r>
            <a:r>
              <a:rPr lang="en-US" altLang="zh-CN" sz="1200" dirty="0"/>
              <a:t>();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// </a:t>
            </a:r>
            <a:r>
              <a:rPr lang="zh-CN" altLang="en-US" sz="1200" dirty="0"/>
              <a:t>简单解析 </a:t>
            </a:r>
            <a:r>
              <a:rPr lang="en-US" altLang="zh-CN" sz="1200" dirty="0"/>
              <a:t>CSV → </a:t>
            </a:r>
            <a:r>
              <a:rPr lang="zh-CN" altLang="en-US" sz="1200" dirty="0"/>
              <a:t>数组</a:t>
            </a:r>
          </a:p>
          <a:p>
            <a:r>
              <a:rPr lang="zh-CN" altLang="en-US" sz="1200" dirty="0"/>
              <a:t>  </a:t>
            </a:r>
            <a:r>
              <a:rPr lang="en-US" altLang="zh-CN" sz="1200" dirty="0"/>
              <a:t>let iris = </a:t>
            </a:r>
            <a:r>
              <a:rPr lang="en-US" altLang="zh-CN" sz="1200" dirty="0" err="1"/>
              <a:t>text.trim</a:t>
            </a:r>
            <a:r>
              <a:rPr lang="en-US" altLang="zh-CN" sz="1200" dirty="0"/>
              <a:t>().split("\n").slice(1).map(line =&gt; {</a:t>
            </a:r>
          </a:p>
          <a:p>
            <a:r>
              <a:rPr lang="en-US" altLang="zh-CN" sz="1200" dirty="0"/>
              <a:t>    let [</a:t>
            </a:r>
            <a:r>
              <a:rPr lang="en-US" altLang="zh-CN" sz="1200" dirty="0" err="1"/>
              <a:t>sepalLength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sepalWidth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petalLength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petalWidth</a:t>
            </a:r>
            <a:r>
              <a:rPr lang="en-US" altLang="zh-CN" sz="1200" dirty="0"/>
              <a:t>, species] = </a:t>
            </a:r>
            <a:r>
              <a:rPr lang="en-US" altLang="zh-CN" sz="1200" dirty="0" err="1"/>
              <a:t>line.split</a:t>
            </a:r>
            <a:r>
              <a:rPr lang="en-US" altLang="zh-CN" sz="1200" dirty="0"/>
              <a:t>(",").slice(1);</a:t>
            </a:r>
          </a:p>
          <a:p>
            <a:r>
              <a:rPr lang="en-US" altLang="zh-CN" sz="1200" dirty="0"/>
              <a:t>    return {</a:t>
            </a:r>
          </a:p>
          <a:p>
            <a:r>
              <a:rPr lang="en-US" altLang="zh-CN" sz="1200" dirty="0"/>
              <a:t>      </a:t>
            </a:r>
            <a:r>
              <a:rPr lang="en-US" altLang="zh-CN" sz="1200" dirty="0" err="1"/>
              <a:t>sepalLength</a:t>
            </a:r>
            <a:r>
              <a:rPr lang="en-US" altLang="zh-CN" sz="1200" dirty="0"/>
              <a:t>: +</a:t>
            </a:r>
            <a:r>
              <a:rPr lang="en-US" altLang="zh-CN" sz="1200" dirty="0" err="1"/>
              <a:t>sepalLength</a:t>
            </a:r>
            <a:r>
              <a:rPr lang="en-US" altLang="zh-CN" sz="1200" dirty="0"/>
              <a:t>,</a:t>
            </a:r>
          </a:p>
          <a:p>
            <a:r>
              <a:rPr lang="en-US" altLang="zh-CN" sz="1200" dirty="0"/>
              <a:t>      </a:t>
            </a:r>
            <a:r>
              <a:rPr lang="en-US" altLang="zh-CN" sz="1200" dirty="0" err="1"/>
              <a:t>sepalWidth</a:t>
            </a:r>
            <a:r>
              <a:rPr lang="en-US" altLang="zh-CN" sz="1200" dirty="0"/>
              <a:t>: +</a:t>
            </a:r>
            <a:r>
              <a:rPr lang="en-US" altLang="zh-CN" sz="1200" dirty="0" err="1"/>
              <a:t>sepalWidth</a:t>
            </a:r>
            <a:r>
              <a:rPr lang="en-US" altLang="zh-CN" sz="1200" dirty="0"/>
              <a:t>,</a:t>
            </a:r>
          </a:p>
          <a:p>
            <a:r>
              <a:rPr lang="en-US" altLang="zh-CN" sz="1200" dirty="0"/>
              <a:t>      </a:t>
            </a:r>
            <a:r>
              <a:rPr lang="en-US" altLang="zh-CN" sz="1200" dirty="0" err="1"/>
              <a:t>petalLength</a:t>
            </a:r>
            <a:r>
              <a:rPr lang="en-US" altLang="zh-CN" sz="1200" dirty="0"/>
              <a:t>: +</a:t>
            </a:r>
            <a:r>
              <a:rPr lang="en-US" altLang="zh-CN" sz="1200" dirty="0" err="1"/>
              <a:t>petalLength</a:t>
            </a:r>
            <a:r>
              <a:rPr lang="en-US" altLang="zh-CN" sz="1200" dirty="0"/>
              <a:t>,</a:t>
            </a:r>
          </a:p>
          <a:p>
            <a:r>
              <a:rPr lang="en-US" altLang="zh-CN" sz="1200" dirty="0"/>
              <a:t>      </a:t>
            </a:r>
            <a:r>
              <a:rPr lang="en-US" altLang="zh-CN" sz="1200" dirty="0" err="1"/>
              <a:t>petalWidth</a:t>
            </a:r>
            <a:r>
              <a:rPr lang="en-US" altLang="zh-CN" sz="1200" dirty="0"/>
              <a:t>: +</a:t>
            </a:r>
            <a:r>
              <a:rPr lang="en-US" altLang="zh-CN" sz="1200" dirty="0" err="1"/>
              <a:t>petalWidth</a:t>
            </a:r>
            <a:r>
              <a:rPr lang="en-US" altLang="zh-CN" sz="1200" dirty="0"/>
              <a:t>,</a:t>
            </a:r>
          </a:p>
          <a:p>
            <a:r>
              <a:rPr lang="en-US" altLang="zh-CN" sz="1200" dirty="0"/>
              <a:t>      species</a:t>
            </a:r>
          </a:p>
          <a:p>
            <a:r>
              <a:rPr lang="en-US" altLang="zh-CN" sz="1200" dirty="0"/>
              <a:t>    };</a:t>
            </a:r>
          </a:p>
          <a:p>
            <a:r>
              <a:rPr lang="en-US" altLang="zh-CN" sz="1200" dirty="0"/>
              <a:t>  });</a:t>
            </a:r>
          </a:p>
        </p:txBody>
      </p:sp>
    </p:spTree>
    <p:extLst>
      <p:ext uri="{BB962C8B-B14F-4D97-AF65-F5344CB8AC3E}">
        <p14:creationId xmlns:p14="http://schemas.microsoft.com/office/powerpoint/2010/main" val="551183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4243B-82E0-2594-7819-9C6BC2B96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AF25967F-1343-1550-65BA-D5569C454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操作</a:t>
            </a:r>
            <a:r>
              <a:rPr lang="en-US" altLang="zh-CN" sz="4000" dirty="0">
                <a:latin typeface="Times New Roman Regular" panose="02020603050405020304" charset="0"/>
              </a:rPr>
              <a:t>SELECTIONS</a:t>
            </a:r>
            <a:endParaRPr lang="zh-CN" altLang="en-US" sz="4000" dirty="0">
              <a:latin typeface="Times New Roman Regular" panose="02020603050405020304" charset="0"/>
            </a:endParaRP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D3A41C01-A1B7-519D-6C1B-600F2A82ED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23227" y="1213308"/>
            <a:ext cx="10178322" cy="1810507"/>
          </a:xfrm>
        </p:spPr>
        <p:txBody>
          <a:bodyPr/>
          <a:lstStyle/>
          <a:p>
            <a:r>
              <a:rPr lang="zh-CN" altLang="en-US" dirty="0"/>
              <a:t>每种选择方法修改节点属性时，可以直接给出相同类型属性的原始值，或者提供一个返回相同类型属性值的函数。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558086-C0BD-28B6-D379-2D53234986EC}"/>
              </a:ext>
            </a:extLst>
          </p:cNvPr>
          <p:cNvSpPr/>
          <p:nvPr/>
        </p:nvSpPr>
        <p:spPr>
          <a:xfrm>
            <a:off x="1286967" y="1958813"/>
            <a:ext cx="5053872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let cot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('cot');</a:t>
            </a:r>
          </a:p>
          <a:p>
            <a:r>
              <a:rPr lang="en-US" altLang="zh-CN" sz="1200" dirty="0"/>
              <a:t>let spheres = </a:t>
            </a:r>
            <a:r>
              <a:rPr lang="en-US" altLang="zh-CN" sz="1200" dirty="0" err="1"/>
              <a:t>cot.bind</a:t>
            </a:r>
            <a:r>
              <a:rPr lang="en-US" altLang="zh-CN" sz="1200" dirty="0"/>
              <a:t>('sphere', { diameter: 1 }, iris);</a:t>
            </a:r>
          </a:p>
          <a:p>
            <a:endParaRPr lang="en-US" altLang="zh-CN" sz="1200" dirty="0"/>
          </a:p>
          <a:p>
            <a:r>
              <a:rPr lang="en-US" altLang="zh-CN" sz="1200" dirty="0" err="1"/>
              <a:t>spheres.position</a:t>
            </a:r>
            <a:r>
              <a:rPr lang="en-US" altLang="zh-CN" sz="1200" dirty="0"/>
              <a:t>(new Vector3(1, 1, 1)) // Vector3</a:t>
            </a:r>
          </a:p>
          <a:p>
            <a:r>
              <a:rPr lang="en-US" altLang="zh-CN" sz="1200" dirty="0"/>
              <a:t>       .</a:t>
            </a:r>
            <a:r>
              <a:rPr lang="en-US" altLang="zh-CN" sz="1200" dirty="0" err="1"/>
              <a:t>scalingX</a:t>
            </a:r>
            <a:r>
              <a:rPr lang="en-US" altLang="zh-CN" sz="1200" dirty="0"/>
              <a:t>(0.2) // Number</a:t>
            </a:r>
          </a:p>
          <a:p>
            <a:r>
              <a:rPr lang="en-US" altLang="zh-CN" sz="1200" dirty="0"/>
              <a:t>       .name('</a:t>
            </a:r>
            <a:r>
              <a:rPr lang="en-US" altLang="zh-CN" sz="1200" dirty="0" err="1"/>
              <a:t>iris_sphere</a:t>
            </a:r>
            <a:r>
              <a:rPr lang="en-US" altLang="zh-CN" sz="1200" dirty="0"/>
              <a:t>'); // String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C9C61EA-9A8B-9008-A5FD-CC820A5C9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645" y="1958813"/>
            <a:ext cx="1645277" cy="1350369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AAF2214F-CCDD-AC5B-1E5F-31B28E2D302A}"/>
              </a:ext>
            </a:extLst>
          </p:cNvPr>
          <p:cNvSpPr txBox="1">
            <a:spLocks noChangeArrowheads="1"/>
          </p:cNvSpPr>
          <p:nvPr/>
        </p:nvSpPr>
        <p:spPr>
          <a:xfrm>
            <a:off x="1123227" y="3393478"/>
            <a:ext cx="10178322" cy="1810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通过传递匿名函数，根据某些值（例如其数据、属性或索引）独立修改 </a:t>
            </a:r>
            <a:r>
              <a:rPr lang="en-US" altLang="zh-CN" dirty="0"/>
              <a:t>Selection </a:t>
            </a:r>
            <a:r>
              <a:rPr lang="zh-CN" altLang="en-US" dirty="0"/>
              <a:t>中的每个球体</a:t>
            </a:r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76CDAD-DE72-F6ED-B49D-5B859C0ADA51}"/>
              </a:ext>
            </a:extLst>
          </p:cNvPr>
          <p:cNvSpPr/>
          <p:nvPr/>
        </p:nvSpPr>
        <p:spPr>
          <a:xfrm>
            <a:off x="1286967" y="4157640"/>
            <a:ext cx="5053872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let cot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('cot');</a:t>
            </a:r>
          </a:p>
          <a:p>
            <a:r>
              <a:rPr lang="en-US" altLang="zh-CN" sz="1200" dirty="0"/>
              <a:t>let spheres = </a:t>
            </a:r>
            <a:r>
              <a:rPr lang="en-US" altLang="zh-CN" sz="1200" dirty="0" err="1"/>
              <a:t>cot.bind</a:t>
            </a:r>
            <a:r>
              <a:rPr lang="en-US" altLang="zh-CN" sz="1200" dirty="0"/>
              <a:t>('sphere', { diameter: 1 }, iris);</a:t>
            </a:r>
          </a:p>
          <a:p>
            <a:endParaRPr lang="en-US" altLang="zh-CN" sz="1200" dirty="0"/>
          </a:p>
          <a:p>
            <a:r>
              <a:rPr lang="en-US" altLang="zh-CN" sz="1200" dirty="0" err="1"/>
              <a:t>spheres.position</a:t>
            </a:r>
            <a:r>
              <a:rPr lang="en-US" altLang="zh-CN" sz="1200" dirty="0"/>
              <a:t>((</a:t>
            </a:r>
            <a:r>
              <a:rPr lang="en-US" altLang="zh-CN" sz="1200" dirty="0" err="1"/>
              <a:t>d,n,i</a:t>
            </a:r>
            <a:r>
              <a:rPr lang="en-US" altLang="zh-CN" sz="1200" dirty="0"/>
              <a:t>) =&gt; new Vector3(</a:t>
            </a:r>
            <a:r>
              <a:rPr lang="en-US" altLang="zh-CN" sz="1200" dirty="0" err="1"/>
              <a:t>d.sepalLength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d.sepalWidth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d.petalWidth</a:t>
            </a:r>
            <a:r>
              <a:rPr lang="en-US" altLang="zh-CN" sz="1200" dirty="0"/>
              <a:t>)) // Vector3</a:t>
            </a:r>
          </a:p>
          <a:p>
            <a:r>
              <a:rPr lang="en-US" altLang="zh-CN" sz="1200" dirty="0"/>
              <a:t>       .</a:t>
            </a:r>
            <a:r>
              <a:rPr lang="en-US" altLang="zh-CN" sz="1200" dirty="0" err="1"/>
              <a:t>scalingX</a:t>
            </a:r>
            <a:r>
              <a:rPr lang="en-US" altLang="zh-CN" sz="1200" dirty="0"/>
              <a:t>((</a:t>
            </a:r>
            <a:r>
              <a:rPr lang="en-US" altLang="zh-CN" sz="1200" dirty="0" err="1"/>
              <a:t>d,n,i</a:t>
            </a:r>
            <a:r>
              <a:rPr lang="en-US" altLang="zh-CN" sz="1200" dirty="0"/>
              <a:t>) =&gt; </a:t>
            </a:r>
            <a:r>
              <a:rPr lang="en-US" altLang="zh-CN" sz="1200" dirty="0" err="1"/>
              <a:t>n.scaling.x</a:t>
            </a:r>
            <a:r>
              <a:rPr lang="en-US" altLang="zh-CN" sz="1200" dirty="0"/>
              <a:t> * 0.1) // Number</a:t>
            </a:r>
          </a:p>
          <a:p>
            <a:r>
              <a:rPr lang="en-US" altLang="zh-CN" sz="1200" dirty="0"/>
              <a:t>       .name((</a:t>
            </a:r>
            <a:r>
              <a:rPr lang="en-US" altLang="zh-CN" sz="1200" dirty="0" err="1"/>
              <a:t>d,n,i</a:t>
            </a:r>
            <a:r>
              <a:rPr lang="en-US" altLang="zh-CN" sz="1200" dirty="0"/>
              <a:t>) =&gt; "</a:t>
            </a:r>
            <a:r>
              <a:rPr lang="en-US" altLang="zh-CN" sz="1200" dirty="0" err="1"/>
              <a:t>iris_sphere</a:t>
            </a:r>
            <a:r>
              <a:rPr lang="en-US" altLang="zh-CN" sz="1200" dirty="0"/>
              <a:t>:" +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); // String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B5F570-F5FC-E8FA-7E77-FE794FE1B2E4}"/>
              </a:ext>
            </a:extLst>
          </p:cNvPr>
          <p:cNvSpPr txBox="1"/>
          <p:nvPr/>
        </p:nvSpPr>
        <p:spPr>
          <a:xfrm>
            <a:off x="1251678" y="5644692"/>
            <a:ext cx="350247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Font typeface="+mj-lt"/>
              <a:buAutoNum type="arabicPeriod"/>
            </a:pPr>
            <a:r>
              <a:rPr lang="en-US" altLang="zh-CN" sz="1600" b="0" i="0" dirty="0">
                <a:solidFill>
                  <a:srgbClr val="3C3C43"/>
                </a:solidFill>
                <a:effectLst/>
                <a:latin typeface="Inter"/>
              </a:rPr>
              <a:t>d</a:t>
            </a:r>
            <a:r>
              <a:rPr lang="zh-CN" altLang="en-US" sz="1600" b="0" i="0" dirty="0">
                <a:solidFill>
                  <a:srgbClr val="3C3C43"/>
                </a:solidFill>
                <a:effectLst/>
                <a:latin typeface="Inter"/>
              </a:rPr>
              <a:t>：创建时绑定到节点的数据。</a:t>
            </a:r>
          </a:p>
          <a:p>
            <a:pPr algn="l">
              <a:spcBef>
                <a:spcPts val="600"/>
              </a:spcBef>
              <a:buFont typeface="+mj-lt"/>
              <a:buAutoNum type="arabicPeriod"/>
            </a:pPr>
            <a:r>
              <a:rPr lang="en-US" altLang="zh-CN" sz="1600" b="0" i="0" dirty="0">
                <a:solidFill>
                  <a:srgbClr val="3C3C43"/>
                </a:solidFill>
                <a:effectLst/>
                <a:latin typeface="Inter"/>
              </a:rPr>
              <a:t>n</a:t>
            </a:r>
            <a:r>
              <a:rPr lang="zh-CN" altLang="en-US" sz="1600" b="0" i="0" dirty="0">
                <a:solidFill>
                  <a:srgbClr val="3C3C43"/>
                </a:solidFill>
                <a:effectLst/>
                <a:latin typeface="Inter"/>
              </a:rPr>
              <a:t>：正在修改的节点。</a:t>
            </a:r>
          </a:p>
          <a:p>
            <a:pPr algn="l">
              <a:spcBef>
                <a:spcPts val="600"/>
              </a:spcBef>
              <a:buFont typeface="+mj-lt"/>
              <a:buAutoNum type="arabicPeriod"/>
            </a:pPr>
            <a:r>
              <a:rPr lang="en-US" altLang="zh-CN" sz="1600" b="0" i="0" dirty="0" err="1">
                <a:solidFill>
                  <a:srgbClr val="3C3C43"/>
                </a:solidFill>
                <a:effectLst/>
                <a:latin typeface="Inter"/>
              </a:rPr>
              <a:t>i</a:t>
            </a:r>
            <a:r>
              <a:rPr lang="zh-CN" altLang="en-US" sz="1600" b="0" i="0" dirty="0">
                <a:solidFill>
                  <a:srgbClr val="3C3C43"/>
                </a:solidFill>
                <a:effectLst/>
                <a:latin typeface="Inter"/>
              </a:rPr>
              <a:t>：选择中节点的索引。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4D8FF69-FA37-3AFE-4BC2-28A655199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645" y="4225836"/>
            <a:ext cx="2346960" cy="168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21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FAE5-01B0-E4E5-F8EE-6B7B307C7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B1349092-8CD8-C851-EF83-4C32E184C7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包装器方法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C596CE47-9C6B-A080-820B-4BD0AC42CE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1252236"/>
            <a:ext cx="10178322" cy="857415"/>
          </a:xfrm>
        </p:spPr>
        <p:txBody>
          <a:bodyPr/>
          <a:lstStyle/>
          <a:p>
            <a:r>
              <a:rPr lang="en-US" altLang="zh-CN" dirty="0"/>
              <a:t>Anu </a:t>
            </a:r>
            <a:r>
              <a:rPr lang="zh-CN" altLang="en-US" dirty="0"/>
              <a:t>提供了用于快速修改 </a:t>
            </a:r>
            <a:r>
              <a:rPr lang="en-US" altLang="zh-CN" dirty="0"/>
              <a:t>Nodes </a:t>
            </a:r>
            <a:r>
              <a:rPr lang="zh-CN" altLang="en-US" dirty="0"/>
              <a:t>常用属性的包装方法。这些方法旨在减少常用模式所需的样板代码量。包装方法的完整列表，参阅 </a:t>
            </a:r>
            <a:r>
              <a:rPr lang="en-US" altLang="zh-CN" u="sng" dirty="0">
                <a:hlinkClick r:id="rId2"/>
              </a:rPr>
              <a:t>Selection</a:t>
            </a:r>
            <a:r>
              <a:rPr lang="zh-CN" altLang="en-US" dirty="0"/>
              <a:t> 类的 </a:t>
            </a:r>
            <a:r>
              <a:rPr lang="en-US" altLang="zh-CN" dirty="0"/>
              <a:t>API </a:t>
            </a:r>
            <a:r>
              <a:rPr lang="zh-CN" altLang="en-US" dirty="0"/>
              <a:t>文档。</a:t>
            </a:r>
            <a:endParaRPr lang="en-US" altLang="zh-CN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43D0A479-737F-CF8E-093B-79F7CD04991E}"/>
              </a:ext>
            </a:extLst>
          </p:cNvPr>
          <p:cNvSpPr txBox="1">
            <a:spLocks noChangeArrowheads="1"/>
          </p:cNvSpPr>
          <p:nvPr/>
        </p:nvSpPr>
        <p:spPr>
          <a:xfrm>
            <a:off x="1251678" y="2773746"/>
            <a:ext cx="10178322" cy="582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可以使用 </a:t>
            </a:r>
            <a:r>
              <a:rPr lang="en-US" altLang="zh-CN" u="sng" dirty="0"/>
              <a:t>prop</a:t>
            </a:r>
            <a:r>
              <a:rPr lang="zh-CN" altLang="en-US" u="sng" dirty="0"/>
              <a:t>（）</a:t>
            </a:r>
            <a:r>
              <a:rPr lang="zh-CN" altLang="en-US" dirty="0"/>
              <a:t>方法来修改选择中节点的任何属性，即使是那些深度嵌套的节点。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4B9406-EF0F-CFB3-4961-9A744BD1432F}"/>
              </a:ext>
            </a:extLst>
          </p:cNvPr>
          <p:cNvSpPr/>
          <p:nvPr/>
        </p:nvSpPr>
        <p:spPr>
          <a:xfrm>
            <a:off x="1522189" y="3401922"/>
            <a:ext cx="5053872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let cot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('cot');</a:t>
            </a:r>
          </a:p>
          <a:p>
            <a:r>
              <a:rPr lang="en-US" altLang="zh-CN" sz="1200" dirty="0"/>
              <a:t>let spheres = </a:t>
            </a:r>
            <a:r>
              <a:rPr lang="en-US" altLang="zh-CN" sz="1200" dirty="0" err="1"/>
              <a:t>cot.bind</a:t>
            </a:r>
            <a:r>
              <a:rPr lang="en-US" altLang="zh-CN" sz="1200" dirty="0"/>
              <a:t>('sphere', { diameter: 1 }, iris);</a:t>
            </a:r>
          </a:p>
          <a:p>
            <a:endParaRPr lang="en-US" altLang="zh-CN" sz="1200" dirty="0"/>
          </a:p>
          <a:p>
            <a:r>
              <a:rPr lang="en-US" altLang="zh-CN" sz="1200" dirty="0" err="1"/>
              <a:t>spheres.prop</a:t>
            </a:r>
            <a:r>
              <a:rPr lang="en-US" altLang="zh-CN" sz="1200" dirty="0"/>
              <a:t>("position", (</a:t>
            </a:r>
            <a:r>
              <a:rPr lang="en-US" altLang="zh-CN" sz="1200" dirty="0" err="1"/>
              <a:t>d,n,i</a:t>
            </a:r>
            <a:r>
              <a:rPr lang="en-US" altLang="zh-CN" sz="1200" dirty="0"/>
              <a:t>) =&gt; new Vector3(</a:t>
            </a:r>
            <a:r>
              <a:rPr lang="en-US" altLang="zh-CN" sz="1200" dirty="0" err="1"/>
              <a:t>d.sepalLength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d.sepalWidth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d.petalWidth</a:t>
            </a:r>
            <a:r>
              <a:rPr lang="en-US" altLang="zh-CN" sz="1200" dirty="0"/>
              <a:t>)) // Vector3</a:t>
            </a:r>
          </a:p>
          <a:p>
            <a:r>
              <a:rPr lang="en-US" altLang="zh-CN" sz="1200" dirty="0"/>
              <a:t>       .prop("</a:t>
            </a:r>
            <a:r>
              <a:rPr lang="en-US" altLang="zh-CN" sz="1200" dirty="0" err="1"/>
              <a:t>scaling.x</a:t>
            </a:r>
            <a:r>
              <a:rPr lang="en-US" altLang="zh-CN" sz="1200" dirty="0"/>
              <a:t>", 0.1) // Number</a:t>
            </a:r>
          </a:p>
          <a:p>
            <a:r>
              <a:rPr lang="en-US" altLang="zh-CN" sz="1200" dirty="0"/>
              <a:t>       .prop("name", (</a:t>
            </a:r>
            <a:r>
              <a:rPr lang="en-US" altLang="zh-CN" sz="1200" dirty="0" err="1"/>
              <a:t>d,n,i</a:t>
            </a:r>
            <a:r>
              <a:rPr lang="en-US" altLang="zh-CN" sz="1200" dirty="0"/>
              <a:t>) =&gt; "</a:t>
            </a:r>
            <a:r>
              <a:rPr lang="en-US" altLang="zh-CN" sz="1200" dirty="0" err="1"/>
              <a:t>iris_sphere</a:t>
            </a:r>
            <a:r>
              <a:rPr lang="en-US" altLang="zh-CN" sz="1200" dirty="0"/>
              <a:t>:" +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) // String</a:t>
            </a:r>
          </a:p>
          <a:p>
            <a:r>
              <a:rPr lang="en-US" altLang="zh-CN" sz="1200" dirty="0"/>
              <a:t>       .prop("</a:t>
            </a:r>
            <a:r>
              <a:rPr lang="en-US" altLang="zh-CN" sz="1200" dirty="0" err="1"/>
              <a:t>renderOutline</a:t>
            </a:r>
            <a:r>
              <a:rPr lang="en-US" altLang="zh-CN" sz="1200" dirty="0"/>
              <a:t>", true); //Boolean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039CD3-5776-C51C-A1D0-ABDD2A499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842" y="3401922"/>
            <a:ext cx="3373849" cy="251689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6ACDAF7-DA82-FC8F-630D-0DE8D93595A2}"/>
              </a:ext>
            </a:extLst>
          </p:cNvPr>
          <p:cNvSpPr txBox="1"/>
          <p:nvPr/>
        </p:nvSpPr>
        <p:spPr>
          <a:xfrm>
            <a:off x="1522189" y="1946051"/>
            <a:ext cx="6097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https://jpmorganchase.github.io/anu/api/classes/Selection.html</a:t>
            </a:r>
          </a:p>
        </p:txBody>
      </p:sp>
    </p:spTree>
    <p:extLst>
      <p:ext uri="{BB962C8B-B14F-4D97-AF65-F5344CB8AC3E}">
        <p14:creationId xmlns:p14="http://schemas.microsoft.com/office/powerpoint/2010/main" val="3044978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1B467-12D0-2D28-CA46-7E5F3770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B1FD3234-F96B-327B-06AA-F6EFFD1B16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19188" y="1420673"/>
            <a:ext cx="10202251" cy="1172301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我们可能希望一次修改选择中节点的许多属性。当我们将方法链接在一起时，我们循环遍历 </a:t>
            </a:r>
            <a:r>
              <a:rPr lang="en-US" altLang="zh-CN" sz="1600" dirty="0"/>
              <a:t>Selection </a:t>
            </a:r>
            <a:r>
              <a:rPr lang="zh-CN" altLang="en-US" sz="1600" dirty="0"/>
              <a:t>中的节点列表并为每个节点执行该方法。将多个方法链接在一起将多次重复此循环，可能会导致性能影响。除了链接方法，我们还可以使用 </a:t>
            </a:r>
            <a:r>
              <a:rPr lang="en-US" altLang="zh-CN" sz="1600" u="sng" dirty="0">
                <a:hlinkClick r:id="rId2"/>
              </a:rPr>
              <a:t>props</a:t>
            </a:r>
            <a:r>
              <a:rPr lang="zh-CN" altLang="en-US" sz="1600" u="sng" dirty="0">
                <a:hlinkClick r:id="rId2"/>
              </a:rPr>
              <a:t>（）</a:t>
            </a:r>
            <a:r>
              <a:rPr lang="zh-CN" altLang="en-US" sz="1600" dirty="0"/>
              <a:t> 方法通过一个循环设置多个属性。例如，以下是我们如何使用 </a:t>
            </a:r>
            <a:r>
              <a:rPr lang="en-US" altLang="zh-CN" sz="1600" dirty="0"/>
              <a:t>props</a:t>
            </a:r>
            <a:r>
              <a:rPr lang="zh-CN" altLang="en-US" sz="1600" dirty="0"/>
              <a:t>（） 设置与上述相同的方法。</a:t>
            </a:r>
            <a:endParaRPr lang="en-US" altLang="zh-CN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529D67-187C-DFAF-713C-BF4ECEB637A8}"/>
              </a:ext>
            </a:extLst>
          </p:cNvPr>
          <p:cNvSpPr/>
          <p:nvPr/>
        </p:nvSpPr>
        <p:spPr>
          <a:xfrm>
            <a:off x="1642504" y="2647968"/>
            <a:ext cx="6854725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let cot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('cot');</a:t>
            </a:r>
          </a:p>
          <a:p>
            <a:r>
              <a:rPr lang="en-US" altLang="zh-CN" sz="1200" dirty="0"/>
              <a:t>let spheres = </a:t>
            </a:r>
            <a:r>
              <a:rPr lang="en-US" altLang="zh-CN" sz="1200" dirty="0" err="1"/>
              <a:t>cot.bind</a:t>
            </a:r>
            <a:r>
              <a:rPr lang="en-US" altLang="zh-CN" sz="1200" dirty="0"/>
              <a:t>('sphere', { diameter: 1 }, iris);</a:t>
            </a:r>
          </a:p>
          <a:p>
            <a:r>
              <a:rPr lang="en-US" altLang="zh-CN" sz="1200" dirty="0" err="1"/>
              <a:t>spheres.prop</a:t>
            </a:r>
            <a:r>
              <a:rPr lang="en-US" altLang="zh-CN" sz="1200" dirty="0"/>
              <a:t>("position", (</a:t>
            </a:r>
            <a:r>
              <a:rPr lang="en-US" altLang="zh-CN" sz="1200" dirty="0" err="1"/>
              <a:t>d,n,i</a:t>
            </a:r>
            <a:r>
              <a:rPr lang="en-US" altLang="zh-CN" sz="1200" dirty="0"/>
              <a:t>) =&gt; new Vector3(</a:t>
            </a:r>
            <a:r>
              <a:rPr lang="en-US" altLang="zh-CN" sz="1200" dirty="0" err="1"/>
              <a:t>d.sepalLength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d.sepalWidth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d.petalWidth</a:t>
            </a:r>
            <a:r>
              <a:rPr lang="en-US" altLang="zh-CN" sz="1200" dirty="0"/>
              <a:t>)) // Vector3</a:t>
            </a:r>
          </a:p>
          <a:p>
            <a:r>
              <a:rPr lang="en-US" altLang="zh-CN" sz="1200" dirty="0"/>
              <a:t>       .prop("</a:t>
            </a:r>
            <a:r>
              <a:rPr lang="en-US" altLang="zh-CN" sz="1200" dirty="0" err="1"/>
              <a:t>scaling.x</a:t>
            </a:r>
            <a:r>
              <a:rPr lang="en-US" altLang="zh-CN" sz="1200" dirty="0"/>
              <a:t>", 0.1) // Number</a:t>
            </a:r>
          </a:p>
          <a:p>
            <a:r>
              <a:rPr lang="en-US" altLang="zh-CN" sz="1200" dirty="0"/>
              <a:t>       .prop("name", (</a:t>
            </a:r>
            <a:r>
              <a:rPr lang="en-US" altLang="zh-CN" sz="1200" dirty="0" err="1"/>
              <a:t>d,n,i</a:t>
            </a:r>
            <a:r>
              <a:rPr lang="en-US" altLang="zh-CN" sz="1200" dirty="0"/>
              <a:t>) =&gt; "</a:t>
            </a:r>
            <a:r>
              <a:rPr lang="en-US" altLang="zh-CN" sz="1200" dirty="0" err="1"/>
              <a:t>iris_sphere</a:t>
            </a:r>
            <a:r>
              <a:rPr lang="en-US" altLang="zh-CN" sz="1200" dirty="0"/>
              <a:t>:" +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) // String</a:t>
            </a:r>
          </a:p>
          <a:p>
            <a:r>
              <a:rPr lang="en-US" altLang="zh-CN" sz="1200" dirty="0"/>
              <a:t>       .prop("</a:t>
            </a:r>
            <a:r>
              <a:rPr lang="en-US" altLang="zh-CN" sz="1200" dirty="0" err="1"/>
              <a:t>renderOutline</a:t>
            </a:r>
            <a:r>
              <a:rPr lang="en-US" altLang="zh-CN" sz="1200" dirty="0"/>
              <a:t>", true); //Boolean</a:t>
            </a:r>
          </a:p>
        </p:txBody>
      </p:sp>
    </p:spTree>
    <p:extLst>
      <p:ext uri="{BB962C8B-B14F-4D97-AF65-F5344CB8AC3E}">
        <p14:creationId xmlns:p14="http://schemas.microsoft.com/office/powerpoint/2010/main" val="2424233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CEBD-FFDD-C5FB-D04C-AC121EF36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D6DD642-5C87-B72A-9DE4-F070183397B8}"/>
              </a:ext>
            </a:extLst>
          </p:cNvPr>
          <p:cNvSpPr/>
          <p:nvPr/>
        </p:nvSpPr>
        <p:spPr>
          <a:xfrm>
            <a:off x="1251678" y="1466600"/>
            <a:ext cx="6631756" cy="50783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import { </a:t>
            </a:r>
            <a:r>
              <a:rPr lang="en-US" altLang="zh-CN" sz="1200" dirty="0" err="1"/>
              <a:t>MeshBuilder</a:t>
            </a:r>
            <a:r>
              <a:rPr lang="en-US" altLang="zh-CN" sz="1200" dirty="0"/>
              <a:t>, Vector3, </a:t>
            </a:r>
            <a:r>
              <a:rPr lang="en-US" altLang="zh-CN" sz="1200" dirty="0" err="1"/>
              <a:t>StandardMaterial</a:t>
            </a:r>
            <a:r>
              <a:rPr lang="en-US" altLang="zh-CN" sz="1200" dirty="0"/>
              <a:t>, Color3, Color4, </a:t>
            </a:r>
            <a:r>
              <a:rPr lang="en-US" altLang="zh-CN" sz="1200" dirty="0" err="1"/>
              <a:t>CreateBox</a:t>
            </a:r>
            <a:r>
              <a:rPr lang="en-US" altLang="zh-CN" sz="1200" dirty="0"/>
              <a:t> } from "@</a:t>
            </a:r>
            <a:r>
              <a:rPr lang="en-US" altLang="zh-CN" sz="1200" dirty="0" err="1"/>
              <a:t>babylonjs</a:t>
            </a:r>
            <a:r>
              <a:rPr lang="en-US" altLang="zh-CN" sz="1200" dirty="0"/>
              <a:t>/core";</a:t>
            </a:r>
          </a:p>
          <a:p>
            <a:r>
              <a:rPr lang="en-US" altLang="zh-CN" sz="1200" dirty="0"/>
              <a:t>export default async(scene, anu) =&gt; {</a:t>
            </a:r>
          </a:p>
          <a:p>
            <a:r>
              <a:rPr lang="en-US" altLang="zh-CN" sz="1200" dirty="0"/>
              <a:t>  if (!anu) {</a:t>
            </a:r>
          </a:p>
          <a:p>
            <a:r>
              <a:rPr lang="en-US" altLang="zh-CN" sz="1200" dirty="0"/>
              <a:t>    </a:t>
            </a:r>
            <a:r>
              <a:rPr lang="en-US" altLang="zh-CN" sz="1200" dirty="0" err="1"/>
              <a:t>console.error</a:t>
            </a:r>
            <a:r>
              <a:rPr lang="en-US" altLang="zh-CN" sz="1200" dirty="0"/>
              <a:t>("lesson: anu </a:t>
            </a:r>
            <a:r>
              <a:rPr lang="zh-CN" altLang="en-US" sz="1200" dirty="0"/>
              <a:t>未传入</a:t>
            </a:r>
            <a:r>
              <a:rPr lang="en-US" altLang="zh-CN" sz="1200" dirty="0"/>
              <a:t>");</a:t>
            </a:r>
          </a:p>
          <a:p>
            <a:r>
              <a:rPr lang="en-US" altLang="zh-CN" sz="1200" dirty="0"/>
              <a:t>    return scene;</a:t>
            </a:r>
          </a:p>
          <a:p>
            <a:r>
              <a:rPr lang="en-US" altLang="zh-CN" sz="1200" dirty="0"/>
              <a:t>  }</a:t>
            </a:r>
          </a:p>
          <a:p>
            <a:r>
              <a:rPr lang="en-US" altLang="zh-CN" sz="1200" dirty="0"/>
              <a:t>// let cot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('cot');</a:t>
            </a:r>
          </a:p>
          <a:p>
            <a:r>
              <a:rPr lang="en-US" altLang="zh-CN" sz="1200" dirty="0"/>
              <a:t>  let res = await fetch("/iris.csv");</a:t>
            </a:r>
          </a:p>
          <a:p>
            <a:r>
              <a:rPr lang="en-US" altLang="zh-CN" sz="1200" dirty="0"/>
              <a:t>  let text = await </a:t>
            </a:r>
            <a:r>
              <a:rPr lang="en-US" altLang="zh-CN" sz="1200" dirty="0" err="1"/>
              <a:t>res.text</a:t>
            </a:r>
            <a:r>
              <a:rPr lang="en-US" altLang="zh-CN" sz="1200" dirty="0"/>
              <a:t>();</a:t>
            </a:r>
          </a:p>
          <a:p>
            <a:r>
              <a:rPr lang="en-US" altLang="zh-CN" sz="1200" dirty="0"/>
              <a:t>  // </a:t>
            </a:r>
            <a:r>
              <a:rPr lang="zh-CN" altLang="en-US" sz="1200" dirty="0"/>
              <a:t>简单解析 </a:t>
            </a:r>
            <a:r>
              <a:rPr lang="en-US" altLang="zh-CN" sz="1200" dirty="0"/>
              <a:t>CSV → </a:t>
            </a:r>
            <a:r>
              <a:rPr lang="zh-CN" altLang="en-US" sz="1200" dirty="0"/>
              <a:t>数组</a:t>
            </a:r>
          </a:p>
          <a:p>
            <a:r>
              <a:rPr lang="zh-CN" altLang="en-US" sz="1200" dirty="0"/>
              <a:t>  </a:t>
            </a:r>
            <a:r>
              <a:rPr lang="en-US" altLang="zh-CN" sz="1200" dirty="0"/>
              <a:t>let iris = </a:t>
            </a:r>
            <a:r>
              <a:rPr lang="en-US" altLang="zh-CN" sz="1200" dirty="0" err="1"/>
              <a:t>text.trim</a:t>
            </a:r>
            <a:r>
              <a:rPr lang="en-US" altLang="zh-CN" sz="1200" dirty="0"/>
              <a:t>().split("\n").slice(1).map(line =&gt; {</a:t>
            </a:r>
          </a:p>
          <a:p>
            <a:r>
              <a:rPr lang="en-US" altLang="zh-CN" sz="1200" dirty="0"/>
              <a:t>    let [</a:t>
            </a:r>
            <a:r>
              <a:rPr lang="en-US" altLang="zh-CN" sz="1200" dirty="0" err="1"/>
              <a:t>sepalLength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sepalWidth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petalLength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petalWidth</a:t>
            </a:r>
            <a:r>
              <a:rPr lang="en-US" altLang="zh-CN" sz="1200" dirty="0"/>
              <a:t>, species] = </a:t>
            </a:r>
            <a:r>
              <a:rPr lang="en-US" altLang="zh-CN" sz="1200" dirty="0" err="1"/>
              <a:t>line.split</a:t>
            </a:r>
            <a:r>
              <a:rPr lang="en-US" altLang="zh-CN" sz="1200" dirty="0"/>
              <a:t>(",").slice(1);</a:t>
            </a:r>
          </a:p>
          <a:p>
            <a:r>
              <a:rPr lang="en-US" altLang="zh-CN" sz="1200" dirty="0"/>
              <a:t>    return {</a:t>
            </a:r>
          </a:p>
          <a:p>
            <a:r>
              <a:rPr lang="en-US" altLang="zh-CN" sz="1200" dirty="0"/>
              <a:t>      </a:t>
            </a:r>
            <a:r>
              <a:rPr lang="en-US" altLang="zh-CN" sz="1200" dirty="0" err="1"/>
              <a:t>sepalLength</a:t>
            </a:r>
            <a:r>
              <a:rPr lang="en-US" altLang="zh-CN" sz="1200" dirty="0"/>
              <a:t>: +</a:t>
            </a:r>
            <a:r>
              <a:rPr lang="en-US" altLang="zh-CN" sz="1200" dirty="0" err="1"/>
              <a:t>sepalLength,sepalWidth</a:t>
            </a:r>
            <a:r>
              <a:rPr lang="en-US" altLang="zh-CN" sz="1200" dirty="0"/>
              <a:t>: +</a:t>
            </a:r>
            <a:r>
              <a:rPr lang="en-US" altLang="zh-CN" sz="1200" dirty="0" err="1"/>
              <a:t>sepalWidth</a:t>
            </a:r>
            <a:r>
              <a:rPr lang="en-US" altLang="zh-CN" sz="1200" dirty="0"/>
              <a:t>,</a:t>
            </a:r>
          </a:p>
          <a:p>
            <a:r>
              <a:rPr lang="en-US" altLang="zh-CN" sz="1200" dirty="0"/>
              <a:t>      </a:t>
            </a:r>
            <a:r>
              <a:rPr lang="en-US" altLang="zh-CN" sz="1200" dirty="0" err="1"/>
              <a:t>petalLength</a:t>
            </a:r>
            <a:r>
              <a:rPr lang="en-US" altLang="zh-CN" sz="1200" dirty="0"/>
              <a:t>: +</a:t>
            </a:r>
            <a:r>
              <a:rPr lang="en-US" altLang="zh-CN" sz="1200" dirty="0" err="1"/>
              <a:t>petalLength,petalWidth</a:t>
            </a:r>
            <a:r>
              <a:rPr lang="en-US" altLang="zh-CN" sz="1200" dirty="0"/>
              <a:t>: +</a:t>
            </a:r>
            <a:r>
              <a:rPr lang="en-US" altLang="zh-CN" sz="1200" dirty="0" err="1"/>
              <a:t>petalWidth</a:t>
            </a:r>
            <a:r>
              <a:rPr lang="en-US" altLang="zh-CN" sz="1200" dirty="0"/>
              <a:t>,</a:t>
            </a:r>
          </a:p>
          <a:p>
            <a:r>
              <a:rPr lang="en-US" altLang="zh-CN" sz="1200" dirty="0"/>
              <a:t>      species</a:t>
            </a:r>
          </a:p>
          <a:p>
            <a:r>
              <a:rPr lang="en-US" altLang="zh-CN" sz="1200" dirty="0"/>
              <a:t>    };</a:t>
            </a:r>
          </a:p>
          <a:p>
            <a:r>
              <a:rPr lang="en-US" altLang="zh-CN" sz="1200" dirty="0"/>
              <a:t>  });</a:t>
            </a:r>
          </a:p>
          <a:p>
            <a:r>
              <a:rPr lang="en-US" altLang="zh-CN" sz="1200" dirty="0"/>
              <a:t>let cot = </a:t>
            </a:r>
            <a:r>
              <a:rPr lang="en-US" altLang="zh-CN" sz="1200" dirty="0" err="1"/>
              <a:t>anu.bind</a:t>
            </a:r>
            <a:r>
              <a:rPr lang="en-US" altLang="zh-CN" sz="1200" dirty="0"/>
              <a:t>('cot');</a:t>
            </a:r>
          </a:p>
          <a:p>
            <a:r>
              <a:rPr lang="en-US" altLang="zh-CN" sz="1200" dirty="0"/>
              <a:t>let spheres = </a:t>
            </a:r>
            <a:r>
              <a:rPr lang="en-US" altLang="zh-CN" sz="1200" dirty="0" err="1"/>
              <a:t>cot.bind</a:t>
            </a:r>
            <a:r>
              <a:rPr lang="en-US" altLang="zh-CN" sz="1200" dirty="0"/>
              <a:t>('sphere', { diameter: 1 }, iris);</a:t>
            </a:r>
          </a:p>
          <a:p>
            <a:r>
              <a:rPr lang="en-US" altLang="zh-CN" sz="1200" dirty="0" err="1"/>
              <a:t>spheres.prop</a:t>
            </a:r>
            <a:r>
              <a:rPr lang="en-US" altLang="zh-CN" sz="1200" dirty="0"/>
              <a:t>("position", (</a:t>
            </a:r>
            <a:r>
              <a:rPr lang="en-US" altLang="zh-CN" sz="1200" dirty="0" err="1"/>
              <a:t>d,n,i</a:t>
            </a:r>
            <a:r>
              <a:rPr lang="en-US" altLang="zh-CN" sz="1200" dirty="0"/>
              <a:t>) =&gt; new Vector3(</a:t>
            </a:r>
            <a:r>
              <a:rPr lang="en-US" altLang="zh-CN" sz="1200" dirty="0" err="1"/>
              <a:t>d.sepalLength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d.sepalWidth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d.petalWidth</a:t>
            </a:r>
            <a:r>
              <a:rPr lang="en-US" altLang="zh-CN" sz="1200" dirty="0"/>
              <a:t>)) // Vector3</a:t>
            </a:r>
          </a:p>
          <a:p>
            <a:r>
              <a:rPr lang="en-US" altLang="zh-CN" sz="1200" dirty="0"/>
              <a:t>       .prop("</a:t>
            </a:r>
            <a:r>
              <a:rPr lang="en-US" altLang="zh-CN" sz="1200" dirty="0" err="1"/>
              <a:t>scaling.x</a:t>
            </a:r>
            <a:r>
              <a:rPr lang="en-US" altLang="zh-CN" sz="1200" dirty="0"/>
              <a:t>", 0.1) // Number</a:t>
            </a:r>
          </a:p>
          <a:p>
            <a:r>
              <a:rPr lang="en-US" altLang="zh-CN" sz="1200" dirty="0"/>
              <a:t>       .prop("name", (</a:t>
            </a:r>
            <a:r>
              <a:rPr lang="en-US" altLang="zh-CN" sz="1200" dirty="0" err="1"/>
              <a:t>d,n,i</a:t>
            </a:r>
            <a:r>
              <a:rPr lang="en-US" altLang="zh-CN" sz="1200" dirty="0"/>
              <a:t>) =&gt; "</a:t>
            </a:r>
            <a:r>
              <a:rPr lang="en-US" altLang="zh-CN" sz="1200" dirty="0" err="1"/>
              <a:t>iris_sphere</a:t>
            </a:r>
            <a:r>
              <a:rPr lang="en-US" altLang="zh-CN" sz="1200" dirty="0"/>
              <a:t>:" +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) // String</a:t>
            </a:r>
          </a:p>
          <a:p>
            <a:r>
              <a:rPr lang="en-US" altLang="zh-CN" sz="1200" dirty="0"/>
              <a:t>       .prop("</a:t>
            </a:r>
            <a:r>
              <a:rPr lang="en-US" altLang="zh-CN" sz="1200" dirty="0" err="1"/>
              <a:t>renderOutline</a:t>
            </a:r>
            <a:r>
              <a:rPr lang="en-US" altLang="zh-CN" sz="1200" dirty="0"/>
              <a:t>", true); //Boolean</a:t>
            </a:r>
          </a:p>
          <a:p>
            <a:r>
              <a:rPr lang="en-US" altLang="zh-CN" sz="1200" dirty="0"/>
              <a:t>  return scene;</a:t>
            </a:r>
          </a:p>
          <a:p>
            <a:r>
              <a:rPr lang="en-US" altLang="zh-CN" sz="1200" dirty="0"/>
              <a:t>}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A2502E7-7917-2930-FEB8-0272C8566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1678" y="382385"/>
            <a:ext cx="10178322" cy="610392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latin typeface="Times New Roman Regular" panose="02020603050405020304" charset="0"/>
              </a:rPr>
              <a:t>完整代码示例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576847-B43C-0A5B-DA9C-B2228F069728}"/>
              </a:ext>
            </a:extLst>
          </p:cNvPr>
          <p:cNvSpPr txBox="1"/>
          <p:nvPr/>
        </p:nvSpPr>
        <p:spPr>
          <a:xfrm>
            <a:off x="1174024" y="1097268"/>
            <a:ext cx="6097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Lesson.js</a:t>
            </a:r>
            <a:r>
              <a:rPr lang="zh-CN" altLang="en-US" sz="1800" dirty="0"/>
              <a:t>（需要在</a:t>
            </a:r>
            <a:r>
              <a:rPr lang="en-US" altLang="zh-CN" sz="1800" dirty="0"/>
              <a:t>main.js</a:t>
            </a:r>
            <a:r>
              <a:rPr lang="zh-CN" altLang="en-US" sz="1800" dirty="0"/>
              <a:t>调用）</a:t>
            </a:r>
          </a:p>
        </p:txBody>
      </p:sp>
    </p:spTree>
    <p:extLst>
      <p:ext uri="{BB962C8B-B14F-4D97-AF65-F5344CB8AC3E}">
        <p14:creationId xmlns:p14="http://schemas.microsoft.com/office/powerpoint/2010/main" val="3043191700"/>
      </p:ext>
    </p:extLst>
  </p:cSld>
  <p:clrMapOvr>
    <a:masterClrMapping/>
  </p:clrMapOvr>
</p:sld>
</file>

<file path=ppt/theme/theme1.xml><?xml version="1.0" encoding="utf-8"?>
<a:theme xmlns:a="http://schemas.openxmlformats.org/drawingml/2006/main" name="徽章">
  <a:themeElements>
    <a:clrScheme name="徽章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徽章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徽章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TM10001106[[fn=徽章]]</Template>
  <TotalTime>441</TotalTime>
  <Words>2998</Words>
  <Application>Microsoft Office PowerPoint</Application>
  <PresentationFormat>宽屏</PresentationFormat>
  <Paragraphs>290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Inter</vt:lpstr>
      <vt:lpstr>Times New Roman Regular</vt:lpstr>
      <vt:lpstr>等线</vt:lpstr>
      <vt:lpstr>Arial</vt:lpstr>
      <vt:lpstr>Gill Sans MT</vt:lpstr>
      <vt:lpstr>Impact</vt:lpstr>
      <vt:lpstr>Wingdings</vt:lpstr>
      <vt:lpstr>徽章</vt:lpstr>
      <vt:lpstr>信息可视化</vt:lpstr>
      <vt:lpstr>目录</vt:lpstr>
      <vt:lpstr>简介</vt:lpstr>
      <vt:lpstr>简介</vt:lpstr>
      <vt:lpstr>安装</vt:lpstr>
      <vt:lpstr>创建网格体</vt:lpstr>
      <vt:lpstr>创建网格体</vt:lpstr>
      <vt:lpstr>将数据绑定到网格体</vt:lpstr>
      <vt:lpstr>绑定多个网格体</vt:lpstr>
      <vt:lpstr>绑定实例</vt:lpstr>
      <vt:lpstr>使用selections</vt:lpstr>
      <vt:lpstr>使用selections</vt:lpstr>
      <vt:lpstr>创建带有selections的节点</vt:lpstr>
      <vt:lpstr>使用选择作父子节点</vt:lpstr>
      <vt:lpstr>嵌套SELECTIONS</vt:lpstr>
      <vt:lpstr>过滤SELECTIONS</vt:lpstr>
      <vt:lpstr>操作SELECTIONS</vt:lpstr>
      <vt:lpstr>包装器方法</vt:lpstr>
      <vt:lpstr>PowerPoint 演示文稿</vt:lpstr>
      <vt:lpstr>完整代码示例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信息可视化</dc:title>
  <dc:creator>JuncongLin</dc:creator>
  <cp:lastModifiedBy>世斌 余</cp:lastModifiedBy>
  <cp:revision>115</cp:revision>
  <dcterms:created xsi:type="dcterms:W3CDTF">2022-09-14T08:08:26Z</dcterms:created>
  <dcterms:modified xsi:type="dcterms:W3CDTF">2025-09-15T11:44:56Z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6E4DEC726ABC38E8707F1C63287F005D</vt:lpwstr>
  </property>
  <property fmtid="{D5CDD505-2E9C-101B-9397-08002B2CF9AE}" pid="3" name="KSOProductBuildVer">
    <vt:lpwstr>2052-4.5.0.7405</vt:lpwstr>
  </property>
</Properties>
</file>