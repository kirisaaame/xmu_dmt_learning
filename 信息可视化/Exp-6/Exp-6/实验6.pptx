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341" r:id="rId2"/>
    <p:sldId id="327" r:id="rId3"/>
    <p:sldId id="334" r:id="rId4"/>
    <p:sldId id="404" r:id="rId5"/>
    <p:sldId id="385" r:id="rId6"/>
    <p:sldId id="386" r:id="rId7"/>
    <p:sldId id="387" r:id="rId8"/>
    <p:sldId id="405" r:id="rId9"/>
    <p:sldId id="408" r:id="rId10"/>
    <p:sldId id="409" r:id="rId11"/>
    <p:sldId id="406" r:id="rId12"/>
    <p:sldId id="407" r:id="rId13"/>
    <p:sldId id="371" r:id="rId14"/>
    <p:sldId id="410" r:id="rId15"/>
    <p:sldId id="411" r:id="rId16"/>
    <p:sldId id="372" r:id="rId17"/>
    <p:sldId id="412" r:id="rId18"/>
    <p:sldId id="41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D99F8-2109-4508-B89D-C5654C3CD072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ACD33D-4843-4BCC-BBB3-AB1B0AC6E60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3C79AEB-7568-4B2D-A287-3BB200D9C699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9AEB-7568-4B2D-A287-3BB200D9C699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3C79AEB-7568-4B2D-A287-3BB200D9C699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9AEB-7568-4B2D-A287-3BB200D9C699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9AEB-7568-4B2D-A287-3BB200D9C699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9AEB-7568-4B2D-A287-3BB200D9C699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9AEB-7568-4B2D-A287-3BB200D9C699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43C79AEB-7568-4B2D-A287-3BB200D9C699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43C79AEB-7568-4B2D-A287-3BB200D9C699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9AEB-7568-4B2D-A287-3BB200D9C699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9AEB-7568-4B2D-A287-3BB200D9C699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3C79AEB-7568-4B2D-A287-3BB200D9C699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pmorganchase.github.io/anu/api/classes/Axis.html#updateaxes" TargetMode="External"/><Relationship Id="rId2" Type="http://schemas.openxmlformats.org/officeDocument/2006/relationships/hyperlink" Target="https://jpmorganchase.github.io/anu/api/classes/AxesConfig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1992314" y="3130550"/>
            <a:ext cx="8207375" cy="407988"/>
          </a:xfrm>
        </p:spPr>
        <p:txBody>
          <a:bodyPr/>
          <a:lstStyle/>
          <a:p>
            <a:r>
              <a:rPr lang="zh-CN" altLang="en-US" dirty="0"/>
              <a:t>实验六：</a:t>
            </a:r>
            <a:r>
              <a:rPr lang="en-US" altLang="zh-CN" dirty="0"/>
              <a:t>Anu</a:t>
            </a:r>
            <a:r>
              <a:rPr lang="zh-CN" altLang="en-US" dirty="0"/>
              <a:t>进阶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147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1992314" y="1989139"/>
            <a:ext cx="8207375" cy="960437"/>
          </a:xfrm>
        </p:spPr>
        <p:txBody>
          <a:bodyPr/>
          <a:lstStyle/>
          <a:p>
            <a:pPr eaLnBrk="1" hangingPunct="1"/>
            <a:r>
              <a:rPr lang="zh-CN" altLang="en-US" dirty="0"/>
              <a:t>信息可视化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目录</a:t>
            </a:r>
          </a:p>
        </p:txBody>
      </p:sp>
      <p:sp>
        <p:nvSpPr>
          <p:cNvPr id="7171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平面文本</a:t>
            </a:r>
            <a:endParaRPr lang="en-US" altLang="zh-CN" dirty="0"/>
          </a:p>
          <a:p>
            <a:pPr eaLnBrk="1" hangingPunct="1"/>
            <a:r>
              <a:rPr lang="zh-CN" altLang="en-US" dirty="0">
                <a:latin typeface="Times New Roman Regular" panose="02020603050405020304" charset="0"/>
              </a:rPr>
              <a:t>轴</a:t>
            </a:r>
            <a:endParaRPr lang="en-US" altLang="zh-CN" dirty="0">
              <a:latin typeface="Times New Roman Regular" panose="02020603050405020304" charset="0"/>
            </a:endParaRPr>
          </a:p>
          <a:p>
            <a:pPr eaLnBrk="1" hangingPunct="1"/>
            <a:r>
              <a:rPr lang="zh-CN" altLang="en-US" dirty="0"/>
              <a:t>色标</a:t>
            </a:r>
            <a:endParaRPr lang="en-US" altLang="zh-CN" dirty="0"/>
          </a:p>
          <a:p>
            <a:pPr eaLnBrk="1" hangingPunct="1"/>
            <a:r>
              <a:rPr lang="zh-CN" altLang="en-US" dirty="0"/>
              <a:t>变换控件</a:t>
            </a:r>
            <a:r>
              <a:rPr lang="en-US" altLang="zh-CN" dirty="0"/>
              <a:t>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+mn-ea"/>
                <a:ea typeface="+mn-ea"/>
              </a:rPr>
              <a:t>平面文本</a:t>
            </a:r>
            <a:endParaRPr lang="en-US" altLang="zh-CN" sz="4000" dirty="0"/>
          </a:p>
        </p:txBody>
      </p:sp>
      <p:sp>
        <p:nvSpPr>
          <p:cNvPr id="12291" name="内容占位符 2"/>
          <p:cNvSpPr>
            <a:spLocks noGrp="1" noChangeArrowheads="1"/>
          </p:cNvSpPr>
          <p:nvPr>
            <p:ph idx="1"/>
          </p:nvPr>
        </p:nvSpPr>
        <p:spPr>
          <a:xfrm>
            <a:off x="1251678" y="1389894"/>
            <a:ext cx="10178322" cy="1191382"/>
          </a:xfrm>
        </p:spPr>
        <p:txBody>
          <a:bodyPr>
            <a:normAutofit/>
          </a:bodyPr>
          <a:lstStyle/>
          <a:p>
            <a:r>
              <a:rPr lang="zh-CN" altLang="en-US" dirty="0"/>
              <a:t>平面文本预制件通过集成 </a:t>
            </a:r>
            <a:r>
              <a:rPr lang="en-US" altLang="zh-CN" u="sng" dirty="0" err="1"/>
              <a:t>babylon</a:t>
            </a:r>
            <a:r>
              <a:rPr lang="en-US" altLang="zh-CN" u="sng" dirty="0"/>
              <a:t>-</a:t>
            </a:r>
            <a:r>
              <a:rPr lang="en-US" altLang="zh-CN" u="sng" dirty="0" err="1"/>
              <a:t>msdf</a:t>
            </a:r>
            <a:r>
              <a:rPr lang="en-US" altLang="zh-CN" u="sng" dirty="0"/>
              <a:t>-text </a:t>
            </a:r>
            <a:r>
              <a:rPr lang="zh-CN" altLang="en-US" u="sng" dirty="0"/>
              <a:t>以 </a:t>
            </a:r>
            <a:r>
              <a:rPr lang="en-US" altLang="zh-CN" u="sng" dirty="0"/>
              <a:t>Babylon.js</a:t>
            </a:r>
            <a:r>
              <a:rPr lang="en-US" altLang="zh-CN" dirty="0"/>
              <a:t> </a:t>
            </a:r>
            <a:r>
              <a:rPr lang="zh-CN" altLang="en-US" dirty="0"/>
              <a:t>形式呈现 </a:t>
            </a:r>
            <a:r>
              <a:rPr lang="en-US" altLang="zh-CN" dirty="0"/>
              <a:t>2D </a:t>
            </a:r>
            <a:r>
              <a:rPr lang="zh-CN" altLang="en-US" dirty="0"/>
              <a:t>文本。可以通过调用 </a:t>
            </a:r>
            <a:r>
              <a:rPr lang="en-US" altLang="zh-CN" u="sng" dirty="0" err="1"/>
              <a:t>createPlaneText</a:t>
            </a:r>
            <a:r>
              <a:rPr lang="zh-CN" altLang="en-US" u="sng" dirty="0"/>
              <a:t>（）</a:t>
            </a:r>
            <a:r>
              <a:rPr lang="zh-CN" altLang="en-US" dirty="0"/>
              <a:t>、</a:t>
            </a:r>
            <a:r>
              <a:rPr lang="en-US" altLang="zh-CN" u="sng" dirty="0"/>
              <a:t>create</a:t>
            </a:r>
            <a:r>
              <a:rPr lang="zh-CN" altLang="en-US" u="sng" dirty="0"/>
              <a:t>（）</a:t>
            </a:r>
            <a:r>
              <a:rPr lang="en-US" altLang="zh-CN" dirty="0"/>
              <a:t> </a:t>
            </a:r>
            <a:r>
              <a:rPr lang="zh-CN" altLang="en-US" dirty="0"/>
              <a:t>或 </a:t>
            </a:r>
            <a:r>
              <a:rPr lang="en-US" altLang="zh-CN" u="sng" dirty="0"/>
              <a:t>bind</a:t>
            </a:r>
            <a:r>
              <a:rPr lang="zh-CN" altLang="en-US" u="sng" dirty="0"/>
              <a:t>（）</a:t>
            </a:r>
            <a:r>
              <a:rPr lang="en-US" altLang="zh-CN" dirty="0"/>
              <a:t> </a:t>
            </a:r>
            <a:r>
              <a:rPr lang="zh-CN" altLang="en-US" dirty="0"/>
              <a:t>来创建平面文本，并返回网格体或</a:t>
            </a:r>
            <a:r>
              <a:rPr lang="zh-CN" altLang="en-US" u="sng" dirty="0"/>
              <a:t>选择</a:t>
            </a:r>
            <a:r>
              <a:rPr lang="zh-CN" altLang="en-US" dirty="0"/>
              <a:t>。默认字体是 </a:t>
            </a:r>
            <a:r>
              <a:rPr lang="en-US" altLang="zh-CN" dirty="0"/>
              <a:t>Roboto Regular</a:t>
            </a:r>
            <a:r>
              <a:rPr lang="zh-CN" altLang="en-US" dirty="0"/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7127511" y="3059668"/>
            <a:ext cx="4502514" cy="34163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//With bind() returns Selection</a:t>
            </a:r>
          </a:p>
          <a:p>
            <a:r>
              <a:rPr lang="en-US" altLang="zh-CN" dirty="0" err="1"/>
              <a:t>anu.bind</a:t>
            </a:r>
            <a:r>
              <a:rPr lang="en-US" altLang="zh-CN" dirty="0"/>
              <a:t>('</a:t>
            </a:r>
            <a:r>
              <a:rPr lang="en-US" altLang="zh-CN" dirty="0" err="1"/>
              <a:t>planeText</a:t>
            </a:r>
            <a:r>
              <a:rPr lang="en-US" altLang="zh-CN" dirty="0"/>
              <a:t>', scene: Scene, options: {}, data: [{}]);</a:t>
            </a:r>
          </a:p>
          <a:p>
            <a:endParaRPr lang="en-US" altLang="zh-CN" dirty="0"/>
          </a:p>
          <a:p>
            <a:r>
              <a:rPr lang="en-US" altLang="zh-CN" dirty="0"/>
              <a:t>//With bind() from a Selection returns a new Selection</a:t>
            </a:r>
          </a:p>
          <a:p>
            <a:r>
              <a:rPr lang="en-US" altLang="zh-CN" dirty="0" err="1"/>
              <a:t>Selection.bind</a:t>
            </a:r>
            <a:r>
              <a:rPr lang="en-US" altLang="zh-CN" dirty="0"/>
              <a:t>('</a:t>
            </a:r>
            <a:r>
              <a:rPr lang="en-US" altLang="zh-CN" dirty="0" err="1"/>
              <a:t>planeText</a:t>
            </a:r>
            <a:r>
              <a:rPr lang="en-US" altLang="zh-CN" dirty="0"/>
              <a:t>', options: {}, data: [{}]);</a:t>
            </a:r>
          </a:p>
          <a:p>
            <a:endParaRPr lang="en-US" altLang="zh-CN" dirty="0"/>
          </a:p>
          <a:p>
            <a:r>
              <a:rPr lang="en-US" altLang="zh-CN" dirty="0"/>
              <a:t>//Combine run() and </a:t>
            </a:r>
            <a:r>
              <a:rPr lang="en-US" altLang="zh-CN" dirty="0" err="1"/>
              <a:t>updatePlaneText</a:t>
            </a:r>
            <a:r>
              <a:rPr lang="en-US" altLang="zh-CN" dirty="0"/>
              <a:t>() to update a Selection</a:t>
            </a:r>
          </a:p>
          <a:p>
            <a:r>
              <a:rPr lang="en-US" altLang="zh-CN" dirty="0" err="1"/>
              <a:t>Selection.run</a:t>
            </a:r>
            <a:r>
              <a:rPr lang="en-US" altLang="zh-CN" dirty="0"/>
              <a:t>((</a:t>
            </a:r>
            <a:r>
              <a:rPr lang="en-US" altLang="zh-CN" dirty="0" err="1"/>
              <a:t>d,n,i</a:t>
            </a:r>
            <a:r>
              <a:rPr lang="en-US" altLang="zh-CN" dirty="0"/>
              <a:t>) =&gt; </a:t>
            </a:r>
            <a:r>
              <a:rPr lang="en-US" altLang="zh-CN" dirty="0" err="1"/>
              <a:t>n.updatePlaneText</a:t>
            </a:r>
            <a:r>
              <a:rPr lang="en-US" altLang="zh-CN" dirty="0"/>
              <a:t>(options: {}));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A70BD19-A430-8135-8E91-9B3BEFC1E8A1}"/>
              </a:ext>
            </a:extLst>
          </p:cNvPr>
          <p:cNvSpPr txBox="1">
            <a:spLocks noChangeArrowheads="1"/>
          </p:cNvSpPr>
          <p:nvPr/>
        </p:nvSpPr>
        <p:spPr>
          <a:xfrm>
            <a:off x="1137378" y="2581276"/>
            <a:ext cx="10178322" cy="50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用法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E34709-AD15-E3D1-D535-383A6DAF0FDC}"/>
              </a:ext>
            </a:extLst>
          </p:cNvPr>
          <p:cNvSpPr/>
          <p:nvPr/>
        </p:nvSpPr>
        <p:spPr>
          <a:xfrm>
            <a:off x="1251678" y="3059668"/>
            <a:ext cx="5472972" cy="34163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//With </a:t>
            </a:r>
            <a:r>
              <a:rPr lang="en-US" altLang="zh-CN" dirty="0" err="1"/>
              <a:t>createPlaneText</a:t>
            </a:r>
            <a:r>
              <a:rPr lang="en-US" altLang="zh-CN" dirty="0"/>
              <a:t>() returns Mesh</a:t>
            </a:r>
          </a:p>
          <a:p>
            <a:r>
              <a:rPr lang="en-US" altLang="zh-CN" dirty="0"/>
              <a:t>let </a:t>
            </a:r>
            <a:r>
              <a:rPr lang="en-US" altLang="zh-CN" dirty="0" err="1"/>
              <a:t>planeText</a:t>
            </a:r>
            <a:r>
              <a:rPr lang="en-US" altLang="zh-CN" dirty="0"/>
              <a:t> = </a:t>
            </a:r>
            <a:r>
              <a:rPr lang="en-US" altLang="zh-CN" dirty="0" err="1"/>
              <a:t>anu.createPlaneText</a:t>
            </a:r>
            <a:r>
              <a:rPr lang="en-US" altLang="zh-CN" dirty="0"/>
              <a:t>(name: string, options: {}, scene: Scene);</a:t>
            </a:r>
          </a:p>
          <a:p>
            <a:r>
              <a:rPr lang="en-US" altLang="zh-CN" dirty="0"/>
              <a:t>//</a:t>
            </a:r>
            <a:r>
              <a:rPr lang="en-US" altLang="zh-CN" dirty="0" err="1"/>
              <a:t>updatePlaneText</a:t>
            </a:r>
            <a:r>
              <a:rPr lang="en-US" altLang="zh-CN" dirty="0"/>
              <a:t>() will update the Mesh with the specified options in a single pass</a:t>
            </a:r>
          </a:p>
          <a:p>
            <a:r>
              <a:rPr lang="en-US" altLang="zh-CN" dirty="0" err="1"/>
              <a:t>planeText.updatePlaneText</a:t>
            </a:r>
            <a:r>
              <a:rPr lang="en-US" altLang="zh-CN" dirty="0"/>
              <a:t>(options: {});</a:t>
            </a:r>
          </a:p>
          <a:p>
            <a:r>
              <a:rPr lang="en-US" altLang="zh-CN" dirty="0"/>
              <a:t>//setters will update the Mesh with the specified option after each call</a:t>
            </a:r>
          </a:p>
          <a:p>
            <a:r>
              <a:rPr lang="en-US" altLang="zh-CN" dirty="0" err="1"/>
              <a:t>planeText.text</a:t>
            </a:r>
            <a:r>
              <a:rPr lang="en-US" altLang="zh-CN" dirty="0"/>
              <a:t> = string;</a:t>
            </a:r>
          </a:p>
          <a:p>
            <a:r>
              <a:rPr lang="en-US" altLang="zh-CN" dirty="0"/>
              <a:t>//With create() returns Mesh</a:t>
            </a:r>
          </a:p>
          <a:p>
            <a:r>
              <a:rPr lang="en-US" altLang="zh-CN" dirty="0"/>
              <a:t>let mesh = </a:t>
            </a:r>
            <a:r>
              <a:rPr lang="en-US" altLang="zh-CN" dirty="0" err="1"/>
              <a:t>anu.create</a:t>
            </a:r>
            <a:r>
              <a:rPr lang="en-US" altLang="zh-CN" dirty="0"/>
              <a:t>('</a:t>
            </a:r>
            <a:r>
              <a:rPr lang="en-US" altLang="zh-CN" dirty="0" err="1"/>
              <a:t>planeText</a:t>
            </a:r>
            <a:r>
              <a:rPr lang="en-US" altLang="zh-CN" dirty="0"/>
              <a:t>', name: string, scene: Scene, options: {}, data: {});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6094F-2819-7C8B-D5ED-82FDB9DBD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9318F0FC-80EC-67B4-ECE6-3310DA336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+mn-ea"/>
                <a:ea typeface="+mn-ea"/>
              </a:rPr>
              <a:t>平面文本</a:t>
            </a:r>
            <a:endParaRPr lang="en-US" altLang="zh-CN" sz="40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A56F222-5632-E991-1C1E-832FFA2BDAA9}"/>
              </a:ext>
            </a:extLst>
          </p:cNvPr>
          <p:cNvSpPr txBox="1">
            <a:spLocks noChangeArrowheads="1"/>
          </p:cNvSpPr>
          <p:nvPr/>
        </p:nvSpPr>
        <p:spPr>
          <a:xfrm>
            <a:off x="1185003" y="1295401"/>
            <a:ext cx="10178322" cy="50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options</a:t>
            </a:r>
            <a:endParaRPr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53ABA04-4935-637F-5DF6-CE014BE183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723301"/>
              </p:ext>
            </p:extLst>
          </p:nvPr>
        </p:nvGraphicFramePr>
        <p:xfrm>
          <a:off x="1467020" y="1958410"/>
          <a:ext cx="9614288" cy="4158384"/>
        </p:xfrm>
        <a:graphic>
          <a:graphicData uri="http://schemas.openxmlformats.org/drawingml/2006/table">
            <a:tbl>
              <a:tblPr/>
              <a:tblGrid>
                <a:gridCol w="1889513">
                  <a:extLst>
                    <a:ext uri="{9D8B030D-6E8A-4147-A177-3AD203B41FA5}">
                      <a16:colId xmlns:a16="http://schemas.microsoft.com/office/drawing/2014/main" val="3857610945"/>
                    </a:ext>
                  </a:extLst>
                </a:gridCol>
                <a:gridCol w="1663142">
                  <a:extLst>
                    <a:ext uri="{9D8B030D-6E8A-4147-A177-3AD203B41FA5}">
                      <a16:colId xmlns:a16="http://schemas.microsoft.com/office/drawing/2014/main" val="695252162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539598545"/>
                    </a:ext>
                  </a:extLst>
                </a:gridCol>
                <a:gridCol w="3699433">
                  <a:extLst>
                    <a:ext uri="{9D8B030D-6E8A-4147-A177-3AD203B41FA5}">
                      <a16:colId xmlns:a16="http://schemas.microsoft.com/office/drawing/2014/main" val="1660102329"/>
                    </a:ext>
                  </a:extLst>
                </a:gridCol>
              </a:tblGrid>
              <a:tr h="256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属性 </a:t>
                      </a:r>
                      <a:r>
                        <a:rPr lang="en-US" altLang="zh-CN" sz="1600" dirty="0"/>
                        <a:t>(</a:t>
                      </a:r>
                      <a:r>
                        <a:rPr lang="en-US" sz="1600" dirty="0"/>
                        <a:t>Property)</a:t>
                      </a:r>
                    </a:p>
                  </a:txBody>
                  <a:tcPr marL="64180" marR="64180" marT="32090" marB="3209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值类型 </a:t>
                      </a:r>
                      <a:r>
                        <a:rPr lang="en-US" altLang="zh-CN" sz="1600" dirty="0"/>
                        <a:t>(</a:t>
                      </a:r>
                      <a:r>
                        <a:rPr lang="en-US" sz="1600" dirty="0"/>
                        <a:t>Value)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默认值 </a:t>
                      </a:r>
                      <a:r>
                        <a:rPr lang="en-US" altLang="zh-CN" sz="1600" dirty="0"/>
                        <a:t>(</a:t>
                      </a:r>
                      <a:r>
                        <a:rPr lang="en-US" sz="1600" dirty="0"/>
                        <a:t>Default)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说明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627898458"/>
                  </a:ext>
                </a:extLst>
              </a:tr>
              <a:tr h="256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text</a:t>
                      </a:r>
                    </a:p>
                  </a:txBody>
                  <a:tcPr marL="64180" marR="64180" marT="32090" marB="3209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string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'undefined'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要渲染的文本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501164519"/>
                  </a:ext>
                </a:extLst>
              </a:tr>
              <a:tr h="449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font</a:t>
                      </a:r>
                    </a:p>
                  </a:txBody>
                  <a:tcPr marL="64180" marR="64180" marT="32090" marB="3209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/>
                        <a:t>json</a:t>
                      </a:r>
                      <a:endParaRPr lang="en-US" sz="1600" dirty="0"/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/>
                        <a:t>roboto-standard.json</a:t>
                      </a:r>
                      <a:endParaRPr lang="en-US" sz="1600" dirty="0"/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MSDF </a:t>
                      </a:r>
                      <a:r>
                        <a:rPr lang="zh-CN" altLang="en-US" sz="1600"/>
                        <a:t>字体的 </a:t>
                      </a:r>
                      <a:r>
                        <a:rPr lang="en-US" sz="1600"/>
                        <a:t>JSON </a:t>
                      </a:r>
                      <a:r>
                        <a:rPr lang="zh-CN" altLang="en-US" sz="1600"/>
                        <a:t>配置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758916657"/>
                  </a:ext>
                </a:extLst>
              </a:tr>
              <a:tr h="256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atlas</a:t>
                      </a:r>
                    </a:p>
                  </a:txBody>
                  <a:tcPr marL="64180" marR="64180" marT="32090" marB="3209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png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roboto-standard.png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MSDF </a:t>
                      </a:r>
                      <a:r>
                        <a:rPr lang="zh-CN" altLang="en-US" sz="1600"/>
                        <a:t>字体的纹理图集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71173086"/>
                  </a:ext>
                </a:extLst>
              </a:tr>
              <a:tr h="449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align</a:t>
                      </a:r>
                    </a:p>
                  </a:txBody>
                  <a:tcPr marL="64180" marR="64180" marT="32090" marB="3209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string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'center'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文本的水平对齐方式：</a:t>
                      </a:r>
                      <a:endParaRPr lang="en-US" altLang="zh-CN" sz="1600" dirty="0"/>
                    </a:p>
                    <a:p>
                      <a:pPr>
                        <a:buNone/>
                      </a:pPr>
                      <a:r>
                        <a:rPr lang="en-US" altLang="zh-CN" sz="1600" dirty="0"/>
                        <a:t>'</a:t>
                      </a:r>
                      <a:r>
                        <a:rPr lang="en-US" sz="1600" dirty="0"/>
                        <a:t>left' / 'center' / 'right'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152064594"/>
                  </a:ext>
                </a:extLst>
              </a:tr>
              <a:tr h="449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vAlign</a:t>
                      </a:r>
                    </a:p>
                  </a:txBody>
                  <a:tcPr marL="64180" marR="64180" marT="32090" marB="3209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string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'middle'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文本的垂直对齐方式：</a:t>
                      </a:r>
                      <a:endParaRPr lang="en-US" altLang="zh-CN" sz="1600" dirty="0"/>
                    </a:p>
                    <a:p>
                      <a:pPr>
                        <a:buNone/>
                      </a:pPr>
                      <a:r>
                        <a:rPr lang="en-US" altLang="zh-CN" sz="1600" dirty="0"/>
                        <a:t>'</a:t>
                      </a:r>
                      <a:r>
                        <a:rPr lang="en-US" sz="1600" dirty="0"/>
                        <a:t>top' / 'middle' / 'bottom'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628178138"/>
                  </a:ext>
                </a:extLst>
              </a:tr>
              <a:tr h="256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color</a:t>
                      </a:r>
                    </a:p>
                  </a:txBody>
                  <a:tcPr marL="64180" marR="64180" marT="32090" marB="3209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Color3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Color3.White()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文本颜色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71757337"/>
                  </a:ext>
                </a:extLst>
              </a:tr>
              <a:tr h="256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strokeColor</a:t>
                      </a:r>
                    </a:p>
                  </a:txBody>
                  <a:tcPr marL="64180" marR="64180" marT="32090" marB="3209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Color3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Color3.Black()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描边颜色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71220676"/>
                  </a:ext>
                </a:extLst>
              </a:tr>
              <a:tr h="256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strokeWidth</a:t>
                      </a:r>
                    </a:p>
                  </a:txBody>
                  <a:tcPr marL="64180" marR="64180" marT="32090" marB="3209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number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0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描边宽度（</a:t>
                      </a:r>
                      <a:r>
                        <a:rPr lang="en-US" altLang="zh-CN" sz="1600"/>
                        <a:t>0–1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682110635"/>
                  </a:ext>
                </a:extLst>
              </a:tr>
              <a:tr h="256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opacity</a:t>
                      </a:r>
                    </a:p>
                  </a:txBody>
                  <a:tcPr marL="64180" marR="64180" marT="32090" marB="3209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number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1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透明度（</a:t>
                      </a:r>
                      <a:r>
                        <a:rPr lang="en-US" altLang="zh-CN" sz="1600"/>
                        <a:t>0–1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740732731"/>
                  </a:ext>
                </a:extLst>
              </a:tr>
              <a:tr h="449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size</a:t>
                      </a:r>
                    </a:p>
                  </a:txBody>
                  <a:tcPr marL="64180" marR="64180" marT="32090" marB="3209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number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1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缩放因子（与 </a:t>
                      </a:r>
                      <a:r>
                        <a:rPr lang="en-US" sz="1600" dirty="0"/>
                        <a:t>Mesh scaling </a:t>
                      </a:r>
                      <a:r>
                        <a:rPr lang="zh-CN" altLang="en-US" sz="1600" dirty="0"/>
                        <a:t>相同）</a:t>
                      </a:r>
                    </a:p>
                  </a:txBody>
                  <a:tcPr marL="64180" marR="64180" marT="32090" marB="32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866472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367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4570E-943E-F9EC-BDEB-E3EB30B7F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B6AA4DE-B51A-C2C8-AAF1-26E54CB801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+mn-ea"/>
                <a:ea typeface="+mn-ea"/>
              </a:rPr>
              <a:t>平面文本</a:t>
            </a:r>
            <a:endParaRPr lang="en-US" altLang="zh-CN" sz="4000" dirty="0"/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151AE111-13F7-3F0A-1AE6-F7A8C8CEB6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8" y="1408943"/>
            <a:ext cx="5968272" cy="678563"/>
          </a:xfrm>
        </p:spPr>
        <p:txBody>
          <a:bodyPr>
            <a:normAutofit/>
          </a:bodyPr>
          <a:lstStyle/>
          <a:p>
            <a:r>
              <a:rPr lang="zh-CN" altLang="en-US" b="1" dirty="0"/>
              <a:t>例子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7AFE91-67EB-DC4D-C6EA-A47A61AA5D48}"/>
              </a:ext>
            </a:extLst>
          </p:cNvPr>
          <p:cNvSpPr/>
          <p:nvPr/>
        </p:nvSpPr>
        <p:spPr>
          <a:xfrm>
            <a:off x="1251678" y="1949170"/>
            <a:ext cx="5720622" cy="4524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let options = {</a:t>
            </a:r>
          </a:p>
          <a:p>
            <a:r>
              <a:rPr lang="en-US" altLang="zh-CN" dirty="0"/>
              <a:t>    text: 'Hello World',</a:t>
            </a:r>
          </a:p>
          <a:p>
            <a:r>
              <a:rPr lang="en-US" altLang="zh-CN" dirty="0"/>
              <a:t>    color: Color3.Green()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r>
              <a:rPr lang="en-US" altLang="zh-CN" dirty="0"/>
              <a:t>let </a:t>
            </a:r>
            <a:r>
              <a:rPr lang="en-US" altLang="zh-CN" dirty="0" err="1"/>
              <a:t>myText</a:t>
            </a:r>
            <a:r>
              <a:rPr lang="en-US" altLang="zh-CN" dirty="0"/>
              <a:t> = </a:t>
            </a:r>
            <a:r>
              <a:rPr lang="en-US" altLang="zh-CN" dirty="0" err="1"/>
              <a:t>anu.createPlaneText</a:t>
            </a:r>
            <a:r>
              <a:rPr lang="en-US" altLang="zh-CN" dirty="0"/>
              <a:t>('</a:t>
            </a:r>
            <a:r>
              <a:rPr lang="en-US" altLang="zh-CN" dirty="0" err="1"/>
              <a:t>myText</a:t>
            </a:r>
            <a:r>
              <a:rPr lang="en-US" altLang="zh-CN" dirty="0"/>
              <a:t>', options, scene);</a:t>
            </a:r>
          </a:p>
          <a:p>
            <a:endParaRPr lang="en-US" altLang="zh-CN" dirty="0"/>
          </a:p>
          <a:p>
            <a:r>
              <a:rPr lang="en-US" altLang="zh-CN" dirty="0" err="1"/>
              <a:t>options.text</a:t>
            </a:r>
            <a:r>
              <a:rPr lang="en-US" altLang="zh-CN" dirty="0"/>
              <a:t> = "Goodbye World";</a:t>
            </a:r>
          </a:p>
          <a:p>
            <a:r>
              <a:rPr lang="en-US" altLang="zh-CN" dirty="0" err="1"/>
              <a:t>options.color</a:t>
            </a:r>
            <a:r>
              <a:rPr lang="en-US" altLang="zh-CN" dirty="0"/>
              <a:t> = Color3.Red();</a:t>
            </a:r>
          </a:p>
          <a:p>
            <a:r>
              <a:rPr lang="en-US" altLang="zh-CN" dirty="0" err="1"/>
              <a:t>options.size</a:t>
            </a:r>
            <a:r>
              <a:rPr lang="en-US" altLang="zh-CN" dirty="0"/>
              <a:t> = 1.5;</a:t>
            </a:r>
          </a:p>
          <a:p>
            <a:endParaRPr lang="en-US" altLang="zh-CN" dirty="0"/>
          </a:p>
          <a:p>
            <a:r>
              <a:rPr lang="en-US" altLang="zh-CN" dirty="0" err="1"/>
              <a:t>scene.onPointerDown</a:t>
            </a:r>
            <a:r>
              <a:rPr lang="en-US" altLang="zh-CN" dirty="0"/>
              <a:t> = (pointer) =&gt; </a:t>
            </a:r>
            <a:r>
              <a:rPr lang="en-US" altLang="zh-CN" dirty="0" err="1"/>
              <a:t>myText.updatePlaneText</a:t>
            </a:r>
            <a:r>
              <a:rPr lang="en-US" altLang="zh-CN" dirty="0"/>
              <a:t>(options);</a:t>
            </a:r>
          </a:p>
          <a:p>
            <a:endParaRPr lang="en-US" altLang="zh-CN" dirty="0"/>
          </a:p>
          <a:p>
            <a:r>
              <a:rPr lang="en-US" altLang="zh-CN" dirty="0" err="1"/>
              <a:t>scene.onPointerUp</a:t>
            </a:r>
            <a:r>
              <a:rPr lang="en-US" altLang="zh-CN" dirty="0"/>
              <a:t> = (pointer) =&gt; </a:t>
            </a:r>
            <a:br>
              <a:rPr lang="en-US" altLang="zh-CN" dirty="0"/>
            </a:br>
            <a:r>
              <a:rPr lang="en-US" altLang="zh-CN" dirty="0" err="1"/>
              <a:t>myText.text</a:t>
            </a:r>
            <a:r>
              <a:rPr lang="en-US" altLang="zh-CN" dirty="0"/>
              <a:t> = "Hello Again";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F9FCCB-02FC-F4B2-3FD3-9EFF846EA4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85" t="29063" r="13389" b="26215"/>
          <a:stretch>
            <a:fillRect/>
          </a:stretch>
        </p:blipFill>
        <p:spPr>
          <a:xfrm>
            <a:off x="7219950" y="2035831"/>
            <a:ext cx="3733479" cy="10782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831399E-F9FA-36B8-C580-DCA6CB89C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951" y="3448225"/>
            <a:ext cx="3692907" cy="127357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C29BF47-1FB3-07AC-17F9-011E401664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977" b="17363"/>
          <a:stretch>
            <a:fillRect/>
          </a:stretch>
        </p:blipFill>
        <p:spPr>
          <a:xfrm>
            <a:off x="7219950" y="5010151"/>
            <a:ext cx="3692908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03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BC533-236D-DD07-49BC-CD4496BFF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FB932848-DBF8-37DA-9B2F-0AF8C4E5B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+mn-ea"/>
                <a:ea typeface="+mn-ea"/>
              </a:rPr>
              <a:t>轴</a:t>
            </a:r>
            <a:endParaRPr lang="en-US" altLang="zh-CN" sz="4000" dirty="0"/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8577FFE0-99C8-1E6C-2FB7-349D7E682B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8" y="1389894"/>
            <a:ext cx="10178322" cy="1191382"/>
          </a:xfrm>
        </p:spPr>
        <p:txBody>
          <a:bodyPr/>
          <a:lstStyle/>
          <a:p>
            <a:r>
              <a:rPr lang="en-US" altLang="zh-CN" dirty="0"/>
              <a:t>Anu </a:t>
            </a:r>
            <a:r>
              <a:rPr lang="zh-CN" altLang="en-US" dirty="0"/>
              <a:t>提供了一个 </a:t>
            </a:r>
            <a:r>
              <a:rPr lang="zh-CN" altLang="en-US" b="1" dirty="0"/>
              <a:t>轴预制件（</a:t>
            </a:r>
            <a:r>
              <a:rPr lang="en-US" altLang="zh-CN" b="1" dirty="0"/>
              <a:t>Axes prefab</a:t>
            </a:r>
            <a:r>
              <a:rPr lang="zh-CN" altLang="en-US" b="1" dirty="0"/>
              <a:t>）</a:t>
            </a:r>
            <a:r>
              <a:rPr lang="zh-CN" altLang="en-US" dirty="0"/>
              <a:t>，让用户能快速创建符合最佳实践的坐标轴。默认配置即可生成美观的轴，同时支持自定义，结合 </a:t>
            </a:r>
            <a:r>
              <a:rPr lang="en-US" altLang="zh-CN" b="1" dirty="0"/>
              <a:t>Anu</a:t>
            </a:r>
            <a:r>
              <a:rPr lang="zh-CN" altLang="en-US" b="1" dirty="0"/>
              <a:t>、</a:t>
            </a:r>
            <a:r>
              <a:rPr lang="en-US" altLang="zh-CN" b="1" dirty="0"/>
              <a:t>Babylon.js </a:t>
            </a:r>
            <a:r>
              <a:rPr lang="zh-CN" altLang="en-US" b="1" dirty="0"/>
              <a:t>和 </a:t>
            </a:r>
            <a:r>
              <a:rPr lang="en-US" altLang="zh-CN" b="1" dirty="0"/>
              <a:t>D3</a:t>
            </a:r>
            <a:r>
              <a:rPr lang="zh-CN" altLang="en-US" dirty="0"/>
              <a:t> 的功能。它内置了 </a:t>
            </a:r>
            <a:r>
              <a:rPr lang="en-US" altLang="zh-CN" b="1" dirty="0"/>
              <a:t>d3-scale</a:t>
            </a:r>
            <a:r>
              <a:rPr lang="zh-CN" altLang="en-US" dirty="0"/>
              <a:t>，用于元素定位、刻度和标签生成。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9FA349-1A65-759E-2303-FAD2078CD233}"/>
              </a:ext>
            </a:extLst>
          </p:cNvPr>
          <p:cNvSpPr/>
          <p:nvPr/>
        </p:nvSpPr>
        <p:spPr>
          <a:xfrm>
            <a:off x="2545126" y="2776539"/>
            <a:ext cx="7101747" cy="3539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/>
              <a:t>//Returns instance of Axes Class</a:t>
            </a:r>
          </a:p>
          <a:p>
            <a:r>
              <a:rPr lang="en-US" altLang="zh-CN" sz="1600" dirty="0"/>
              <a:t>let axes = </a:t>
            </a:r>
            <a:r>
              <a:rPr lang="en-US" altLang="zh-CN" sz="1600" dirty="0" err="1"/>
              <a:t>anu.createAxes</a:t>
            </a:r>
            <a:r>
              <a:rPr lang="en-US" altLang="zh-CN" sz="1600" dirty="0"/>
              <a:t>(name: String, options: {} | </a:t>
            </a:r>
            <a:r>
              <a:rPr lang="en-US" altLang="zh-CN" sz="1600" dirty="0" err="1"/>
              <a:t>AxisConfig</a:t>
            </a:r>
            <a:r>
              <a:rPr lang="en-US" altLang="zh-CN" sz="1600" dirty="0"/>
              <a:t>, scene?: Scene);</a:t>
            </a:r>
          </a:p>
          <a:p>
            <a:endParaRPr lang="en-US" altLang="zh-CN" sz="1600" dirty="0"/>
          </a:p>
          <a:p>
            <a:r>
              <a:rPr lang="en-US" altLang="zh-CN" sz="1600" dirty="0"/>
              <a:t>//Selection object of the main axis line using </a:t>
            </a:r>
            <a:r>
              <a:rPr lang="en-US" altLang="zh-CN" sz="1600" dirty="0" err="1"/>
              <a:t>GreasedLine</a:t>
            </a:r>
            <a:r>
              <a:rPr lang="en-US" altLang="zh-CN" sz="1600" dirty="0"/>
              <a:t> mesh</a:t>
            </a:r>
          </a:p>
          <a:p>
            <a:r>
              <a:rPr lang="en-US" altLang="zh-CN" sz="1600" dirty="0" err="1"/>
              <a:t>axes.domain</a:t>
            </a:r>
            <a:r>
              <a:rPr lang="en-US" altLang="zh-CN" sz="1600" dirty="0"/>
              <a:t>;</a:t>
            </a:r>
          </a:p>
          <a:p>
            <a:endParaRPr lang="en-US" altLang="zh-CN" sz="1600" dirty="0"/>
          </a:p>
          <a:p>
            <a:r>
              <a:rPr lang="en-US" altLang="zh-CN" sz="1600" dirty="0"/>
              <a:t>//Selection object {</a:t>
            </a:r>
            <a:r>
              <a:rPr lang="en-US" altLang="zh-CN" sz="1600" dirty="0" err="1"/>
              <a:t>x,y,z</a:t>
            </a:r>
            <a:r>
              <a:rPr lang="en-US" altLang="zh-CN" sz="1600" dirty="0"/>
              <a:t>} of axes background using Plane mesh</a:t>
            </a:r>
          </a:p>
          <a:p>
            <a:r>
              <a:rPr lang="en-US" altLang="zh-CN" sz="1600" dirty="0" err="1"/>
              <a:t>axes.background.x</a:t>
            </a:r>
            <a:r>
              <a:rPr lang="en-US" altLang="zh-CN" sz="1600" dirty="0"/>
              <a:t>; //or y or z</a:t>
            </a:r>
          </a:p>
          <a:p>
            <a:endParaRPr lang="en-US" altLang="zh-CN" sz="1600" dirty="0"/>
          </a:p>
          <a:p>
            <a:r>
              <a:rPr lang="en-US" altLang="zh-CN" sz="1600" dirty="0"/>
              <a:t>//Selection object {</a:t>
            </a:r>
            <a:r>
              <a:rPr lang="en-US" altLang="zh-CN" sz="1600" dirty="0" err="1"/>
              <a:t>x,y,z</a:t>
            </a:r>
            <a:r>
              <a:rPr lang="en-US" altLang="zh-CN" sz="1600" dirty="0"/>
              <a:t>} of axes grid using </a:t>
            </a:r>
            <a:r>
              <a:rPr lang="en-US" altLang="zh-CN" sz="1600" dirty="0" err="1"/>
              <a:t>LineSystem</a:t>
            </a:r>
            <a:r>
              <a:rPr lang="en-US" altLang="zh-CN" sz="1600" dirty="0"/>
              <a:t> mesh</a:t>
            </a:r>
          </a:p>
          <a:p>
            <a:r>
              <a:rPr lang="en-US" altLang="zh-CN" sz="1600" dirty="0" err="1"/>
              <a:t>axes.grid.x</a:t>
            </a:r>
            <a:r>
              <a:rPr lang="en-US" altLang="zh-CN" sz="1600" dirty="0"/>
              <a:t>; //or y or z </a:t>
            </a:r>
          </a:p>
          <a:p>
            <a:endParaRPr lang="en-US" altLang="zh-CN" sz="1600" dirty="0"/>
          </a:p>
          <a:p>
            <a:r>
              <a:rPr lang="en-US" altLang="zh-CN" sz="1600" dirty="0"/>
              <a:t>//Selection object {</a:t>
            </a:r>
            <a:r>
              <a:rPr lang="en-US" altLang="zh-CN" sz="1600" dirty="0" err="1"/>
              <a:t>x,y,z</a:t>
            </a:r>
            <a:r>
              <a:rPr lang="en-US" altLang="zh-CN" sz="1600" dirty="0"/>
              <a:t>} of axes labels using </a:t>
            </a:r>
            <a:r>
              <a:rPr lang="en-US" altLang="zh-CN" sz="1600" dirty="0" err="1"/>
              <a:t>PlaneText</a:t>
            </a:r>
            <a:r>
              <a:rPr lang="en-US" altLang="zh-CN" sz="1600" dirty="0"/>
              <a:t> prefab</a:t>
            </a:r>
          </a:p>
          <a:p>
            <a:r>
              <a:rPr lang="en-US" altLang="zh-CN" sz="1600" dirty="0" err="1"/>
              <a:t>axes.label.x</a:t>
            </a:r>
            <a:r>
              <a:rPr lang="en-US" altLang="zh-CN" sz="1600" dirty="0"/>
              <a:t>; //or y or z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40DFF2-9FDA-DF56-36C8-1C9EAE43C10E}"/>
              </a:ext>
            </a:extLst>
          </p:cNvPr>
          <p:cNvSpPr txBox="1">
            <a:spLocks noChangeArrowheads="1"/>
          </p:cNvSpPr>
          <p:nvPr/>
        </p:nvSpPr>
        <p:spPr>
          <a:xfrm>
            <a:off x="1251678" y="2581276"/>
            <a:ext cx="10178322" cy="50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用法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4207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89131-FD1D-7606-A9D7-D49DDB488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1CA95CC7-0A39-0F09-670D-92EA39E93D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1678" y="382385"/>
            <a:ext cx="10178322" cy="733894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+mn-ea"/>
                <a:ea typeface="+mn-ea"/>
              </a:rPr>
              <a:t>轴</a:t>
            </a:r>
            <a:endParaRPr lang="en-US" altLang="zh-CN" sz="4000" dirty="0"/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B09FD097-A1A0-38D0-3541-92E4B7083A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7" y="1389893"/>
            <a:ext cx="8606697" cy="1617492"/>
          </a:xfrm>
        </p:spPr>
        <p:txBody>
          <a:bodyPr>
            <a:normAutofit/>
          </a:bodyPr>
          <a:lstStyle/>
          <a:p>
            <a:r>
              <a:rPr lang="zh-CN" altLang="en-US" b="1" dirty="0"/>
              <a:t>使用 </a:t>
            </a:r>
            <a:r>
              <a:rPr lang="en-US" altLang="zh-CN" b="1" dirty="0" err="1"/>
              <a:t>AxesConfig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dirty="0"/>
              <a:t>我们还可以使用 </a:t>
            </a:r>
            <a:r>
              <a:rPr lang="en-US" altLang="zh-CN" u="sng" dirty="0" err="1">
                <a:hlinkClick r:id="rId2"/>
              </a:rPr>
              <a:t>AxesConfig</a:t>
            </a:r>
            <a:r>
              <a:rPr lang="zh-CN" altLang="en-US" dirty="0"/>
              <a:t> 帮助程序类设置轴选项。这将生成默认值，并允许我们更改选项，而无需直接编写 </a:t>
            </a:r>
            <a:r>
              <a:rPr lang="en-US" altLang="zh-CN" dirty="0"/>
              <a:t>JSON </a:t>
            </a:r>
            <a:r>
              <a:rPr lang="zh-CN" altLang="en-US" dirty="0"/>
              <a:t>对象。</a:t>
            </a:r>
            <a:endParaRPr lang="en-US" altLang="zh-CN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C06B48-E19B-4F81-CFC0-48C14B9B4C52}"/>
              </a:ext>
            </a:extLst>
          </p:cNvPr>
          <p:cNvSpPr/>
          <p:nvPr/>
        </p:nvSpPr>
        <p:spPr>
          <a:xfrm>
            <a:off x="1375502" y="2698490"/>
            <a:ext cx="6441282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/>
              <a:t>let </a:t>
            </a:r>
            <a:r>
              <a:rPr lang="en-US" altLang="zh-CN" sz="1400" dirty="0" err="1"/>
              <a:t>axesOptions</a:t>
            </a:r>
            <a:r>
              <a:rPr lang="en-US" altLang="zh-CN" sz="1400" dirty="0"/>
              <a:t> = new </a:t>
            </a:r>
            <a:r>
              <a:rPr lang="en-US" altLang="zh-CN" sz="1400" dirty="0" err="1"/>
              <a:t>anu.AxesConfig</a:t>
            </a:r>
            <a:r>
              <a:rPr lang="en-US" altLang="zh-CN" sz="1400" dirty="0"/>
              <a:t>({x?: </a:t>
            </a:r>
            <a:r>
              <a:rPr lang="en-US" altLang="zh-CN" sz="1400" dirty="0" err="1"/>
              <a:t>scaleX</a:t>
            </a:r>
            <a:r>
              <a:rPr lang="en-US" altLang="zh-CN" sz="1400" dirty="0"/>
              <a:t>, y?: </a:t>
            </a:r>
            <a:r>
              <a:rPr lang="en-US" altLang="zh-CN" sz="1400" dirty="0" err="1"/>
              <a:t>scaleY</a:t>
            </a:r>
            <a:r>
              <a:rPr lang="en-US" altLang="zh-CN" sz="1400" dirty="0"/>
              <a:t>, z?: </a:t>
            </a:r>
            <a:r>
              <a:rPr lang="en-US" altLang="zh-CN" sz="1400" dirty="0" err="1"/>
              <a:t>scaleZ</a:t>
            </a:r>
            <a:r>
              <a:rPr lang="en-US" altLang="zh-CN" sz="1400" dirty="0"/>
              <a:t>})</a:t>
            </a:r>
          </a:p>
          <a:p>
            <a:r>
              <a:rPr lang="en-US" altLang="zh-CN" sz="1400" dirty="0" err="1"/>
              <a:t>axesOptions.domain</a:t>
            </a:r>
            <a:r>
              <a:rPr lang="en-US" altLang="zh-CN" sz="1400" dirty="0"/>
              <a:t> = false;</a:t>
            </a:r>
          </a:p>
          <a:p>
            <a:r>
              <a:rPr lang="en-US" altLang="zh-CN" sz="1400" dirty="0" err="1"/>
              <a:t>axesOptions.grid.y</a:t>
            </a:r>
            <a:r>
              <a:rPr lang="en-US" altLang="zh-CN" sz="1400" dirty="0"/>
              <a:t> = false;</a:t>
            </a:r>
          </a:p>
          <a:p>
            <a:r>
              <a:rPr lang="en-US" altLang="zh-CN" sz="1400" dirty="0"/>
              <a:t>let axes = </a:t>
            </a:r>
            <a:r>
              <a:rPr lang="en-US" altLang="zh-CN" sz="1400" dirty="0" err="1"/>
              <a:t>anu.createAxes</a:t>
            </a:r>
            <a:r>
              <a:rPr lang="en-US" altLang="zh-CN" sz="1400" dirty="0"/>
              <a:t>('name', </a:t>
            </a:r>
            <a:r>
              <a:rPr lang="en-US" altLang="zh-CN" sz="1400" dirty="0" err="1"/>
              <a:t>axesOptions</a:t>
            </a:r>
            <a:r>
              <a:rPr lang="en-US" altLang="zh-CN" sz="1400" dirty="0"/>
              <a:t>);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69241C5-5A21-211D-B67A-C705A43A0894}"/>
              </a:ext>
            </a:extLst>
          </p:cNvPr>
          <p:cNvSpPr txBox="1">
            <a:spLocks noChangeArrowheads="1"/>
          </p:cNvSpPr>
          <p:nvPr/>
        </p:nvSpPr>
        <p:spPr>
          <a:xfrm>
            <a:off x="1251677" y="4010452"/>
            <a:ext cx="9101997" cy="2580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更新轴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dirty="0"/>
              <a:t>要更新轴，我们可以在轴实例上调用 </a:t>
            </a:r>
            <a:r>
              <a:rPr lang="en-US" altLang="zh-CN" u="sng" dirty="0" err="1">
                <a:hlinkClick r:id="rId3"/>
              </a:rPr>
              <a:t>updateAxes</a:t>
            </a:r>
            <a:r>
              <a:rPr lang="zh-CN" altLang="en-US" dirty="0"/>
              <a:t>，如果希望向更新添加过渡，则传入新的 </a:t>
            </a:r>
            <a:r>
              <a:rPr lang="en-US" altLang="zh-CN" dirty="0" err="1"/>
              <a:t>AxesOptions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 err="1"/>
              <a:t>AxesConfig</a:t>
            </a:r>
            <a:r>
              <a:rPr lang="en-US" altLang="zh-CN" dirty="0"/>
              <a:t> </a:t>
            </a:r>
            <a:r>
              <a:rPr lang="zh-CN" altLang="en-US" dirty="0"/>
              <a:t>和可选的 </a:t>
            </a:r>
            <a:r>
              <a:rPr lang="en-US" altLang="zh-CN" dirty="0" err="1"/>
              <a:t>TransitionOptions</a:t>
            </a:r>
            <a:r>
              <a:rPr lang="en-US" altLang="zh-CN" dirty="0"/>
              <a:t> </a:t>
            </a:r>
            <a:r>
              <a:rPr lang="zh-CN" altLang="en-US" dirty="0"/>
              <a:t>对象。</a:t>
            </a:r>
            <a:endParaRPr lang="en-US" altLang="zh-CN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12E65E-4575-3447-8630-24EC7DE8EF5E}"/>
              </a:ext>
            </a:extLst>
          </p:cNvPr>
          <p:cNvSpPr/>
          <p:nvPr/>
        </p:nvSpPr>
        <p:spPr>
          <a:xfrm>
            <a:off x="1375502" y="5277277"/>
            <a:ext cx="6222207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/>
              <a:t>let </a:t>
            </a:r>
            <a:r>
              <a:rPr lang="en-US" altLang="zh-CN" sz="1400" dirty="0" err="1"/>
              <a:t>axesOptions</a:t>
            </a:r>
            <a:r>
              <a:rPr lang="en-US" altLang="zh-CN" sz="1400" dirty="0"/>
              <a:t> = new </a:t>
            </a:r>
            <a:r>
              <a:rPr lang="en-US" altLang="zh-CN" sz="1400" dirty="0" err="1"/>
              <a:t>anu.AxesConfig</a:t>
            </a:r>
            <a:r>
              <a:rPr lang="en-US" altLang="zh-CN" sz="1400" dirty="0"/>
              <a:t>({x?: </a:t>
            </a:r>
            <a:r>
              <a:rPr lang="en-US" altLang="zh-CN" sz="1400" dirty="0" err="1"/>
              <a:t>scaleX</a:t>
            </a:r>
            <a:r>
              <a:rPr lang="en-US" altLang="zh-CN" sz="1400" dirty="0"/>
              <a:t>, y?: </a:t>
            </a:r>
            <a:r>
              <a:rPr lang="en-US" altLang="zh-CN" sz="1400" dirty="0" err="1"/>
              <a:t>scaleY</a:t>
            </a:r>
            <a:r>
              <a:rPr lang="en-US" altLang="zh-CN" sz="1400" dirty="0"/>
              <a:t>, z?: </a:t>
            </a:r>
            <a:r>
              <a:rPr lang="en-US" altLang="zh-CN" sz="1400" dirty="0" err="1"/>
              <a:t>scaleZ</a:t>
            </a:r>
            <a:r>
              <a:rPr lang="en-US" altLang="zh-CN" sz="1400" dirty="0"/>
              <a:t>})</a:t>
            </a:r>
          </a:p>
          <a:p>
            <a:r>
              <a:rPr lang="en-US" altLang="zh-CN" sz="1400" dirty="0"/>
              <a:t>let axes = </a:t>
            </a:r>
            <a:r>
              <a:rPr lang="en-US" altLang="zh-CN" sz="1400" dirty="0" err="1"/>
              <a:t>anu.createAxes</a:t>
            </a:r>
            <a:r>
              <a:rPr lang="en-US" altLang="zh-CN" sz="1400" dirty="0"/>
              <a:t>('name', </a:t>
            </a:r>
            <a:r>
              <a:rPr lang="en-US" altLang="zh-CN" sz="1400" dirty="0" err="1"/>
              <a:t>axesOptions</a:t>
            </a:r>
            <a:r>
              <a:rPr lang="en-US" altLang="zh-CN" sz="1400" dirty="0"/>
              <a:t>);</a:t>
            </a:r>
          </a:p>
          <a:p>
            <a:r>
              <a:rPr lang="en-US" altLang="zh-CN" sz="1400" dirty="0" err="1"/>
              <a:t>axesOptions.scale.x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newScaleX</a:t>
            </a:r>
            <a:endParaRPr lang="en-US" altLang="zh-CN" sz="1400" dirty="0"/>
          </a:p>
          <a:p>
            <a:r>
              <a:rPr lang="en-US" altLang="zh-CN" sz="1400" dirty="0" err="1"/>
              <a:t>axes.updateAxes</a:t>
            </a:r>
            <a:r>
              <a:rPr lang="en-US" altLang="zh-CN" sz="1400" dirty="0"/>
              <a:t>(</a:t>
            </a:r>
            <a:r>
              <a:rPr lang="en-US" altLang="zh-CN" sz="1400" dirty="0" err="1"/>
              <a:t>axesOptions</a:t>
            </a:r>
            <a:r>
              <a:rPr lang="en-US" altLang="zh-CN" sz="1400" dirty="0"/>
              <a:t>, {duration: 250})</a:t>
            </a:r>
          </a:p>
        </p:txBody>
      </p:sp>
    </p:spTree>
    <p:extLst>
      <p:ext uri="{BB962C8B-B14F-4D97-AF65-F5344CB8AC3E}">
        <p14:creationId xmlns:p14="http://schemas.microsoft.com/office/powerpoint/2010/main" val="3055695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653B5-FAFB-90F7-E0AA-D07B4132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A1E28B3A-EAD7-395D-8F9B-2C995ECD9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1678" y="382385"/>
            <a:ext cx="10178322" cy="733894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+mn-ea"/>
                <a:ea typeface="+mn-ea"/>
              </a:rPr>
              <a:t>轴</a:t>
            </a:r>
            <a:endParaRPr lang="en-US" altLang="zh-CN" sz="4000" dirty="0"/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48C54092-850E-3EB5-44DC-368821708D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7" y="1389893"/>
            <a:ext cx="8606697" cy="505582"/>
          </a:xfrm>
        </p:spPr>
        <p:txBody>
          <a:bodyPr>
            <a:normAutofit/>
          </a:bodyPr>
          <a:lstStyle/>
          <a:p>
            <a:r>
              <a:rPr lang="zh-CN" altLang="en-US" b="1" dirty="0"/>
              <a:t>默认 </a:t>
            </a:r>
            <a:r>
              <a:rPr lang="en-US" altLang="zh-CN" b="1" dirty="0"/>
              <a:t>3D </a:t>
            </a:r>
            <a:r>
              <a:rPr lang="zh-CN" altLang="en-US" b="1" dirty="0"/>
              <a:t>轴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3EA012-62B3-E8AF-CA68-96452702051F}"/>
              </a:ext>
            </a:extLst>
          </p:cNvPr>
          <p:cNvSpPr/>
          <p:nvPr/>
        </p:nvSpPr>
        <p:spPr>
          <a:xfrm>
            <a:off x="1542190" y="2012860"/>
            <a:ext cx="4468085" cy="40318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/>
              <a:t>let </a:t>
            </a:r>
            <a:r>
              <a:rPr lang="en-US" altLang="zh-CN" sz="1600" dirty="0" err="1"/>
              <a:t>extentX</a:t>
            </a:r>
            <a:r>
              <a:rPr lang="en-US" altLang="zh-CN" sz="1600" dirty="0"/>
              <a:t> = extent(map(iris, (d) =&gt; </a:t>
            </a:r>
          </a:p>
          <a:p>
            <a:r>
              <a:rPr lang="en-US" altLang="zh-CN" sz="1600" dirty="0"/>
              <a:t>{return </a:t>
            </a:r>
            <a:r>
              <a:rPr lang="en-US" altLang="zh-CN" sz="1600" dirty="0" err="1"/>
              <a:t>d.sepalLength</a:t>
            </a:r>
            <a:r>
              <a:rPr lang="en-US" altLang="zh-CN" sz="1600" dirty="0"/>
              <a:t>}));</a:t>
            </a:r>
          </a:p>
          <a:p>
            <a:r>
              <a:rPr lang="en-US" altLang="zh-CN" sz="1600" dirty="0"/>
              <a:t>let </a:t>
            </a:r>
            <a:r>
              <a:rPr lang="en-US" altLang="zh-CN" sz="1600" dirty="0" err="1"/>
              <a:t>extentY</a:t>
            </a:r>
            <a:r>
              <a:rPr lang="en-US" altLang="zh-CN" sz="1600" dirty="0"/>
              <a:t> = extent(map(iris, (d) =&gt; </a:t>
            </a:r>
          </a:p>
          <a:p>
            <a:r>
              <a:rPr lang="en-US" altLang="zh-CN" sz="1600" dirty="0"/>
              <a:t>{return </a:t>
            </a:r>
            <a:r>
              <a:rPr lang="en-US" altLang="zh-CN" sz="1600" dirty="0" err="1"/>
              <a:t>d.petalLength</a:t>
            </a:r>
            <a:r>
              <a:rPr lang="en-US" altLang="zh-CN" sz="1600" dirty="0"/>
              <a:t>}));</a:t>
            </a:r>
          </a:p>
          <a:p>
            <a:r>
              <a:rPr lang="en-US" altLang="zh-CN" sz="1600" dirty="0"/>
              <a:t>let </a:t>
            </a:r>
            <a:r>
              <a:rPr lang="en-US" altLang="zh-CN" sz="1600" dirty="0" err="1"/>
              <a:t>extentZ</a:t>
            </a:r>
            <a:r>
              <a:rPr lang="en-US" altLang="zh-CN" sz="1600" dirty="0"/>
              <a:t> = extent(map(iris, (d) =&gt; </a:t>
            </a:r>
          </a:p>
          <a:p>
            <a:r>
              <a:rPr lang="en-US" altLang="zh-CN" sz="1600" dirty="0"/>
              <a:t>{return </a:t>
            </a:r>
            <a:r>
              <a:rPr lang="en-US" altLang="zh-CN" sz="1600" dirty="0" err="1"/>
              <a:t>d.sepalWidth</a:t>
            </a:r>
            <a:r>
              <a:rPr lang="en-US" altLang="zh-CN" sz="1600" dirty="0"/>
              <a:t>}));</a:t>
            </a:r>
          </a:p>
          <a:p>
            <a:endParaRPr lang="en-US" altLang="zh-CN" sz="1600" dirty="0"/>
          </a:p>
          <a:p>
            <a:r>
              <a:rPr lang="en-US" altLang="zh-CN" sz="1600" dirty="0"/>
              <a:t>let </a:t>
            </a:r>
            <a:r>
              <a:rPr lang="en-US" altLang="zh-CN" sz="1600" dirty="0" err="1"/>
              <a:t>scaleX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scaleLinear</a:t>
            </a:r>
            <a:r>
              <a:rPr lang="en-US" altLang="zh-CN" sz="1600" dirty="0"/>
              <a:t>().domain(</a:t>
            </a:r>
            <a:r>
              <a:rPr lang="en-US" altLang="zh-CN" sz="1600" dirty="0" err="1"/>
              <a:t>extentX</a:t>
            </a:r>
            <a:r>
              <a:rPr lang="en-US" altLang="zh-CN" sz="1600" dirty="0"/>
              <a:t>).</a:t>
            </a:r>
          </a:p>
          <a:p>
            <a:r>
              <a:rPr lang="en-US" altLang="zh-CN" sz="1600" dirty="0"/>
              <a:t>range([-10,10]).nice(); </a:t>
            </a:r>
          </a:p>
          <a:p>
            <a:r>
              <a:rPr lang="en-US" altLang="zh-CN" sz="1600" dirty="0"/>
              <a:t>let </a:t>
            </a:r>
            <a:r>
              <a:rPr lang="en-US" altLang="zh-CN" sz="1600" dirty="0" err="1"/>
              <a:t>scaleY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scaleLinear</a:t>
            </a:r>
            <a:r>
              <a:rPr lang="en-US" altLang="zh-CN" sz="1600" dirty="0"/>
              <a:t>().domain(</a:t>
            </a:r>
            <a:r>
              <a:rPr lang="en-US" altLang="zh-CN" sz="1600" dirty="0" err="1"/>
              <a:t>extentY</a:t>
            </a:r>
            <a:r>
              <a:rPr lang="en-US" altLang="zh-CN" sz="1600" dirty="0"/>
              <a:t>).</a:t>
            </a:r>
          </a:p>
          <a:p>
            <a:r>
              <a:rPr lang="en-US" altLang="zh-CN" sz="1600" dirty="0"/>
              <a:t>range([-10,10]).nice(); </a:t>
            </a:r>
          </a:p>
          <a:p>
            <a:r>
              <a:rPr lang="en-US" altLang="zh-CN" sz="1600" dirty="0"/>
              <a:t>let </a:t>
            </a:r>
            <a:r>
              <a:rPr lang="en-US" altLang="zh-CN" sz="1600" dirty="0" err="1"/>
              <a:t>scaleZ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scaleLinear</a:t>
            </a:r>
            <a:r>
              <a:rPr lang="en-US" altLang="zh-CN" sz="1600" dirty="0"/>
              <a:t>().domain(</a:t>
            </a:r>
            <a:r>
              <a:rPr lang="en-US" altLang="zh-CN" sz="1600" dirty="0" err="1"/>
              <a:t>extentZ</a:t>
            </a:r>
            <a:r>
              <a:rPr lang="en-US" altLang="zh-CN" sz="1600" dirty="0"/>
              <a:t>).</a:t>
            </a:r>
          </a:p>
          <a:p>
            <a:r>
              <a:rPr lang="en-US" altLang="zh-CN" sz="1600" dirty="0"/>
              <a:t>range([-10,10]).nice(); </a:t>
            </a:r>
          </a:p>
          <a:p>
            <a:endParaRPr lang="en-US" altLang="zh-CN" sz="1600" dirty="0"/>
          </a:p>
          <a:p>
            <a:r>
              <a:rPr lang="en-US" altLang="zh-CN" sz="1600" dirty="0" err="1"/>
              <a:t>anu.createAxes</a:t>
            </a:r>
            <a:r>
              <a:rPr lang="en-US" altLang="zh-CN" sz="1600" dirty="0"/>
              <a:t>('</a:t>
            </a:r>
            <a:r>
              <a:rPr lang="en-US" altLang="zh-CN" sz="1600" dirty="0" err="1"/>
              <a:t>myAxes</a:t>
            </a:r>
            <a:r>
              <a:rPr lang="en-US" altLang="zh-CN" sz="1600" dirty="0"/>
              <a:t>', scene, </a:t>
            </a:r>
          </a:p>
          <a:p>
            <a:r>
              <a:rPr lang="en-US" altLang="zh-CN" sz="1600" dirty="0"/>
              <a:t>{scale: {x: </a:t>
            </a:r>
            <a:r>
              <a:rPr lang="en-US" altLang="zh-CN" sz="1600" dirty="0" err="1"/>
              <a:t>scaleX</a:t>
            </a:r>
            <a:r>
              <a:rPr lang="en-US" altLang="zh-CN" sz="1600" dirty="0"/>
              <a:t>, y: </a:t>
            </a:r>
            <a:r>
              <a:rPr lang="en-US" altLang="zh-CN" sz="1600" dirty="0" err="1"/>
              <a:t>scaleY</a:t>
            </a:r>
            <a:r>
              <a:rPr lang="en-US" altLang="zh-CN" sz="1600" dirty="0"/>
              <a:t>, z: </a:t>
            </a:r>
            <a:r>
              <a:rPr lang="en-US" altLang="zh-CN" sz="1600" dirty="0" err="1"/>
              <a:t>scaleZ</a:t>
            </a:r>
            <a:r>
              <a:rPr lang="en-US" altLang="zh-CN" sz="1600" dirty="0"/>
              <a:t>}});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6C6305-296D-8E88-A4CD-623A5B7B9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175" y="1895475"/>
            <a:ext cx="4695825" cy="414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09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EEC01-FE75-3D16-809B-10CCA21E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A419F907-6159-7575-DDEA-2C861804BA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1678" y="382385"/>
            <a:ext cx="10178322" cy="733894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+mn-ea"/>
                <a:ea typeface="+mn-ea"/>
              </a:rPr>
              <a:t>轴</a:t>
            </a:r>
            <a:endParaRPr lang="en-US" altLang="zh-CN" sz="4000" dirty="0"/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EE821B89-80BB-26CE-A22A-AB5A3CBFA5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7" y="1389893"/>
            <a:ext cx="8606697" cy="505582"/>
          </a:xfrm>
        </p:spPr>
        <p:txBody>
          <a:bodyPr>
            <a:normAutofit/>
          </a:bodyPr>
          <a:lstStyle/>
          <a:p>
            <a:r>
              <a:rPr lang="zh-CN" altLang="en-US" b="1" dirty="0"/>
              <a:t>使用 </a:t>
            </a:r>
            <a:r>
              <a:rPr lang="en-US" altLang="zh-CN" b="1" dirty="0" err="1"/>
              <a:t>AxisConfig</a:t>
            </a:r>
            <a:endParaRPr lang="en-US" altLang="zh-CN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FD177C-20FC-A6E2-993D-23AFA33E388E}"/>
              </a:ext>
            </a:extLst>
          </p:cNvPr>
          <p:cNvSpPr/>
          <p:nvPr/>
        </p:nvSpPr>
        <p:spPr>
          <a:xfrm>
            <a:off x="1542190" y="2012860"/>
            <a:ext cx="4468085" cy="40318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/>
              <a:t>//Create a transform node to use as the parent node for all our meshes</a:t>
            </a:r>
          </a:p>
          <a:p>
            <a:r>
              <a:rPr lang="en-US" altLang="zh-CN" sz="1600" dirty="0"/>
              <a:t>let </a:t>
            </a:r>
            <a:r>
              <a:rPr lang="en-US" altLang="zh-CN" sz="1600" dirty="0" err="1"/>
              <a:t>CoT</a:t>
            </a:r>
            <a:r>
              <a:rPr lang="en-US" altLang="zh-CN" sz="1600" dirty="0"/>
              <a:t> = new </a:t>
            </a:r>
            <a:r>
              <a:rPr lang="en-US" altLang="zh-CN" sz="1600" dirty="0" err="1"/>
              <a:t>TransformNode</a:t>
            </a:r>
            <a:r>
              <a:rPr lang="en-US" altLang="zh-CN" sz="1600" dirty="0"/>
              <a:t>('cot')</a:t>
            </a:r>
          </a:p>
          <a:p>
            <a:endParaRPr lang="en-US" altLang="zh-CN" sz="1600" dirty="0"/>
          </a:p>
          <a:p>
            <a:r>
              <a:rPr lang="en-US" altLang="zh-CN" sz="1600" dirty="0"/>
              <a:t>//Select our center or transform with Anu to give us a selection obj </a:t>
            </a:r>
            <a:r>
              <a:rPr lang="en-US" altLang="zh-CN" sz="1600" dirty="0" err="1"/>
              <a:t>CoT</a:t>
            </a:r>
            <a:r>
              <a:rPr lang="en-US" altLang="zh-CN" sz="1600" dirty="0"/>
              <a:t>.</a:t>
            </a:r>
          </a:p>
          <a:p>
            <a:r>
              <a:rPr lang="en-US" altLang="zh-CN" sz="1600" dirty="0"/>
              <a:t>let chart = </a:t>
            </a:r>
            <a:r>
              <a:rPr lang="en-US" altLang="zh-CN" sz="1600" dirty="0" err="1"/>
              <a:t>anu.selectName</a:t>
            </a:r>
            <a:r>
              <a:rPr lang="en-US" altLang="zh-CN" sz="1600" dirty="0"/>
              <a:t>('cot', scene);</a:t>
            </a:r>
          </a:p>
          <a:p>
            <a:endParaRPr lang="en-US" altLang="zh-CN" sz="1600" dirty="0"/>
          </a:p>
          <a:p>
            <a:r>
              <a:rPr lang="en-US" altLang="zh-CN" sz="1600" dirty="0"/>
              <a:t>let </a:t>
            </a:r>
            <a:r>
              <a:rPr lang="en-US" altLang="zh-CN" sz="1600" dirty="0" err="1"/>
              <a:t>axesOptions</a:t>
            </a:r>
            <a:r>
              <a:rPr lang="en-US" altLang="zh-CN" sz="1600" dirty="0"/>
              <a:t> = new </a:t>
            </a:r>
            <a:r>
              <a:rPr lang="en-US" altLang="zh-CN" sz="1600" dirty="0" err="1"/>
              <a:t>anu.AxesConfig</a:t>
            </a:r>
            <a:r>
              <a:rPr lang="en-US" altLang="zh-CN" sz="1600" dirty="0"/>
              <a:t>({x: </a:t>
            </a:r>
            <a:r>
              <a:rPr lang="en-US" altLang="zh-CN" sz="1600" dirty="0" err="1"/>
              <a:t>scaleX</a:t>
            </a:r>
            <a:r>
              <a:rPr lang="en-US" altLang="zh-CN" sz="1600" dirty="0"/>
              <a:t>, y: </a:t>
            </a:r>
            <a:r>
              <a:rPr lang="en-US" altLang="zh-CN" sz="1600" dirty="0" err="1"/>
              <a:t>scaleY</a:t>
            </a:r>
            <a:r>
              <a:rPr lang="en-US" altLang="zh-CN" sz="1600" dirty="0"/>
              <a:t>, z: </a:t>
            </a:r>
            <a:r>
              <a:rPr lang="en-US" altLang="zh-CN" sz="1600" dirty="0" err="1"/>
              <a:t>scaleZ</a:t>
            </a:r>
            <a:r>
              <a:rPr lang="en-US" altLang="zh-CN" sz="1600" dirty="0"/>
              <a:t>})</a:t>
            </a:r>
          </a:p>
          <a:p>
            <a:r>
              <a:rPr lang="en-US" altLang="zh-CN" sz="1600" dirty="0" err="1"/>
              <a:t>axesOptions.parent</a:t>
            </a:r>
            <a:r>
              <a:rPr lang="en-US" altLang="zh-CN" sz="1600" dirty="0"/>
              <a:t> = chart;</a:t>
            </a:r>
          </a:p>
          <a:p>
            <a:r>
              <a:rPr lang="en-US" altLang="zh-CN" sz="1600" dirty="0" err="1"/>
              <a:t>axesOptions.grid</a:t>
            </a:r>
            <a:r>
              <a:rPr lang="en-US" altLang="zh-CN" sz="1600" dirty="0"/>
              <a:t> = false;</a:t>
            </a:r>
          </a:p>
          <a:p>
            <a:r>
              <a:rPr lang="en-US" altLang="zh-CN" sz="1600" dirty="0" err="1"/>
              <a:t>axesOptions.backgroundProperties</a:t>
            </a:r>
            <a:r>
              <a:rPr lang="en-US" altLang="zh-CN" sz="1600" dirty="0"/>
              <a:t> = {"</a:t>
            </a:r>
            <a:r>
              <a:rPr lang="en-US" altLang="zh-CN" sz="1600" dirty="0" err="1"/>
              <a:t>material.diffuseColor</a:t>
            </a:r>
            <a:r>
              <a:rPr lang="en-US" altLang="zh-CN" sz="1600" dirty="0"/>
              <a:t>": Color3.Random()}</a:t>
            </a:r>
          </a:p>
          <a:p>
            <a:endParaRPr lang="en-US" altLang="zh-CN" sz="1600" dirty="0"/>
          </a:p>
          <a:p>
            <a:r>
              <a:rPr lang="en-US" altLang="zh-CN" sz="1600" dirty="0"/>
              <a:t>let axes = </a:t>
            </a:r>
            <a:r>
              <a:rPr lang="en-US" altLang="zh-CN" sz="1600" dirty="0" err="1"/>
              <a:t>anu.createAxes</a:t>
            </a:r>
            <a:r>
              <a:rPr lang="en-US" altLang="zh-CN" sz="1600" dirty="0"/>
              <a:t>('</a:t>
            </a:r>
            <a:r>
              <a:rPr lang="en-US" altLang="zh-CN" sz="1600" dirty="0" err="1"/>
              <a:t>myAxes</a:t>
            </a:r>
            <a:r>
              <a:rPr lang="en-US" altLang="zh-CN" sz="1600" dirty="0"/>
              <a:t>', </a:t>
            </a:r>
            <a:r>
              <a:rPr lang="en-US" altLang="zh-CN" sz="1600" dirty="0" err="1"/>
              <a:t>axesOptions</a:t>
            </a:r>
            <a:r>
              <a:rPr lang="en-US" altLang="zh-CN" sz="1600" dirty="0"/>
              <a:t>);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8E543AB-5FC2-925E-E996-461680657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869" y="1895475"/>
            <a:ext cx="4655131" cy="403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99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DA0E4-954D-F118-3CA0-A6D97D9DF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2B42FDC4-0682-30BF-0C9D-FC82576937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1678" y="382385"/>
            <a:ext cx="10178322" cy="733894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+mn-ea"/>
                <a:ea typeface="+mn-ea"/>
              </a:rPr>
              <a:t>轴</a:t>
            </a:r>
            <a:endParaRPr lang="en-US" altLang="zh-CN" sz="4000" dirty="0"/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DF165B7D-A7AB-EB12-BD3F-D08FC88BD9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7" y="1389893"/>
            <a:ext cx="8606697" cy="505582"/>
          </a:xfrm>
        </p:spPr>
        <p:txBody>
          <a:bodyPr>
            <a:normAutofit/>
          </a:bodyPr>
          <a:lstStyle/>
          <a:p>
            <a:r>
              <a:rPr lang="zh-CN" altLang="en-US" b="1" dirty="0"/>
              <a:t>更新轴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26CCEC-A218-14C3-0EA2-5FAE1BE00455}"/>
              </a:ext>
            </a:extLst>
          </p:cNvPr>
          <p:cNvSpPr/>
          <p:nvPr/>
        </p:nvSpPr>
        <p:spPr>
          <a:xfrm>
            <a:off x="1542190" y="2012860"/>
            <a:ext cx="4468085" cy="40318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/>
              <a:t> let </a:t>
            </a:r>
            <a:r>
              <a:rPr lang="en-US" altLang="zh-CN" sz="1600" dirty="0" err="1"/>
              <a:t>axesOptions</a:t>
            </a:r>
            <a:r>
              <a:rPr lang="en-US" altLang="zh-CN" sz="1600" dirty="0"/>
              <a:t> = new </a:t>
            </a:r>
            <a:r>
              <a:rPr lang="en-US" altLang="zh-CN" sz="1600" dirty="0" err="1"/>
              <a:t>anu.AxesConfig</a:t>
            </a:r>
            <a:r>
              <a:rPr lang="en-US" altLang="zh-CN" sz="1600" dirty="0"/>
              <a:t>({x: </a:t>
            </a:r>
            <a:r>
              <a:rPr lang="en-US" altLang="zh-CN" sz="1600" dirty="0" err="1"/>
              <a:t>scaleX</a:t>
            </a:r>
            <a:r>
              <a:rPr lang="en-US" altLang="zh-CN" sz="1600" dirty="0"/>
              <a:t>, y: </a:t>
            </a:r>
            <a:r>
              <a:rPr lang="en-US" altLang="zh-CN" sz="1600" dirty="0" err="1"/>
              <a:t>scaleY</a:t>
            </a:r>
            <a:r>
              <a:rPr lang="en-US" altLang="zh-CN" sz="1600" dirty="0"/>
              <a:t>, z: </a:t>
            </a:r>
            <a:r>
              <a:rPr lang="en-US" altLang="zh-CN" sz="1600" dirty="0" err="1"/>
              <a:t>scaleZ</a:t>
            </a:r>
            <a:r>
              <a:rPr lang="en-US" altLang="zh-CN" sz="1600" dirty="0"/>
              <a:t>})</a:t>
            </a:r>
          </a:p>
          <a:p>
            <a:r>
              <a:rPr lang="en-US" altLang="zh-CN" sz="1600" dirty="0"/>
              <a:t>  let axes = </a:t>
            </a:r>
            <a:r>
              <a:rPr lang="en-US" altLang="zh-CN" sz="1600" dirty="0" err="1"/>
              <a:t>anu.createAxes</a:t>
            </a:r>
            <a:r>
              <a:rPr lang="en-US" altLang="zh-CN" sz="1600" dirty="0"/>
              <a:t>('</a:t>
            </a:r>
            <a:r>
              <a:rPr lang="en-US" altLang="zh-CN" sz="1600" dirty="0" err="1"/>
              <a:t>myAxes</a:t>
            </a:r>
            <a:r>
              <a:rPr lang="en-US" altLang="zh-CN" sz="1600" dirty="0"/>
              <a:t>', </a:t>
            </a:r>
            <a:r>
              <a:rPr lang="en-US" altLang="zh-CN" sz="1600" dirty="0" err="1"/>
              <a:t>axesOptions</a:t>
            </a:r>
            <a:r>
              <a:rPr lang="en-US" altLang="zh-CN" sz="1600" dirty="0"/>
              <a:t>);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var scaleX2 = </a:t>
            </a:r>
            <a:r>
              <a:rPr lang="en-US" altLang="zh-CN" sz="1600" dirty="0" err="1"/>
              <a:t>scaleLinear</a:t>
            </a:r>
            <a:r>
              <a:rPr lang="en-US" altLang="zh-CN" sz="1600" dirty="0"/>
              <a:t>().domain([4,10]).range([-10,10]).nice(); 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scene.onPointerDown</a:t>
            </a:r>
            <a:r>
              <a:rPr lang="en-US" altLang="zh-CN" sz="1600" dirty="0"/>
              <a:t> = (pointer) =&gt; {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axesOptions.scale.x</a:t>
            </a:r>
            <a:r>
              <a:rPr lang="en-US" altLang="zh-CN" sz="1600" dirty="0"/>
              <a:t> = scaleX2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axes.updateAxes</a:t>
            </a:r>
            <a:r>
              <a:rPr lang="en-US" altLang="zh-CN" sz="1600" dirty="0"/>
              <a:t>(</a:t>
            </a:r>
            <a:r>
              <a:rPr lang="en-US" altLang="zh-CN" sz="1600" dirty="0" err="1"/>
              <a:t>axesOptions</a:t>
            </a:r>
            <a:r>
              <a:rPr lang="en-US" altLang="zh-CN" sz="1600" dirty="0"/>
              <a:t>);</a:t>
            </a:r>
          </a:p>
          <a:p>
            <a:r>
              <a:rPr lang="en-US" altLang="zh-CN" sz="1600" dirty="0"/>
              <a:t>  }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scene.onPointerUp</a:t>
            </a:r>
            <a:r>
              <a:rPr lang="en-US" altLang="zh-CN" sz="1600" dirty="0"/>
              <a:t> = (pointer) =&gt; {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axesOptions.scale.x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scaleX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axes.updateAxes</a:t>
            </a:r>
            <a:r>
              <a:rPr lang="en-US" altLang="zh-CN" sz="1600" dirty="0"/>
              <a:t>(</a:t>
            </a:r>
            <a:r>
              <a:rPr lang="en-US" altLang="zh-CN" sz="1600" dirty="0" err="1"/>
              <a:t>axesOptions</a:t>
            </a:r>
            <a:r>
              <a:rPr lang="en-US" altLang="zh-CN" sz="1600" dirty="0"/>
              <a:t>, {duration: 300})</a:t>
            </a:r>
          </a:p>
          <a:p>
            <a:r>
              <a:rPr lang="en-US" altLang="zh-CN" sz="1600" dirty="0"/>
              <a:t>  }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A75ECB-24A7-9E71-4E27-D657909A8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313" y="2012860"/>
            <a:ext cx="4599539" cy="393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531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FB91F-D1FF-E69F-3C60-4A787A721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BA982283-8F80-F20C-76A8-88E095D86F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1678" y="382385"/>
            <a:ext cx="10178322" cy="733894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+mn-ea"/>
                <a:ea typeface="+mn-ea"/>
              </a:rPr>
              <a:t>色标</a:t>
            </a:r>
            <a:endParaRPr lang="en-US" altLang="zh-CN" sz="4000" dirty="0"/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0D666ED5-681B-C8C5-AED3-77A0CE1CDD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7" y="1389893"/>
            <a:ext cx="9902098" cy="1617492"/>
          </a:xfrm>
        </p:spPr>
        <p:txBody>
          <a:bodyPr>
            <a:normAutofit/>
          </a:bodyPr>
          <a:lstStyle/>
          <a:p>
            <a:r>
              <a:rPr lang="zh-CN" altLang="en-US" dirty="0"/>
              <a:t>色标预制件提供了生成色标的实用工具，可返回十六进制、</a:t>
            </a:r>
            <a:r>
              <a:rPr lang="en-US" altLang="zh-CN" dirty="0"/>
              <a:t>Color3 </a:t>
            </a:r>
            <a:r>
              <a:rPr lang="zh-CN" altLang="en-US" dirty="0"/>
              <a:t>或材质等多种格式。它既可单独使用，也可与 </a:t>
            </a:r>
            <a:r>
              <a:rPr lang="en-US" altLang="zh-CN" dirty="0"/>
              <a:t>d3-scale </a:t>
            </a:r>
            <a:r>
              <a:rPr lang="zh-CN" altLang="en-US" dirty="0"/>
              <a:t>配合，实现数据驱动的颜色映射。（了解）</a:t>
            </a:r>
            <a:endParaRPr lang="en-US" altLang="zh-CN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27E5D6-77E5-90B7-62E1-FC202F9EE5E8}"/>
              </a:ext>
            </a:extLst>
          </p:cNvPr>
          <p:cNvSpPr/>
          <p:nvPr/>
        </p:nvSpPr>
        <p:spPr>
          <a:xfrm>
            <a:off x="5804627" y="2803265"/>
            <a:ext cx="5692048" cy="26776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/>
              <a:t>//Creating some "data" as a simple object list of numbers 0-n</a:t>
            </a:r>
          </a:p>
          <a:p>
            <a:r>
              <a:rPr lang="en-US" altLang="zh-CN" sz="1400" dirty="0"/>
              <a:t>let data = [...Array(10).keys()].map((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) =&gt; { return {"data":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}})</a:t>
            </a:r>
          </a:p>
          <a:p>
            <a:endParaRPr lang="en-US" altLang="zh-CN" sz="1400" dirty="0"/>
          </a:p>
          <a:p>
            <a:r>
              <a:rPr lang="en-US" altLang="zh-CN" sz="1400" dirty="0"/>
              <a:t>//Create our color scale function</a:t>
            </a:r>
          </a:p>
          <a:p>
            <a:r>
              <a:rPr lang="en-US" altLang="zh-CN" sz="1400" dirty="0"/>
              <a:t>let color = d3.scaleOrdinal(</a:t>
            </a:r>
            <a:r>
              <a:rPr lang="en-US" altLang="zh-CN" sz="1400" dirty="0" err="1"/>
              <a:t>anu.ordinalChromatic</a:t>
            </a:r>
            <a:r>
              <a:rPr lang="en-US" altLang="zh-CN" sz="1400" dirty="0"/>
              <a:t>('d310').toColor3())</a:t>
            </a:r>
          </a:p>
          <a:p>
            <a:endParaRPr lang="en-US" altLang="zh-CN" sz="1400" dirty="0"/>
          </a:p>
          <a:p>
            <a:r>
              <a:rPr lang="en-US" altLang="zh-CN" sz="1400" dirty="0"/>
              <a:t>//Create spheres and bind our data to them, </a:t>
            </a:r>
          </a:p>
          <a:p>
            <a:r>
              <a:rPr lang="en-US" altLang="zh-CN" sz="1400" dirty="0"/>
              <a:t>//move spheres into position and apply our color or material</a:t>
            </a:r>
          </a:p>
          <a:p>
            <a:r>
              <a:rPr lang="en-US" altLang="zh-CN" sz="1400" dirty="0"/>
              <a:t>let spheres = </a:t>
            </a:r>
            <a:r>
              <a:rPr lang="en-US" altLang="zh-CN" sz="1400" dirty="0" err="1"/>
              <a:t>anu.bind</a:t>
            </a:r>
            <a:r>
              <a:rPr lang="en-US" altLang="zh-CN" sz="1400" dirty="0"/>
              <a:t>('sphere', {}, data)</a:t>
            </a:r>
          </a:p>
          <a:p>
            <a:r>
              <a:rPr lang="en-US" altLang="zh-CN" sz="1400" dirty="0"/>
              <a:t>       .</a:t>
            </a:r>
            <a:r>
              <a:rPr lang="en-US" altLang="zh-CN" sz="1400" dirty="0" err="1"/>
              <a:t>positionX</a:t>
            </a:r>
            <a:r>
              <a:rPr lang="en-US" altLang="zh-CN" sz="1400" dirty="0"/>
              <a:t>((d) =&gt; </a:t>
            </a:r>
            <a:r>
              <a:rPr lang="en-US" altLang="zh-CN" sz="1400" dirty="0" err="1"/>
              <a:t>d.data</a:t>
            </a:r>
            <a:r>
              <a:rPr lang="en-US" altLang="zh-CN" sz="1400" dirty="0"/>
              <a:t>)</a:t>
            </a:r>
          </a:p>
          <a:p>
            <a:r>
              <a:rPr lang="en-US" altLang="zh-CN" sz="1400" dirty="0"/>
              <a:t>       .material(() =&gt; new </a:t>
            </a:r>
            <a:r>
              <a:rPr lang="en-US" altLang="zh-CN" sz="1400" dirty="0" err="1"/>
              <a:t>BABYLON.StandardMaterial</a:t>
            </a:r>
            <a:r>
              <a:rPr lang="en-US" altLang="zh-CN" sz="1400" dirty="0"/>
              <a:t>("mat"))</a:t>
            </a:r>
          </a:p>
          <a:p>
            <a:r>
              <a:rPr lang="en-US" altLang="zh-CN" sz="1400" dirty="0"/>
              <a:t>       .</a:t>
            </a:r>
            <a:r>
              <a:rPr lang="en-US" altLang="zh-CN" sz="1400" dirty="0" err="1"/>
              <a:t>diffuseColor</a:t>
            </a:r>
            <a:r>
              <a:rPr lang="en-US" altLang="zh-CN" sz="1400" dirty="0"/>
              <a:t>((d) =&gt; color(</a:t>
            </a:r>
            <a:r>
              <a:rPr lang="en-US" altLang="zh-CN" sz="1400" dirty="0" err="1"/>
              <a:t>d.data</a:t>
            </a:r>
            <a:r>
              <a:rPr lang="en-US" altLang="zh-CN" sz="1400" dirty="0"/>
              <a:t>))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D55DFF-0151-7494-DD49-FFA162BB2520}"/>
              </a:ext>
            </a:extLst>
          </p:cNvPr>
          <p:cNvSpPr/>
          <p:nvPr/>
        </p:nvSpPr>
        <p:spPr>
          <a:xfrm>
            <a:off x="1499328" y="2803265"/>
            <a:ext cx="3310798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/>
              <a:t>//Returns list of color from scheme name or list of color hex codes</a:t>
            </a:r>
          </a:p>
          <a:p>
            <a:r>
              <a:rPr lang="en-US" altLang="zh-CN" sz="1400" dirty="0" err="1"/>
              <a:t>anu.ordinalChromatic</a:t>
            </a:r>
            <a:r>
              <a:rPr lang="en-US" altLang="zh-CN" sz="1400" dirty="0"/>
              <a:t>(string | string[]).toColor3()</a:t>
            </a:r>
          </a:p>
          <a:p>
            <a:endParaRPr lang="en-US" altLang="zh-CN" sz="1400" dirty="0"/>
          </a:p>
          <a:p>
            <a:r>
              <a:rPr lang="en-US" altLang="zh-CN" sz="1400" dirty="0"/>
              <a:t>//Returns function that accepts int 0-1 and returns corresponding color</a:t>
            </a:r>
          </a:p>
          <a:p>
            <a:r>
              <a:rPr lang="en-US" altLang="zh-CN" sz="1400" dirty="0" err="1"/>
              <a:t>anu.sequentialChromatic</a:t>
            </a:r>
            <a:r>
              <a:rPr lang="en-US" altLang="zh-CN" sz="1400" dirty="0"/>
              <a:t>(string | string[]).toColor3()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627B317-36CF-B6A0-E82A-5697C7DBB9F3}"/>
              </a:ext>
            </a:extLst>
          </p:cNvPr>
          <p:cNvSpPr txBox="1">
            <a:spLocks noChangeArrowheads="1"/>
          </p:cNvSpPr>
          <p:nvPr/>
        </p:nvSpPr>
        <p:spPr>
          <a:xfrm>
            <a:off x="1499327" y="2298440"/>
            <a:ext cx="1186722" cy="50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用法</a:t>
            </a:r>
            <a:endParaRPr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8ABECB55-08E2-76A4-0A00-F3683B5407A7}"/>
              </a:ext>
            </a:extLst>
          </p:cNvPr>
          <p:cNvSpPr txBox="1">
            <a:spLocks noChangeArrowheads="1"/>
          </p:cNvSpPr>
          <p:nvPr/>
        </p:nvSpPr>
        <p:spPr>
          <a:xfrm>
            <a:off x="5804626" y="2298440"/>
            <a:ext cx="2272574" cy="50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例子（左下图）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724C74F-24D9-18C1-0752-EE2F7C703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977" y="5120652"/>
            <a:ext cx="2857500" cy="136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63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DAB1B-5CF9-3D14-4B3F-790F9F8D4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A318F603-9FF2-AD94-44A6-672F01EFE8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1678" y="382385"/>
            <a:ext cx="10178322" cy="733894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+mn-ea"/>
                <a:ea typeface="+mn-ea"/>
              </a:rPr>
              <a:t>变换控件</a:t>
            </a:r>
            <a:r>
              <a:rPr lang="en-US" altLang="zh-CN" sz="4000" dirty="0">
                <a:latin typeface="+mn-ea"/>
                <a:ea typeface="+mn-ea"/>
              </a:rPr>
              <a:t>UI</a:t>
            </a:r>
            <a:endParaRPr lang="en-US" altLang="zh-CN" sz="4000" dirty="0"/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38F6D64B-EE35-B338-17F3-42AEBD0473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7" y="1389893"/>
            <a:ext cx="8606697" cy="1617492"/>
          </a:xfrm>
        </p:spPr>
        <p:txBody>
          <a:bodyPr>
            <a:normAutofit/>
          </a:bodyPr>
          <a:lstStyle/>
          <a:p>
            <a:r>
              <a:rPr lang="zh-CN" altLang="en-US" b="1" dirty="0"/>
              <a:t>概述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dirty="0"/>
              <a:t>Transform Widget UI </a:t>
            </a:r>
            <a:r>
              <a:rPr lang="zh-CN" altLang="en-US" dirty="0"/>
              <a:t>预制件可快速为选中元素添加 </a:t>
            </a:r>
            <a:r>
              <a:rPr lang="en-US" altLang="zh-CN" dirty="0"/>
              <a:t>3D </a:t>
            </a:r>
            <a:r>
              <a:rPr lang="zh-CN" altLang="en-US" dirty="0"/>
              <a:t>控件，实现位置、旋转和缩放操作。它基于指针事件，支持多平台和单手操作，控件可通过方法选项或创建后自定义</a:t>
            </a:r>
            <a:endParaRPr lang="en-US" altLang="zh-CN" b="1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E73AB50-B8FA-5228-1890-8170CED5F451}"/>
              </a:ext>
            </a:extLst>
          </p:cNvPr>
          <p:cNvSpPr txBox="1">
            <a:spLocks noChangeArrowheads="1"/>
          </p:cNvSpPr>
          <p:nvPr/>
        </p:nvSpPr>
        <p:spPr>
          <a:xfrm>
            <a:off x="1375502" y="3173482"/>
            <a:ext cx="9101997" cy="607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用法</a:t>
            </a:r>
            <a:endParaRPr lang="en-US" altLang="zh-CN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6D69E6-D9F8-D3C6-8D70-365ED64E1462}"/>
              </a:ext>
            </a:extLst>
          </p:cNvPr>
          <p:cNvSpPr txBox="1"/>
          <p:nvPr/>
        </p:nvSpPr>
        <p:spPr>
          <a:xfrm>
            <a:off x="1543049" y="3947522"/>
            <a:ext cx="87915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let root = anu.bind("cot") //Returns a selection of the single root transform node</a:t>
            </a:r>
          </a:p>
          <a:p>
            <a:endParaRPr lang="zh-CN" altLang="en-US" dirty="0"/>
          </a:p>
          <a:p>
            <a:r>
              <a:rPr lang="zh-CN" altLang="en-US" dirty="0"/>
              <a:t>root.positionUI(options?: {})</a:t>
            </a:r>
          </a:p>
          <a:p>
            <a:r>
              <a:rPr lang="zh-CN" altLang="en-US" dirty="0"/>
              <a:t>    .rotateUI(options?: {})</a:t>
            </a:r>
          </a:p>
          <a:p>
            <a:r>
              <a:rPr lang="zh-CN" altLang="en-US" dirty="0"/>
              <a:t>    .scaleUI(options?: {})</a:t>
            </a:r>
          </a:p>
        </p:txBody>
      </p:sp>
    </p:spTree>
    <p:extLst>
      <p:ext uri="{BB962C8B-B14F-4D97-AF65-F5344CB8AC3E}">
        <p14:creationId xmlns:p14="http://schemas.microsoft.com/office/powerpoint/2010/main" val="1245854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9FDCF-1DCE-405C-38A7-FFA0292DE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1E8E8303-2B82-89DF-BBB0-2DE21A57AD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Times New Roman Regular" panose="02020603050405020304" charset="0"/>
              </a:rPr>
              <a:t>变换控件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A876CC3-45A5-2087-F4BC-6559693938F8}"/>
              </a:ext>
            </a:extLst>
          </p:cNvPr>
          <p:cNvSpPr txBox="1">
            <a:spLocks noChangeArrowheads="1"/>
          </p:cNvSpPr>
          <p:nvPr/>
        </p:nvSpPr>
        <p:spPr>
          <a:xfrm>
            <a:off x="1251678" y="1164644"/>
            <a:ext cx="4979305" cy="709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Position Widget UI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3ECEF4A-FA2A-2266-2238-6823C5BE3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312804"/>
              </p:ext>
            </p:extLst>
          </p:nvPr>
        </p:nvGraphicFramePr>
        <p:xfrm>
          <a:off x="1427991" y="1874517"/>
          <a:ext cx="9512331" cy="4283540"/>
        </p:xfrm>
        <a:graphic>
          <a:graphicData uri="http://schemas.openxmlformats.org/drawingml/2006/table">
            <a:tbl>
              <a:tblPr/>
              <a:tblGrid>
                <a:gridCol w="1915336">
                  <a:extLst>
                    <a:ext uri="{9D8B030D-6E8A-4147-A177-3AD203B41FA5}">
                      <a16:colId xmlns:a16="http://schemas.microsoft.com/office/drawing/2014/main" val="2322601027"/>
                    </a:ext>
                  </a:extLst>
                </a:gridCol>
                <a:gridCol w="4076648">
                  <a:extLst>
                    <a:ext uri="{9D8B030D-6E8A-4147-A177-3AD203B41FA5}">
                      <a16:colId xmlns:a16="http://schemas.microsoft.com/office/drawing/2014/main" val="3163449009"/>
                    </a:ext>
                  </a:extLst>
                </a:gridCol>
                <a:gridCol w="3520347">
                  <a:extLst>
                    <a:ext uri="{9D8B030D-6E8A-4147-A177-3AD203B41FA5}">
                      <a16:colId xmlns:a16="http://schemas.microsoft.com/office/drawing/2014/main" val="2763032261"/>
                    </a:ext>
                  </a:extLst>
                </a:gridCol>
              </a:tblGrid>
              <a:tr h="255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属性</a:t>
                      </a:r>
                    </a:p>
                  </a:txBody>
                  <a:tcPr marL="57969" marR="57969" marT="28985" marB="2898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说明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默认值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308736313"/>
                  </a:ext>
                </a:extLst>
              </a:tr>
              <a:tr h="446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name</a:t>
                      </a:r>
                    </a:p>
                  </a:txBody>
                  <a:tcPr marL="57969" marR="57969" marT="28985" marB="2898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UI </a:t>
                      </a:r>
                      <a:r>
                        <a:rPr lang="zh-CN" altLang="en-US" sz="1600"/>
                        <a:t>和 </a:t>
                      </a:r>
                      <a:r>
                        <a:rPr lang="en-US" altLang="zh-CN" sz="1600"/>
                        <a:t>UI </a:t>
                      </a:r>
                      <a:r>
                        <a:rPr lang="zh-CN" altLang="en-US" sz="1600"/>
                        <a:t>父节点的名称前缀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node.name + "PositionUI"</a:t>
                      </a:r>
                      <a:endParaRPr lang="en-US" sz="1600"/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249275896"/>
                  </a:ext>
                </a:extLst>
              </a:tr>
              <a:tr h="255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width</a:t>
                      </a:r>
                    </a:p>
                  </a:txBody>
                  <a:tcPr marL="57969" marR="57969" marT="28985" marB="2898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胶囊体网格的宽度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父节点包围盒宽度的一半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333779874"/>
                  </a:ext>
                </a:extLst>
              </a:tr>
              <a:tr h="255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radius</a:t>
                      </a:r>
                    </a:p>
                  </a:txBody>
                  <a:tcPr marL="57969" marR="57969" marT="28985" marB="2898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胶囊体网格的半径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宽度的 </a:t>
                      </a:r>
                      <a:r>
                        <a:rPr lang="en-US" altLang="zh-CN" sz="1600"/>
                        <a:t>5%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504423866"/>
                  </a:ext>
                </a:extLst>
              </a:tr>
              <a:tr h="446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position</a:t>
                      </a:r>
                    </a:p>
                  </a:txBody>
                  <a:tcPr marL="57969" marR="57969" marT="28985" marB="2898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胶囊体网格的起始位置（</a:t>
                      </a:r>
                      <a:r>
                        <a:rPr lang="en-US" sz="1600" dirty="0"/>
                        <a:t>Vector3）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父节点包围盒底部前方位置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72259131"/>
                  </a:ext>
                </a:extLst>
              </a:tr>
              <a:tr h="255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offset</a:t>
                      </a:r>
                    </a:p>
                  </a:txBody>
                  <a:tcPr marL="57969" marR="57969" marT="28985" marB="2898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起始位置的偏移量（</a:t>
                      </a:r>
                      <a:r>
                        <a:rPr lang="en-US" sz="1600"/>
                        <a:t>Vector3）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半径的 </a:t>
                      </a:r>
                      <a:r>
                        <a:rPr lang="en-US" altLang="zh-CN" sz="1600"/>
                        <a:t>2.5 </a:t>
                      </a:r>
                      <a:r>
                        <a:rPr lang="zh-CN" altLang="en-US" sz="1600"/>
                        <a:t>倍，沿 </a:t>
                      </a:r>
                      <a:r>
                        <a:rPr lang="en-US" altLang="zh-CN" sz="1600"/>
                        <a:t>-</a:t>
                      </a:r>
                      <a:r>
                        <a:rPr lang="en-US" sz="1600"/>
                        <a:t>Y </a:t>
                      </a:r>
                      <a:r>
                        <a:rPr lang="zh-CN" altLang="en-US" sz="1600"/>
                        <a:t>轴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19013178"/>
                  </a:ext>
                </a:extLst>
              </a:tr>
              <a:tr h="255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material</a:t>
                      </a:r>
                    </a:p>
                  </a:txBody>
                  <a:tcPr marL="57969" marR="57969" marT="28985" marB="2898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胶囊体网格的材质（</a:t>
                      </a:r>
                      <a:r>
                        <a:rPr lang="en-US" sz="1600"/>
                        <a:t>Material）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StandardMaterial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038738976"/>
                  </a:ext>
                </a:extLst>
              </a:tr>
              <a:tr h="638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diffuseColor</a:t>
                      </a:r>
                    </a:p>
                  </a:txBody>
                  <a:tcPr marL="57969" marR="57969" marT="28985" marB="2898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材质的漫反射颜色（</a:t>
                      </a:r>
                      <a:r>
                        <a:rPr lang="en-US" sz="1600"/>
                        <a:t>Color3/Color4），</a:t>
                      </a:r>
                      <a:r>
                        <a:rPr lang="zh-CN" altLang="en-US" sz="1600"/>
                        <a:t>如果未定义则使用默认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-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096963290"/>
                  </a:ext>
                </a:extLst>
              </a:tr>
              <a:tr h="255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visibility</a:t>
                      </a:r>
                    </a:p>
                  </a:txBody>
                  <a:tcPr marL="57969" marR="57969" marT="28985" marB="2898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胶囊体可见度 </a:t>
                      </a:r>
                      <a:r>
                        <a:rPr lang="en-US" altLang="zh-CN" sz="1600"/>
                        <a:t>0-1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1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05820513"/>
                  </a:ext>
                </a:extLst>
              </a:tr>
              <a:tr h="638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behavior</a:t>
                      </a:r>
                    </a:p>
                  </a:txBody>
                  <a:tcPr marL="57969" marR="57969" marT="28985" marB="2898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附加到父节点的行为（</a:t>
                      </a:r>
                      <a:r>
                        <a:rPr lang="en-US" sz="1600"/>
                        <a:t>SixDofDragBehavior）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forceCameraOnDragStart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truerotateAroundYOnly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=true</a:t>
                      </a:r>
                      <a:endParaRPr lang="en-US" sz="1600" dirty="0"/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248065529"/>
                  </a:ext>
                </a:extLst>
              </a:tr>
              <a:tr h="255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billboard</a:t>
                      </a:r>
                    </a:p>
                  </a:txBody>
                  <a:tcPr marL="57969" marR="57969" marT="28985" marB="2898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父网格的广告牌模式设置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/>
                        <a:t>0</a:t>
                      </a:r>
                    </a:p>
                  </a:txBody>
                  <a:tcPr marL="57969" marR="57969" marT="28985" marB="289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696712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213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9A6D7-6F39-404F-9672-B903CA89A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AA78C524-ED58-B339-8843-851875907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Times New Roman Regular" panose="02020603050405020304" charset="0"/>
              </a:rPr>
              <a:t>变换控件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89E2B2F-91FD-D247-C418-3F8762E6220E}"/>
              </a:ext>
            </a:extLst>
          </p:cNvPr>
          <p:cNvSpPr txBox="1">
            <a:spLocks noChangeArrowheads="1"/>
          </p:cNvSpPr>
          <p:nvPr/>
        </p:nvSpPr>
        <p:spPr>
          <a:xfrm>
            <a:off x="1251678" y="1164644"/>
            <a:ext cx="4979305" cy="709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Rotation Widget UI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6F9038B-8FCF-86FC-A3FC-E17509F24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999724"/>
              </p:ext>
            </p:extLst>
          </p:nvPr>
        </p:nvGraphicFramePr>
        <p:xfrm>
          <a:off x="1486404" y="1732129"/>
          <a:ext cx="9708870" cy="4143895"/>
        </p:xfrm>
        <a:graphic>
          <a:graphicData uri="http://schemas.openxmlformats.org/drawingml/2006/table">
            <a:tbl>
              <a:tblPr/>
              <a:tblGrid>
                <a:gridCol w="1984097">
                  <a:extLst>
                    <a:ext uri="{9D8B030D-6E8A-4147-A177-3AD203B41FA5}">
                      <a16:colId xmlns:a16="http://schemas.microsoft.com/office/drawing/2014/main" val="3078145509"/>
                    </a:ext>
                  </a:extLst>
                </a:gridCol>
                <a:gridCol w="4488483">
                  <a:extLst>
                    <a:ext uri="{9D8B030D-6E8A-4147-A177-3AD203B41FA5}">
                      <a16:colId xmlns:a16="http://schemas.microsoft.com/office/drawing/2014/main" val="595189767"/>
                    </a:ext>
                  </a:extLst>
                </a:gridCol>
                <a:gridCol w="3236290">
                  <a:extLst>
                    <a:ext uri="{9D8B030D-6E8A-4147-A177-3AD203B41FA5}">
                      <a16:colId xmlns:a16="http://schemas.microsoft.com/office/drawing/2014/main" val="1422118626"/>
                    </a:ext>
                  </a:extLst>
                </a:gridCol>
              </a:tblGrid>
              <a:tr h="243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属性</a:t>
                      </a:r>
                    </a:p>
                  </a:txBody>
                  <a:tcPr marL="60917" marR="60917" marT="30458" marB="3045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说明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默认值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05009252"/>
                  </a:ext>
                </a:extLst>
              </a:tr>
              <a:tr h="426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name</a:t>
                      </a:r>
                    </a:p>
                  </a:txBody>
                  <a:tcPr marL="60917" marR="60917" marT="30458" marB="3045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UI </a:t>
                      </a:r>
                      <a:r>
                        <a:rPr lang="zh-CN" altLang="en-US" sz="1600"/>
                        <a:t>和 </a:t>
                      </a:r>
                      <a:r>
                        <a:rPr lang="en-US" altLang="zh-CN" sz="1600"/>
                        <a:t>UI </a:t>
                      </a:r>
                      <a:r>
                        <a:rPr lang="zh-CN" altLang="en-US" sz="1600"/>
                        <a:t>父节点的名称前缀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node.name + "RotationUI"</a:t>
                      </a:r>
                      <a:endParaRPr lang="en-US" sz="1600"/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11096095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axis</a:t>
                      </a:r>
                    </a:p>
                  </a:txBody>
                  <a:tcPr marL="60917" marR="60917" marT="30458" marB="3045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旋转轴（</a:t>
                      </a:r>
                      <a:r>
                        <a:rPr lang="en-US" altLang="zh-CN" sz="1600"/>
                        <a:t>x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y </a:t>
                      </a:r>
                      <a:r>
                        <a:rPr lang="zh-CN" altLang="en-US" sz="1600"/>
                        <a:t>或 </a:t>
                      </a:r>
                      <a:r>
                        <a:rPr lang="en-US" altLang="zh-CN" sz="1600"/>
                        <a:t>z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-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415554656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diameter</a:t>
                      </a:r>
                    </a:p>
                  </a:txBody>
                  <a:tcPr marL="60917" marR="60917" marT="30458" marB="3045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圆环网格的直径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父节点包围盒宽度的 </a:t>
                      </a:r>
                      <a:r>
                        <a:rPr lang="en-US" altLang="zh-CN" sz="1600"/>
                        <a:t>5%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387926197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thickness</a:t>
                      </a:r>
                    </a:p>
                  </a:txBody>
                  <a:tcPr marL="60917" marR="60917" marT="30458" marB="3045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圆环网格的厚度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直径的一半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692253143"/>
                  </a:ext>
                </a:extLst>
              </a:tr>
              <a:tr h="426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position</a:t>
                      </a:r>
                    </a:p>
                  </a:txBody>
                  <a:tcPr marL="60917" marR="60917" marT="30458" marB="3045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胶囊体网格的起始位置（</a:t>
                      </a:r>
                      <a:r>
                        <a:rPr lang="en-US" sz="1600"/>
                        <a:t>Vector3）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父节点包围盒底部前方位置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736623728"/>
                  </a:ext>
                </a:extLst>
              </a:tr>
              <a:tr h="426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offset</a:t>
                      </a:r>
                    </a:p>
                  </a:txBody>
                  <a:tcPr marL="60917" marR="60917" marT="30458" marB="3045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起始位置的偏移量（</a:t>
                      </a:r>
                      <a:r>
                        <a:rPr lang="en-US" sz="1600"/>
                        <a:t>Vector3）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半径的 </a:t>
                      </a:r>
                      <a:r>
                        <a:rPr lang="en-US" altLang="zh-CN" sz="1600"/>
                        <a:t>2.5 </a:t>
                      </a:r>
                      <a:r>
                        <a:rPr lang="zh-CN" altLang="en-US" sz="1600"/>
                        <a:t>倍 </a:t>
                      </a:r>
                      <a:r>
                        <a:rPr lang="en-US" altLang="zh-CN" sz="1600"/>
                        <a:t>+ </a:t>
                      </a:r>
                      <a:r>
                        <a:rPr lang="zh-CN" altLang="en-US" sz="1600"/>
                        <a:t>直径的 </a:t>
                      </a:r>
                      <a:r>
                        <a:rPr lang="en-US" altLang="zh-CN" sz="1600"/>
                        <a:t>2.5 </a:t>
                      </a:r>
                      <a:r>
                        <a:rPr lang="zh-CN" altLang="en-US" sz="1600"/>
                        <a:t>倍，沿 </a:t>
                      </a:r>
                      <a:r>
                        <a:rPr lang="en-US" altLang="zh-CN" sz="1600"/>
                        <a:t>-</a:t>
                      </a:r>
                      <a:r>
                        <a:rPr lang="en-US" sz="1600"/>
                        <a:t>Y </a:t>
                      </a:r>
                      <a:r>
                        <a:rPr lang="zh-CN" altLang="en-US" sz="1600"/>
                        <a:t>轴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58945990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material</a:t>
                      </a:r>
                    </a:p>
                  </a:txBody>
                  <a:tcPr marL="60917" marR="60917" marT="30458" marB="3045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圆环网格的材质（</a:t>
                      </a:r>
                      <a:r>
                        <a:rPr lang="en-US" sz="1600"/>
                        <a:t>Material）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StandardMaterial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17974398"/>
                  </a:ext>
                </a:extLst>
              </a:tr>
              <a:tr h="609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diffuseColor</a:t>
                      </a:r>
                    </a:p>
                  </a:txBody>
                  <a:tcPr marL="60917" marR="60917" marT="30458" marB="3045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材质的漫反射颜色（</a:t>
                      </a:r>
                      <a:r>
                        <a:rPr lang="en-US" sz="1600"/>
                        <a:t>Color3/Color4），</a:t>
                      </a:r>
                      <a:r>
                        <a:rPr lang="zh-CN" altLang="en-US" sz="1600"/>
                        <a:t>如果未定义则使用默认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-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918401458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visibility</a:t>
                      </a:r>
                    </a:p>
                  </a:txBody>
                  <a:tcPr marL="60917" marR="60917" marT="30458" marB="3045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圆环可见度 </a:t>
                      </a:r>
                      <a:r>
                        <a:rPr lang="en-US" altLang="zh-CN" sz="1600"/>
                        <a:t>0-1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1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031295233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billboard</a:t>
                      </a:r>
                    </a:p>
                  </a:txBody>
                  <a:tcPr marL="60917" marR="60917" marT="30458" marB="3045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父网格的广告牌模式设置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/>
                        <a:t>0</a:t>
                      </a:r>
                    </a:p>
                  </a:txBody>
                  <a:tcPr marL="60917" marR="60917" marT="30458" marB="304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900665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088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A4B25-1D02-8DE3-1610-5D69AB5BD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8634BCFA-0FF0-1A75-CF98-40D800E191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Times New Roman Regular" panose="02020603050405020304" charset="0"/>
              </a:rPr>
              <a:t>变换控件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A242A54-3301-6E78-2A52-8F8998D33B4D}"/>
              </a:ext>
            </a:extLst>
          </p:cNvPr>
          <p:cNvSpPr txBox="1">
            <a:spLocks noChangeArrowheads="1"/>
          </p:cNvSpPr>
          <p:nvPr/>
        </p:nvSpPr>
        <p:spPr>
          <a:xfrm>
            <a:off x="1251678" y="1164644"/>
            <a:ext cx="4979305" cy="709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Scale Widget UI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7B80595-6063-55FF-7CDF-2414AD658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132211"/>
              </p:ext>
            </p:extLst>
          </p:nvPr>
        </p:nvGraphicFramePr>
        <p:xfrm>
          <a:off x="1555624" y="1704975"/>
          <a:ext cx="9474326" cy="4466416"/>
        </p:xfrm>
        <a:graphic>
          <a:graphicData uri="http://schemas.openxmlformats.org/drawingml/2006/table">
            <a:tbl>
              <a:tblPr/>
              <a:tblGrid>
                <a:gridCol w="1579660">
                  <a:extLst>
                    <a:ext uri="{9D8B030D-6E8A-4147-A177-3AD203B41FA5}">
                      <a16:colId xmlns:a16="http://schemas.microsoft.com/office/drawing/2014/main" val="984730372"/>
                    </a:ext>
                  </a:extLst>
                </a:gridCol>
                <a:gridCol w="4429769">
                  <a:extLst>
                    <a:ext uri="{9D8B030D-6E8A-4147-A177-3AD203B41FA5}">
                      <a16:colId xmlns:a16="http://schemas.microsoft.com/office/drawing/2014/main" val="3950235907"/>
                    </a:ext>
                  </a:extLst>
                </a:gridCol>
                <a:gridCol w="3464897">
                  <a:extLst>
                    <a:ext uri="{9D8B030D-6E8A-4147-A177-3AD203B41FA5}">
                      <a16:colId xmlns:a16="http://schemas.microsoft.com/office/drawing/2014/main" val="75443854"/>
                    </a:ext>
                  </a:extLst>
                </a:gridCol>
              </a:tblGrid>
              <a:tr h="228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属性</a:t>
                      </a:r>
                    </a:p>
                  </a:txBody>
                  <a:tcPr marL="57049" marR="57049" marT="28525" marB="285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说明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默认值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897725399"/>
                  </a:ext>
                </a:extLst>
              </a:tr>
              <a:tr h="228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name</a:t>
                      </a:r>
                    </a:p>
                  </a:txBody>
                  <a:tcPr marL="57049" marR="57049" marT="28525" marB="285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UI </a:t>
                      </a:r>
                      <a:r>
                        <a:rPr lang="zh-CN" altLang="en-US" sz="1600"/>
                        <a:t>和 </a:t>
                      </a:r>
                      <a:r>
                        <a:rPr lang="en-US" altLang="zh-CN" sz="1600"/>
                        <a:t>UI </a:t>
                      </a:r>
                      <a:r>
                        <a:rPr lang="zh-CN" altLang="en-US" sz="1600"/>
                        <a:t>父节点的名称前缀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node.name + "ScaleUI"</a:t>
                      </a:r>
                      <a:endParaRPr lang="en-US" sz="1600"/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35746886"/>
                  </a:ext>
                </a:extLst>
              </a:tr>
              <a:tr h="228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diameter</a:t>
                      </a:r>
                    </a:p>
                  </a:txBody>
                  <a:tcPr marL="57049" marR="57049" marT="28525" marB="285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球体网格的半径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父节点包围盒宽度的 </a:t>
                      </a:r>
                      <a:r>
                        <a:rPr lang="en-US" altLang="zh-CN" sz="1600"/>
                        <a:t>5%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846830079"/>
                  </a:ext>
                </a:extLst>
              </a:tr>
              <a:tr h="399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position</a:t>
                      </a:r>
                    </a:p>
                  </a:txBody>
                  <a:tcPr marL="57049" marR="57049" marT="28525" marB="285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球体网格的起始位置（</a:t>
                      </a:r>
                      <a:r>
                        <a:rPr lang="en-US" sz="1600"/>
                        <a:t>Vector3）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父节点包围盒底部前方位置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714363521"/>
                  </a:ext>
                </a:extLst>
              </a:tr>
              <a:tr h="399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offset</a:t>
                      </a:r>
                    </a:p>
                  </a:txBody>
                  <a:tcPr marL="57049" marR="57049" marT="28525" marB="285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起始位置的偏移量（</a:t>
                      </a:r>
                      <a:r>
                        <a:rPr lang="en-US" sz="1600"/>
                        <a:t>Vector3）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半径的 </a:t>
                      </a:r>
                      <a:r>
                        <a:rPr lang="en-US" altLang="zh-CN" sz="1600"/>
                        <a:t>2.5 </a:t>
                      </a:r>
                      <a:r>
                        <a:rPr lang="zh-CN" altLang="en-US" sz="1600"/>
                        <a:t>倍，沿 </a:t>
                      </a:r>
                      <a:r>
                        <a:rPr lang="en-US" altLang="zh-CN" sz="1600"/>
                        <a:t>-</a:t>
                      </a:r>
                      <a:r>
                        <a:rPr lang="en-US" sz="1600"/>
                        <a:t>Y </a:t>
                      </a:r>
                      <a:r>
                        <a:rPr lang="zh-CN" altLang="en-US" sz="1600"/>
                        <a:t>轴，并沿假想 </a:t>
                      </a:r>
                      <a:r>
                        <a:rPr lang="en-US" sz="1600"/>
                        <a:t>PositionUI </a:t>
                      </a:r>
                      <a:r>
                        <a:rPr lang="zh-CN" altLang="en-US" sz="1600"/>
                        <a:t>的 </a:t>
                      </a:r>
                      <a:r>
                        <a:rPr lang="en-US" sz="1600"/>
                        <a:t>Z </a:t>
                      </a:r>
                      <a:r>
                        <a:rPr lang="zh-CN" altLang="en-US" sz="1600"/>
                        <a:t>轴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758909286"/>
                  </a:ext>
                </a:extLst>
              </a:tr>
              <a:tr h="228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material</a:t>
                      </a:r>
                    </a:p>
                  </a:txBody>
                  <a:tcPr marL="57049" marR="57049" marT="28525" marB="285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球体网格的材质（</a:t>
                      </a:r>
                      <a:r>
                        <a:rPr lang="en-US" sz="1600"/>
                        <a:t>Material）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StandardMaterial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631843409"/>
                  </a:ext>
                </a:extLst>
              </a:tr>
              <a:tr h="570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diffuseColor</a:t>
                      </a:r>
                    </a:p>
                  </a:txBody>
                  <a:tcPr marL="57049" marR="57049" marT="28525" marB="285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材质的漫反射颜色（</a:t>
                      </a:r>
                      <a:r>
                        <a:rPr lang="en-US" sz="1600"/>
                        <a:t>Color3/Color4），</a:t>
                      </a:r>
                      <a:r>
                        <a:rPr lang="zh-CN" altLang="en-US" sz="1600"/>
                        <a:t>如果未定义则使用默认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-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186215336"/>
                  </a:ext>
                </a:extLst>
              </a:tr>
              <a:tr h="228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visibility</a:t>
                      </a:r>
                    </a:p>
                  </a:txBody>
                  <a:tcPr marL="57049" marR="57049" marT="28525" marB="285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球体可见度 </a:t>
                      </a:r>
                      <a:r>
                        <a:rPr lang="en-US" altLang="zh-CN" sz="1600"/>
                        <a:t>0-1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1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686194228"/>
                  </a:ext>
                </a:extLst>
              </a:tr>
              <a:tr h="399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behavior</a:t>
                      </a:r>
                    </a:p>
                  </a:txBody>
                  <a:tcPr marL="57049" marR="57049" marT="28525" marB="285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附加到父节点的交互行为（</a:t>
                      </a:r>
                      <a:r>
                        <a:rPr lang="en-US" sz="1600"/>
                        <a:t>PointerDragBehavior）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dragAxis (0,1,0), moveAttached=false</a:t>
                      </a:r>
                      <a:endParaRPr lang="en-US" sz="1600"/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99275890"/>
                  </a:ext>
                </a:extLst>
              </a:tr>
              <a:tr h="228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billboard</a:t>
                      </a:r>
                    </a:p>
                  </a:txBody>
                  <a:tcPr marL="57049" marR="57049" marT="28525" marB="285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父网格的广告牌模式设置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0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681987476"/>
                  </a:ext>
                </a:extLst>
              </a:tr>
              <a:tr h="228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minimum</a:t>
                      </a:r>
                    </a:p>
                  </a:txBody>
                  <a:tcPr marL="57049" marR="57049" marT="28525" marB="285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缩放最小因子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infinity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53825668"/>
                  </a:ext>
                </a:extLst>
              </a:tr>
              <a:tr h="228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maximum</a:t>
                      </a:r>
                    </a:p>
                  </a:txBody>
                  <a:tcPr marL="57049" marR="57049" marT="28525" marB="285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缩放最大因子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infinity</a:t>
                      </a:r>
                    </a:p>
                  </a:txBody>
                  <a:tcPr marL="57049" marR="57049" marT="28525" marB="28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886131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5834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DA693-78F1-2C92-8760-1373F3E7C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EC5D0660-DDB9-7225-2DCA-42308C683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rPr>
              <a:t>变换控件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3E5E3D-D9EA-E1B4-103E-97A7583A03F4}"/>
              </a:ext>
            </a:extLst>
          </p:cNvPr>
          <p:cNvSpPr/>
          <p:nvPr/>
        </p:nvSpPr>
        <p:spPr>
          <a:xfrm>
            <a:off x="1251678" y="1614226"/>
            <a:ext cx="9851977" cy="48936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/>
              <a:t>import data from './data/</a:t>
            </a:r>
            <a:r>
              <a:rPr lang="en-US" altLang="zh-CN" sz="1200" dirty="0" err="1"/>
              <a:t>iris.json</a:t>
            </a:r>
            <a:r>
              <a:rPr lang="en-US" altLang="zh-CN" sz="1200" dirty="0"/>
              <a:t>' assert {type: '</a:t>
            </a:r>
            <a:r>
              <a:rPr lang="en-US" altLang="zh-CN" sz="1200" dirty="0" err="1"/>
              <a:t>json</a:t>
            </a:r>
            <a:r>
              <a:rPr lang="en-US" altLang="zh-CN" sz="1200" dirty="0"/>
              <a:t>'};</a:t>
            </a:r>
          </a:p>
          <a:p>
            <a:r>
              <a:rPr lang="en-US" altLang="zh-CN" sz="1200" dirty="0"/>
              <a:t>//Create the D3 functions that we will use to scale our data dimensions to desired output ranges for our visualization</a:t>
            </a:r>
          </a:p>
          <a:p>
            <a:r>
              <a:rPr lang="en-US" altLang="zh-CN" sz="1200" dirty="0"/>
              <a:t>  let </a:t>
            </a:r>
            <a:r>
              <a:rPr lang="en-US" altLang="zh-CN" sz="1200" dirty="0" err="1"/>
              <a:t>scaleX</a:t>
            </a:r>
            <a:r>
              <a:rPr lang="en-US" altLang="zh-CN" sz="1200" dirty="0"/>
              <a:t> = d3.scaleLinear().domain(d3.extent(d3.map(data, (d) =&gt; </a:t>
            </a:r>
            <a:r>
              <a:rPr lang="en-US" altLang="zh-CN" sz="1200" dirty="0" err="1"/>
              <a:t>d.sepalLength</a:t>
            </a:r>
            <a:r>
              <a:rPr lang="en-US" altLang="zh-CN" sz="1200" dirty="0"/>
              <a:t>))).range([-1,1]).nice();</a:t>
            </a:r>
          </a:p>
          <a:p>
            <a:r>
              <a:rPr lang="en-US" altLang="zh-CN" sz="1200" dirty="0"/>
              <a:t>  let </a:t>
            </a:r>
            <a:r>
              <a:rPr lang="en-US" altLang="zh-CN" sz="1200" dirty="0" err="1"/>
              <a:t>scaleY</a:t>
            </a:r>
            <a:r>
              <a:rPr lang="en-US" altLang="zh-CN" sz="1200" dirty="0"/>
              <a:t> = d3.scaleLinear().domain(d3.extent(d3.map(data, (d) =&gt; </a:t>
            </a:r>
            <a:r>
              <a:rPr lang="en-US" altLang="zh-CN" sz="1200" dirty="0" err="1"/>
              <a:t>d.petalLength</a:t>
            </a:r>
            <a:r>
              <a:rPr lang="en-US" altLang="zh-CN" sz="1200" dirty="0"/>
              <a:t>))).range([-1,1]).nice();</a:t>
            </a:r>
          </a:p>
          <a:p>
            <a:r>
              <a:rPr lang="en-US" altLang="zh-CN" sz="1200" dirty="0"/>
              <a:t>  let </a:t>
            </a:r>
            <a:r>
              <a:rPr lang="en-US" altLang="zh-CN" sz="1200" dirty="0" err="1"/>
              <a:t>scaleZ</a:t>
            </a:r>
            <a:r>
              <a:rPr lang="en-US" altLang="zh-CN" sz="1200" dirty="0"/>
              <a:t> = d3.scaleLinear().domain(d3.extent(d3.map(data, (d) =&gt; </a:t>
            </a:r>
            <a:r>
              <a:rPr lang="en-US" altLang="zh-CN" sz="1200" dirty="0" err="1"/>
              <a:t>d.sepalWidth</a:t>
            </a:r>
            <a:r>
              <a:rPr lang="en-US" altLang="zh-CN" sz="1200" dirty="0"/>
              <a:t>))).range([-1,1]).nice();</a:t>
            </a:r>
          </a:p>
          <a:p>
            <a:r>
              <a:rPr lang="en-US" altLang="zh-CN" sz="1200" dirty="0"/>
              <a:t>  //Do the same for color, using Anu helper functions to map values to </a:t>
            </a:r>
            <a:r>
              <a:rPr lang="en-US" altLang="zh-CN" sz="1200" dirty="0" err="1"/>
              <a:t>StandardMaterial</a:t>
            </a:r>
            <a:r>
              <a:rPr lang="en-US" altLang="zh-CN" sz="1200" dirty="0"/>
              <a:t> objects with colors based on the 'schemecategory10' palette from D3</a:t>
            </a:r>
          </a:p>
          <a:p>
            <a:r>
              <a:rPr lang="en-US" altLang="zh-CN" sz="1200" dirty="0"/>
              <a:t>  let </a:t>
            </a:r>
            <a:r>
              <a:rPr lang="en-US" altLang="zh-CN" sz="1200" dirty="0" err="1"/>
              <a:t>scaleC</a:t>
            </a:r>
            <a:r>
              <a:rPr lang="en-US" altLang="zh-CN" sz="1200" dirty="0"/>
              <a:t> = d3.scaleOrdinal(</a:t>
            </a:r>
            <a:r>
              <a:rPr lang="en-US" altLang="zh-CN" sz="1200" dirty="0" err="1"/>
              <a:t>anu.ordinalChromatic</a:t>
            </a:r>
            <a:r>
              <a:rPr lang="en-US" altLang="zh-CN" sz="1200" dirty="0"/>
              <a:t>('d310').</a:t>
            </a:r>
            <a:r>
              <a:rPr lang="en-US" altLang="zh-CN" sz="1200" dirty="0" err="1"/>
              <a:t>toStandardMaterial</a:t>
            </a:r>
            <a:r>
              <a:rPr lang="en-US" altLang="zh-CN" sz="1200" dirty="0"/>
              <a:t>());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//Create a Center of Transform </a:t>
            </a:r>
            <a:r>
              <a:rPr lang="en-US" altLang="zh-CN" sz="1200" dirty="0" err="1"/>
              <a:t>TransformNode</a:t>
            </a:r>
            <a:r>
              <a:rPr lang="en-US" altLang="zh-CN" sz="1200" dirty="0"/>
              <a:t> that serves the parent node for all our meshes that make up our chart</a:t>
            </a:r>
          </a:p>
          <a:p>
            <a:r>
              <a:rPr lang="en-US" altLang="zh-CN" sz="1200" dirty="0"/>
              <a:t>  let </a:t>
            </a:r>
            <a:r>
              <a:rPr lang="en-US" altLang="zh-CN" sz="1200" dirty="0" err="1"/>
              <a:t>CoT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anu.create</a:t>
            </a:r>
            <a:r>
              <a:rPr lang="en-US" altLang="zh-CN" sz="1200" dirty="0"/>
              <a:t>('cot', 'cot');</a:t>
            </a:r>
          </a:p>
          <a:p>
            <a:r>
              <a:rPr lang="en-US" altLang="zh-CN" sz="1200" dirty="0"/>
              <a:t>  //Select our </a:t>
            </a:r>
            <a:r>
              <a:rPr lang="en-US" altLang="zh-CN" sz="1200" dirty="0" err="1"/>
              <a:t>CoT</a:t>
            </a:r>
            <a:r>
              <a:rPr lang="en-US" altLang="zh-CN" sz="1200" dirty="0"/>
              <a:t> so that we have it as a Selection object</a:t>
            </a:r>
          </a:p>
          <a:p>
            <a:r>
              <a:rPr lang="en-US" altLang="zh-CN" sz="1200" dirty="0"/>
              <a:t>  let chart = </a:t>
            </a:r>
            <a:r>
              <a:rPr lang="en-US" altLang="zh-CN" sz="1200" dirty="0" err="1"/>
              <a:t>anu.selectName</a:t>
            </a:r>
            <a:r>
              <a:rPr lang="en-US" altLang="zh-CN" sz="1200" dirty="0"/>
              <a:t>('cot', scene);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//Create sphere meshes as children of our </a:t>
            </a:r>
            <a:r>
              <a:rPr lang="en-US" altLang="zh-CN" sz="1200" dirty="0" err="1"/>
              <a:t>CoT</a:t>
            </a:r>
            <a:r>
              <a:rPr lang="en-US" altLang="zh-CN" sz="1200" dirty="0"/>
              <a:t> for each row of our data and set their visual encodings using method chaining</a:t>
            </a:r>
          </a:p>
          <a:p>
            <a:r>
              <a:rPr lang="en-US" altLang="zh-CN" sz="1200" dirty="0"/>
              <a:t>  let spheres = </a:t>
            </a:r>
            <a:r>
              <a:rPr lang="en-US" altLang="zh-CN" sz="1200" dirty="0" err="1"/>
              <a:t>chart.bind</a:t>
            </a:r>
            <a:r>
              <a:rPr lang="en-US" altLang="zh-CN" sz="1200" dirty="0"/>
              <a:t>('sphere', { diameter: 0.05 }, data)</a:t>
            </a:r>
          </a:p>
          <a:p>
            <a:r>
              <a:rPr lang="en-US" altLang="zh-CN" sz="1200" dirty="0"/>
              <a:t>                     .position((d) =&gt; new BABYLON.Vector3(</a:t>
            </a:r>
            <a:r>
              <a:rPr lang="en-US" altLang="zh-CN" sz="1200" dirty="0" err="1"/>
              <a:t>scaleX</a:t>
            </a:r>
            <a:r>
              <a:rPr lang="en-US" altLang="zh-CN" sz="1200" dirty="0"/>
              <a:t>(</a:t>
            </a:r>
            <a:r>
              <a:rPr lang="en-US" altLang="zh-CN" sz="1200" dirty="0" err="1"/>
              <a:t>d.sepalLength</a:t>
            </a:r>
            <a:r>
              <a:rPr lang="en-US" altLang="zh-CN" sz="1200" dirty="0"/>
              <a:t>), </a:t>
            </a:r>
            <a:r>
              <a:rPr lang="en-US" altLang="zh-CN" sz="1200" dirty="0" err="1"/>
              <a:t>scaleY</a:t>
            </a:r>
            <a:r>
              <a:rPr lang="en-US" altLang="zh-CN" sz="1200" dirty="0"/>
              <a:t>(</a:t>
            </a:r>
            <a:r>
              <a:rPr lang="en-US" altLang="zh-CN" sz="1200" dirty="0" err="1"/>
              <a:t>d.petalLength</a:t>
            </a:r>
            <a:r>
              <a:rPr lang="en-US" altLang="zh-CN" sz="1200" dirty="0"/>
              <a:t>), </a:t>
            </a:r>
            <a:r>
              <a:rPr lang="en-US" altLang="zh-CN" sz="1200" dirty="0" err="1"/>
              <a:t>scaleZ</a:t>
            </a:r>
            <a:r>
              <a:rPr lang="en-US" altLang="zh-CN" sz="1200" dirty="0"/>
              <a:t>(</a:t>
            </a:r>
            <a:r>
              <a:rPr lang="en-US" altLang="zh-CN" sz="1200" dirty="0" err="1"/>
              <a:t>d.sepalWidth</a:t>
            </a:r>
            <a:r>
              <a:rPr lang="en-US" altLang="zh-CN" sz="1200" dirty="0"/>
              <a:t>)))</a:t>
            </a:r>
          </a:p>
          <a:p>
            <a:r>
              <a:rPr lang="en-US" altLang="zh-CN" sz="1200" dirty="0"/>
              <a:t>                     .material((d) =&gt; </a:t>
            </a:r>
            <a:r>
              <a:rPr lang="en-US" altLang="zh-CN" sz="1200" dirty="0" err="1"/>
              <a:t>scaleC</a:t>
            </a:r>
            <a:r>
              <a:rPr lang="en-US" altLang="zh-CN" sz="1200" dirty="0"/>
              <a:t>(</a:t>
            </a:r>
            <a:r>
              <a:rPr lang="en-US" altLang="zh-CN" sz="1200" dirty="0" err="1"/>
              <a:t>d.species</a:t>
            </a:r>
            <a:r>
              <a:rPr lang="en-US" altLang="zh-CN" sz="1200" dirty="0"/>
              <a:t>));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//Use the Axes prefab with our three D3 scales</a:t>
            </a:r>
          </a:p>
          <a:p>
            <a:r>
              <a:rPr lang="en-US" altLang="zh-CN" sz="1200" dirty="0"/>
              <a:t>  </a:t>
            </a:r>
            <a:r>
              <a:rPr lang="en-US" altLang="zh-CN" sz="1200" dirty="0" err="1"/>
              <a:t>anu.createAxes</a:t>
            </a:r>
            <a:r>
              <a:rPr lang="en-US" altLang="zh-CN" sz="1200" dirty="0"/>
              <a:t>('</a:t>
            </a:r>
            <a:r>
              <a:rPr lang="en-US" altLang="zh-CN" sz="1200" dirty="0" err="1"/>
              <a:t>myAxes</a:t>
            </a:r>
            <a:r>
              <a:rPr lang="en-US" altLang="zh-CN" sz="1200" dirty="0"/>
              <a:t>', { scale: { x: </a:t>
            </a:r>
            <a:r>
              <a:rPr lang="en-US" altLang="zh-CN" sz="1200" dirty="0" err="1"/>
              <a:t>scaleX</a:t>
            </a:r>
            <a:r>
              <a:rPr lang="en-US" altLang="zh-CN" sz="1200" dirty="0"/>
              <a:t>, y: </a:t>
            </a:r>
            <a:r>
              <a:rPr lang="en-US" altLang="zh-CN" sz="1200" dirty="0" err="1"/>
              <a:t>scaleY</a:t>
            </a:r>
            <a:r>
              <a:rPr lang="en-US" altLang="zh-CN" sz="1200" dirty="0"/>
              <a:t>, z: </a:t>
            </a:r>
            <a:r>
              <a:rPr lang="en-US" altLang="zh-CN" sz="1200" dirty="0" err="1"/>
              <a:t>scaleZ</a:t>
            </a:r>
            <a:r>
              <a:rPr lang="en-US" altLang="zh-CN" sz="1200" dirty="0"/>
              <a:t> }, parent: chart });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//Use the Transform Widget prefab to add 3D UI handles to position, rotate, and scale our chart</a:t>
            </a:r>
          </a:p>
          <a:p>
            <a:r>
              <a:rPr lang="en-US" altLang="zh-CN" sz="1200" dirty="0"/>
              <a:t>  </a:t>
            </a:r>
            <a:r>
              <a:rPr lang="en-US" altLang="zh-CN" sz="1200" dirty="0" err="1"/>
              <a:t>chart.positionUI</a:t>
            </a:r>
            <a:r>
              <a:rPr lang="en-US" altLang="zh-CN" sz="1200" dirty="0"/>
              <a:t>()</a:t>
            </a:r>
          </a:p>
          <a:p>
            <a:r>
              <a:rPr lang="en-US" altLang="zh-CN" sz="1200" dirty="0"/>
              <a:t>       .</a:t>
            </a:r>
            <a:r>
              <a:rPr lang="en-US" altLang="zh-CN" sz="1200" dirty="0" err="1"/>
              <a:t>rotateUI</a:t>
            </a:r>
            <a:r>
              <a:rPr lang="en-US" altLang="zh-CN" sz="1200" dirty="0"/>
              <a:t>()</a:t>
            </a:r>
          </a:p>
          <a:p>
            <a:r>
              <a:rPr lang="en-US" altLang="zh-CN" sz="1200" dirty="0"/>
              <a:t>       .</a:t>
            </a:r>
            <a:r>
              <a:rPr lang="en-US" altLang="zh-CN" sz="1200" dirty="0" err="1"/>
              <a:t>scaleUI</a:t>
            </a:r>
            <a:r>
              <a:rPr lang="en-US" altLang="zh-CN" sz="1200" dirty="0"/>
              <a:t>({ minimum: 0.5, maximum: 2 });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5C4729E6-2B3D-C3FD-2E37-8D1CA5473F40}"/>
              </a:ext>
            </a:extLst>
          </p:cNvPr>
          <p:cNvSpPr txBox="1">
            <a:spLocks noChangeArrowheads="1"/>
          </p:cNvSpPr>
          <p:nvPr/>
        </p:nvSpPr>
        <p:spPr>
          <a:xfrm>
            <a:off x="1198361" y="1128451"/>
            <a:ext cx="4979305" cy="709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例子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405000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F83FA-3B34-C538-53F5-73B31814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6D907F13-C65D-DEEB-47DD-0B195D249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rPr>
              <a:t>变换控件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5A1AA85-C31C-E09C-46C4-86E8A93D34D9}"/>
              </a:ext>
            </a:extLst>
          </p:cNvPr>
          <p:cNvSpPr txBox="1">
            <a:spLocks noChangeArrowheads="1"/>
          </p:cNvSpPr>
          <p:nvPr/>
        </p:nvSpPr>
        <p:spPr>
          <a:xfrm>
            <a:off x="1198361" y="1128451"/>
            <a:ext cx="4979305" cy="709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运行结果</a:t>
            </a:r>
            <a:endParaRPr lang="en-US" altLang="zh-CN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1E1078-143A-63DA-5CDC-8D3A5F757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50" y="1757363"/>
            <a:ext cx="4161111" cy="410051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8C8211A-250C-7E33-F804-7AB93BDBEDF0}"/>
              </a:ext>
            </a:extLst>
          </p:cNvPr>
          <p:cNvSpPr txBox="1"/>
          <p:nvPr/>
        </p:nvSpPr>
        <p:spPr>
          <a:xfrm>
            <a:off x="6325005" y="1157198"/>
            <a:ext cx="53582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 err="1">
                <a:latin typeface="Courier New" panose="02070309020205020404" pitchFamily="49" charset="0"/>
              </a:rPr>
              <a:t>positionUI</a:t>
            </a:r>
            <a:r>
              <a:rPr lang="en-US" altLang="zh-CN" b="1" dirty="0">
                <a:latin typeface="Courier New" panose="02070309020205020404" pitchFamily="49" charset="0"/>
              </a:rPr>
              <a:t>()</a:t>
            </a:r>
            <a:endParaRPr lang="zh-CN" alt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功能：为图表添加 </a:t>
            </a:r>
            <a:r>
              <a:rPr lang="zh-CN" altLang="en-US" b="1" dirty="0"/>
              <a:t>平移控件</a:t>
            </a:r>
            <a:r>
              <a:rPr lang="zh-CN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作用：用户可以用鼠标或手指拖动图表，在 </a:t>
            </a:r>
            <a:r>
              <a:rPr lang="en-US" altLang="zh-CN" dirty="0"/>
              <a:t>3D </a:t>
            </a:r>
            <a:r>
              <a:rPr lang="zh-CN" altLang="en-US" dirty="0"/>
              <a:t>空间中移动整个图表的位置。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CE36914-C56C-6A50-B0CD-800B5BB79A82}"/>
              </a:ext>
            </a:extLst>
          </p:cNvPr>
          <p:cNvSpPr txBox="1"/>
          <p:nvPr/>
        </p:nvSpPr>
        <p:spPr>
          <a:xfrm>
            <a:off x="6340839" y="2743111"/>
            <a:ext cx="51748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 err="1">
                <a:latin typeface="Courier New" panose="02070309020205020404" pitchFamily="49" charset="0"/>
              </a:rPr>
              <a:t>rotateUI</a:t>
            </a:r>
            <a:r>
              <a:rPr lang="en-US" altLang="zh-CN" b="1" dirty="0">
                <a:latin typeface="Courier New" panose="02070309020205020404" pitchFamily="49" charset="0"/>
              </a:rPr>
              <a:t>()</a:t>
            </a:r>
            <a:endParaRPr lang="zh-CN" alt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功能：为图表添加 </a:t>
            </a:r>
            <a:r>
              <a:rPr lang="zh-CN" altLang="en-US" b="1" dirty="0"/>
              <a:t>旋转控件</a:t>
            </a:r>
            <a:r>
              <a:rPr lang="zh-CN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作用：用户可以沿指定轴旋转图表，查看不同角度的数据分布。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A18BB3-1637-2431-9F03-80215EA7D77E}"/>
              </a:ext>
            </a:extLst>
          </p:cNvPr>
          <p:cNvSpPr txBox="1"/>
          <p:nvPr/>
        </p:nvSpPr>
        <p:spPr>
          <a:xfrm>
            <a:off x="6325005" y="4396085"/>
            <a:ext cx="53582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 err="1">
                <a:latin typeface="Courier New" panose="02070309020205020404" pitchFamily="49" charset="0"/>
              </a:rPr>
              <a:t>scaleUI</a:t>
            </a:r>
            <a:r>
              <a:rPr lang="en-US" altLang="zh-CN" b="1" dirty="0">
                <a:latin typeface="Courier New" panose="02070309020205020404" pitchFamily="49" charset="0"/>
              </a:rPr>
              <a:t>()</a:t>
            </a:r>
            <a:endParaRPr lang="en-US" altLang="zh-CN" b="1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功能：为图表添加 </a:t>
            </a:r>
            <a:r>
              <a:rPr lang="zh-CN" altLang="en-US" b="1" dirty="0"/>
              <a:t>缩放控件</a:t>
            </a:r>
            <a:r>
              <a:rPr lang="zh-CN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作用：用户可以放大或缩小整个图表。</a:t>
            </a:r>
          </a:p>
        </p:txBody>
      </p:sp>
    </p:spTree>
    <p:extLst>
      <p:ext uri="{BB962C8B-B14F-4D97-AF65-F5344CB8AC3E}">
        <p14:creationId xmlns:p14="http://schemas.microsoft.com/office/powerpoint/2010/main" val="4205600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95CB5-8175-23D0-5F76-74B251BD1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DA5DDC90-D76F-BDFA-E7A1-5E76CC578A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rPr>
              <a:t>变换控件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B6C7B887-8D72-2DF2-E5E6-F110C2BB8AB5}"/>
              </a:ext>
            </a:extLst>
          </p:cNvPr>
          <p:cNvSpPr txBox="1">
            <a:spLocks noChangeArrowheads="1"/>
          </p:cNvSpPr>
          <p:nvPr/>
        </p:nvSpPr>
        <p:spPr>
          <a:xfrm>
            <a:off x="1361534" y="1000125"/>
            <a:ext cx="4979305" cy="709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在原基础上添加文本</a:t>
            </a:r>
            <a:endParaRPr lang="en-US" altLang="zh-CN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B887D5-086F-2770-CE97-82D96807C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534" y="1709999"/>
            <a:ext cx="5692663" cy="3836063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0CF6974-4D4A-8546-0D54-1EF7CB5CC9E6}"/>
              </a:ext>
            </a:extLst>
          </p:cNvPr>
          <p:cNvSpPr txBox="1">
            <a:spLocks noChangeArrowheads="1"/>
          </p:cNvSpPr>
          <p:nvPr/>
        </p:nvSpPr>
        <p:spPr>
          <a:xfrm>
            <a:off x="7460345" y="2038349"/>
            <a:ext cx="4379229" cy="3590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/>
              <a:t>结合平面文本内容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添加学号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学习各个控件的使用方法和技巧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712261136"/>
      </p:ext>
    </p:extLst>
  </p:cSld>
  <p:clrMapOvr>
    <a:masterClrMapping/>
  </p:clrMapOvr>
</p:sld>
</file>

<file path=ppt/theme/theme1.xml><?xml version="1.0" encoding="utf-8"?>
<a:theme xmlns:a="http://schemas.openxmlformats.org/drawingml/2006/main" name="徽章">
  <a:themeElements>
    <a:clrScheme name="徽章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徽章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徽章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TM10001106[[fn=徽章]]</Template>
  <TotalTime>1405</TotalTime>
  <Words>2386</Words>
  <Application>Microsoft Office PowerPoint</Application>
  <PresentationFormat>宽屏</PresentationFormat>
  <Paragraphs>350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Times New Roman Regular</vt:lpstr>
      <vt:lpstr>等线</vt:lpstr>
      <vt:lpstr>Arial</vt:lpstr>
      <vt:lpstr>Courier New</vt:lpstr>
      <vt:lpstr>Gill Sans MT</vt:lpstr>
      <vt:lpstr>Impact</vt:lpstr>
      <vt:lpstr>徽章</vt:lpstr>
      <vt:lpstr>信息可视化</vt:lpstr>
      <vt:lpstr>目录</vt:lpstr>
      <vt:lpstr>平面文本</vt:lpstr>
      <vt:lpstr>平面文本</vt:lpstr>
      <vt:lpstr>平面文本</vt:lpstr>
      <vt:lpstr>轴</vt:lpstr>
      <vt:lpstr>轴</vt:lpstr>
      <vt:lpstr>轴</vt:lpstr>
      <vt:lpstr>轴</vt:lpstr>
      <vt:lpstr>轴</vt:lpstr>
      <vt:lpstr>色标</vt:lpstr>
      <vt:lpstr>变换控件UI</vt:lpstr>
      <vt:lpstr>变换控件</vt:lpstr>
      <vt:lpstr>变换控件</vt:lpstr>
      <vt:lpstr>变换控件</vt:lpstr>
      <vt:lpstr>变换控件</vt:lpstr>
      <vt:lpstr>变换控件</vt:lpstr>
      <vt:lpstr>变换控件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信息可视化</dc:title>
  <dc:creator>JuncongLin</dc:creator>
  <cp:lastModifiedBy>世斌 余</cp:lastModifiedBy>
  <cp:revision>122</cp:revision>
  <dcterms:created xsi:type="dcterms:W3CDTF">2022-09-14T08:08:26Z</dcterms:created>
  <dcterms:modified xsi:type="dcterms:W3CDTF">2025-09-30T09:07:18Z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6E4DEC726ABC38E8707F1C63287F005D</vt:lpwstr>
  </property>
  <property fmtid="{D5CDD505-2E9C-101B-9397-08002B2CF9AE}" pid="3" name="KSOProductBuildVer">
    <vt:lpwstr>2052-4.5.0.7405</vt:lpwstr>
  </property>
</Properties>
</file>