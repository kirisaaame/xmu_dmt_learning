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341" r:id="rId2"/>
    <p:sldId id="327" r:id="rId3"/>
    <p:sldId id="334" r:id="rId4"/>
    <p:sldId id="385" r:id="rId5"/>
    <p:sldId id="386" r:id="rId6"/>
    <p:sldId id="387" r:id="rId7"/>
    <p:sldId id="371" r:id="rId8"/>
    <p:sldId id="372" r:id="rId9"/>
    <p:sldId id="388" r:id="rId10"/>
    <p:sldId id="393" r:id="rId11"/>
    <p:sldId id="394" r:id="rId12"/>
    <p:sldId id="396" r:id="rId13"/>
    <p:sldId id="389" r:id="rId14"/>
    <p:sldId id="390" r:id="rId15"/>
    <p:sldId id="397" r:id="rId16"/>
    <p:sldId id="398" r:id="rId17"/>
    <p:sldId id="399" r:id="rId18"/>
    <p:sldId id="400" r:id="rId19"/>
    <p:sldId id="401" r:id="rId20"/>
    <p:sldId id="391" r:id="rId21"/>
    <p:sldId id="402" r:id="rId22"/>
    <p:sldId id="403"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75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8D99F8-2109-4508-B89D-C5654C3CD072}" type="datetimeFigureOut">
              <a:rPr lang="zh-CN" altLang="en-US" smtClean="0"/>
              <a:t>2025/9/18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ACD33D-4843-4BCC-BBB3-AB1B0AC6E606}"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zh-CN" altLang="en-US"/>
              <a:t>单击此处编辑母版标题样式</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43C79AEB-7568-4B2D-A287-3BB200D9C699}" type="datetimeFigureOut">
              <a:rPr lang="zh-CN" altLang="en-US" smtClean="0"/>
              <a:t>2025/9/18</a:t>
            </a:fld>
            <a:endParaRPr lang="zh-CN" altLang="en-US"/>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zh-CN" altLang="en-US"/>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DC0EC0D7-905B-4E79-824C-A226C0EE1D2F}" type="slidenum">
              <a:rPr lang="zh-CN" altLang="en-US" smtClean="0"/>
              <a:t>‹#›</a:t>
            </a:fld>
            <a:endParaRPr lang="zh-CN" altLang="en-US"/>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43C79AEB-7568-4B2D-A287-3BB200D9C699}" type="datetimeFigureOut">
              <a:rPr lang="zh-CN" altLang="en-US" smtClean="0"/>
              <a:t>2025/9/18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C0EC0D7-905B-4E79-824C-A226C0EE1D2F}"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43C79AEB-7568-4B2D-A287-3BB200D9C699}" type="datetimeFigureOut">
              <a:rPr lang="zh-CN" altLang="en-US" smtClean="0"/>
              <a:t>2025/9/18</a:t>
            </a:fld>
            <a:endParaRPr lang="zh-CN" altLang="en-US"/>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zh-CN" altLang="en-US"/>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DC0EC0D7-905B-4E79-824C-A226C0EE1D2F}" type="slidenum">
              <a:rPr lang="zh-CN" altLang="en-US" smtClean="0"/>
              <a:t>‹#›</a:t>
            </a:fld>
            <a:endParaRPr lang="zh-CN" altLang="en-US"/>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ln>
          </p:spPr>
        </p:sp>
      </p:gr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1257300" y="2286000"/>
            <a:ext cx="4800600" cy="36195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6647796" y="2286000"/>
            <a:ext cx="4800600" cy="36195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43C79AEB-7568-4B2D-A287-3BB200D9C699}" type="datetimeFigureOut">
              <a:rPr lang="zh-CN" altLang="en-US" smtClean="0"/>
              <a:t>2025/9/18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C0EC0D7-905B-4E79-824C-A226C0EE1D2F}"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hasCustomPrompt="1"/>
          </p:nvPr>
        </p:nvSpPr>
        <p:spPr>
          <a:xfrm>
            <a:off x="1257300" y="2909102"/>
            <a:ext cx="4800600" cy="299639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hasCustomPrompt="1"/>
          </p:nvPr>
        </p:nvSpPr>
        <p:spPr>
          <a:xfrm>
            <a:off x="6633864" y="2909102"/>
            <a:ext cx="4800600" cy="299639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43C79AEB-7568-4B2D-A287-3BB200D9C699}" type="datetimeFigureOut">
              <a:rPr lang="zh-CN" altLang="en-US" smtClean="0"/>
              <a:t>2025/9/18</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DC0EC0D7-905B-4E79-824C-A226C0EE1D2F}"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3C79AEB-7568-4B2D-A287-3BB200D9C699}" type="datetimeFigureOut">
              <a:rPr lang="zh-CN" altLang="en-US" smtClean="0"/>
              <a:t>2025/9/18</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DC0EC0D7-905B-4E79-824C-A226C0EE1D2F}"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3C79AEB-7568-4B2D-A287-3BB200D9C699}" type="datetimeFigureOut">
              <a:rPr lang="zh-CN" altLang="en-US" smtClean="0"/>
              <a:t>2025/9/18</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DC0EC0D7-905B-4E79-824C-A226C0EE1D2F}"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a:xfrm>
            <a:off x="765051" y="6375679"/>
            <a:ext cx="1233355" cy="348462"/>
          </a:xfrm>
        </p:spPr>
        <p:txBody>
          <a:bodyPr/>
          <a:lstStyle/>
          <a:p>
            <a:fld id="{43C79AEB-7568-4B2D-A287-3BB200D9C699}" type="datetimeFigureOut">
              <a:rPr lang="zh-CN" altLang="en-US" smtClean="0"/>
              <a:t>2025/9/18</a:t>
            </a:fld>
            <a:endParaRPr lang="zh-CN" altLang="en-US"/>
          </a:p>
        </p:txBody>
      </p:sp>
      <p:sp>
        <p:nvSpPr>
          <p:cNvPr id="6" name="Footer Placeholder 5"/>
          <p:cNvSpPr>
            <a:spLocks noGrp="1"/>
          </p:cNvSpPr>
          <p:nvPr>
            <p:ph type="ftr" sz="quarter" idx="11"/>
          </p:nvPr>
        </p:nvSpPr>
        <p:spPr>
          <a:xfrm>
            <a:off x="2103620" y="6375679"/>
            <a:ext cx="3482179" cy="345796"/>
          </a:xfrm>
        </p:spPr>
        <p:txBody>
          <a:bodyPr/>
          <a:lstStyle/>
          <a:p>
            <a:endParaRPr lang="zh-CN" altLang="en-US"/>
          </a:p>
        </p:txBody>
      </p:sp>
      <p:sp>
        <p:nvSpPr>
          <p:cNvPr id="7" name="Slide Number Placeholder 6"/>
          <p:cNvSpPr>
            <a:spLocks noGrp="1"/>
          </p:cNvSpPr>
          <p:nvPr>
            <p:ph type="sldNum" sz="quarter" idx="12"/>
          </p:nvPr>
        </p:nvSpPr>
        <p:spPr>
          <a:xfrm>
            <a:off x="5691014" y="6375679"/>
            <a:ext cx="1232456" cy="345796"/>
          </a:xfrm>
        </p:spPr>
        <p:txBody>
          <a:bodyPr/>
          <a:lstStyle/>
          <a:p>
            <a:fld id="{DC0EC0D7-905B-4E79-824C-A226C0EE1D2F}" type="slidenum">
              <a:rPr lang="zh-CN" altLang="en-US" smtClean="0"/>
              <a:t>‹#›</a:t>
            </a:fld>
            <a:endParaRPr lang="zh-CN" altLang="en-US"/>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zh-CN" altLang="en-US"/>
              <a:t>单击此处编辑母版标题样式</a:t>
            </a:r>
            <a:endParaRPr lang="en-US" dirty="0"/>
          </a:p>
        </p:txBody>
      </p:sp>
      <p:sp>
        <p:nvSpPr>
          <p:cNvPr id="4" name="Text Placeholder 3"/>
          <p:cNvSpPr>
            <a:spLocks noGrp="1"/>
          </p:cNvSpPr>
          <p:nvPr>
            <p:ph type="body" sz="half" idx="2" hasCustomPrompt="1"/>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a:xfrm>
            <a:off x="765950" y="6375679"/>
            <a:ext cx="1232456" cy="348462"/>
          </a:xfrm>
        </p:spPr>
        <p:txBody>
          <a:bodyPr/>
          <a:lstStyle/>
          <a:p>
            <a:fld id="{43C79AEB-7568-4B2D-A287-3BB200D9C699}" type="datetimeFigureOut">
              <a:rPr lang="zh-CN" altLang="en-US" smtClean="0"/>
              <a:t>2025/9/18</a:t>
            </a:fld>
            <a:endParaRPr lang="zh-CN" altLang="en-US"/>
          </a:p>
        </p:txBody>
      </p:sp>
      <p:sp>
        <p:nvSpPr>
          <p:cNvPr id="6" name="Footer Placeholder 5"/>
          <p:cNvSpPr>
            <a:spLocks noGrp="1"/>
          </p:cNvSpPr>
          <p:nvPr>
            <p:ph type="ftr" sz="quarter" idx="11"/>
          </p:nvPr>
        </p:nvSpPr>
        <p:spPr>
          <a:xfrm>
            <a:off x="2103621" y="6375679"/>
            <a:ext cx="3482178" cy="345796"/>
          </a:xfrm>
        </p:spPr>
        <p:txBody>
          <a:bodyPr/>
          <a:lstStyle/>
          <a:p>
            <a:endParaRPr lang="zh-CN" altLang="en-US"/>
          </a:p>
        </p:txBody>
      </p:sp>
      <p:sp>
        <p:nvSpPr>
          <p:cNvPr id="7" name="Slide Number Placeholder 6"/>
          <p:cNvSpPr>
            <a:spLocks noGrp="1"/>
          </p:cNvSpPr>
          <p:nvPr>
            <p:ph type="sldNum" sz="quarter" idx="12"/>
          </p:nvPr>
        </p:nvSpPr>
        <p:spPr>
          <a:xfrm>
            <a:off x="5687568" y="6375679"/>
            <a:ext cx="1234440" cy="345796"/>
          </a:xfrm>
        </p:spPr>
        <p:txBody>
          <a:bodyPr/>
          <a:lstStyle/>
          <a:p>
            <a:fld id="{DC0EC0D7-905B-4E79-824C-A226C0EE1D2F}"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43C79AEB-7568-4B2D-A287-3BB200D9C699}" type="datetimeFigureOut">
              <a:rPr lang="zh-CN" altLang="en-US" smtClean="0"/>
              <a:t>2025/9/18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C0EC0D7-905B-4E79-824C-A226C0EE1D2F}"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1257300" y="382385"/>
            <a:ext cx="8392585" cy="5600405"/>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43C79AEB-7568-4B2D-A287-3BB200D9C699}" type="datetimeFigureOut">
              <a:rPr lang="zh-CN" altLang="en-US" smtClean="0"/>
              <a:t>2025/9/18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C0EC0D7-905B-4E79-824C-A226C0EE1D2F}"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43C79AEB-7568-4B2D-A287-3BB200D9C699}" type="datetimeFigureOut">
              <a:rPr lang="zh-CN" altLang="en-US" smtClean="0"/>
              <a:t>2025/9/18</a:t>
            </a:fld>
            <a:endParaRPr lang="zh-CN" altLang="en-US"/>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zh-CN" altLang="en-US"/>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DC0EC0D7-905B-4E79-824C-A226C0EE1D2F}" type="slidenum">
              <a:rPr lang="zh-CN" altLang="en-US" smtClean="0"/>
              <a:t>‹#›</a:t>
            </a:fld>
            <a:endParaRPr lang="zh-CN" altLang="en-US"/>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5"/>
          <p:cNvSpPr>
            <a:spLocks noGrp="1" noChangeArrowheads="1"/>
          </p:cNvSpPr>
          <p:nvPr>
            <p:ph type="subTitle" idx="1"/>
          </p:nvPr>
        </p:nvSpPr>
        <p:spPr>
          <a:xfrm>
            <a:off x="1992314" y="3130550"/>
            <a:ext cx="8207375" cy="407988"/>
          </a:xfrm>
        </p:spPr>
        <p:txBody>
          <a:bodyPr/>
          <a:lstStyle/>
          <a:p>
            <a:r>
              <a:rPr lang="zh-CN" altLang="en-US" dirty="0"/>
              <a:t>实验五：</a:t>
            </a:r>
            <a:r>
              <a:rPr lang="en-US" altLang="zh-CN" dirty="0"/>
              <a:t>Anu</a:t>
            </a:r>
            <a:r>
              <a:rPr lang="zh-CN" altLang="en-US" dirty="0"/>
              <a:t>进阶</a:t>
            </a:r>
          </a:p>
        </p:txBody>
      </p:sp>
      <p:sp>
        <p:nvSpPr>
          <p:cNvPr id="6147" name="Rectangle 16"/>
          <p:cNvSpPr>
            <a:spLocks noGrp="1" noChangeArrowheads="1"/>
          </p:cNvSpPr>
          <p:nvPr>
            <p:ph type="ctrTitle"/>
          </p:nvPr>
        </p:nvSpPr>
        <p:spPr>
          <a:xfrm>
            <a:off x="1992314" y="1989139"/>
            <a:ext cx="8207375" cy="960437"/>
          </a:xfrm>
        </p:spPr>
        <p:txBody>
          <a:bodyPr/>
          <a:lstStyle/>
          <a:p>
            <a:pPr eaLnBrk="1" hangingPunct="1"/>
            <a:r>
              <a:rPr lang="zh-CN" altLang="en-US" dirty="0"/>
              <a:t>信息可视化</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noChangeArrowheads="1"/>
          </p:cNvSpPr>
          <p:nvPr>
            <p:ph type="title"/>
          </p:nvPr>
        </p:nvSpPr>
        <p:spPr/>
        <p:txBody>
          <a:bodyPr/>
          <a:lstStyle/>
          <a:p>
            <a:pPr eaLnBrk="1" hangingPunct="1"/>
            <a:r>
              <a:rPr lang="zh-CN" altLang="en-US"/>
              <a:t>目录</a:t>
            </a:r>
          </a:p>
        </p:txBody>
      </p:sp>
      <p:sp>
        <p:nvSpPr>
          <p:cNvPr id="7171" name="内容占位符 2"/>
          <p:cNvSpPr>
            <a:spLocks noGrp="1" noChangeArrowheads="1"/>
          </p:cNvSpPr>
          <p:nvPr>
            <p:ph idx="1"/>
          </p:nvPr>
        </p:nvSpPr>
        <p:spPr/>
        <p:txBody>
          <a:bodyPr/>
          <a:lstStyle/>
          <a:p>
            <a:pPr eaLnBrk="1" hangingPunct="1"/>
            <a:r>
              <a:rPr lang="en-US" altLang="zh-CN" dirty="0"/>
              <a:t>3D</a:t>
            </a:r>
            <a:r>
              <a:rPr lang="zh-CN" altLang="en-US" dirty="0"/>
              <a:t>散点图</a:t>
            </a:r>
            <a:endParaRPr lang="en-US" altLang="zh-CN" dirty="0"/>
          </a:p>
          <a:p>
            <a:r>
              <a:rPr lang="zh-CN" altLang="en-US" dirty="0">
                <a:latin typeface="Times New Roman Regular" panose="02020603050405020304" charset="0"/>
              </a:rPr>
              <a:t>网格体，克隆</a:t>
            </a:r>
            <a:endParaRPr lang="en-US" altLang="zh-CN" dirty="0">
              <a:latin typeface="Times New Roman Regular" panose="02020603050405020304" charset="0"/>
            </a:endParaRPr>
          </a:p>
          <a:p>
            <a:r>
              <a:rPr lang="zh-CN" altLang="en-US" dirty="0"/>
              <a:t>实例，瘦实例</a:t>
            </a:r>
            <a:endParaRPr lang="en-US" altLang="zh-CN" dirty="0"/>
          </a:p>
          <a:p>
            <a:r>
              <a:rPr lang="zh-CN" altLang="en-US" dirty="0"/>
              <a:t>过渡</a:t>
            </a:r>
            <a:endParaRPr lang="en-US" altLang="zh-CN" dirty="0"/>
          </a:p>
          <a:p>
            <a:r>
              <a:rPr lang="zh-CN" altLang="en-US" dirty="0">
                <a:latin typeface="Times New Roman Regular" panose="02020603050405020304" charset="0"/>
              </a:rPr>
              <a:t>交互</a:t>
            </a:r>
            <a:endParaRPr lang="en-US"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noChangeArrowheads="1"/>
          </p:cNvSpPr>
          <p:nvPr>
            <p:ph type="title"/>
          </p:nvPr>
        </p:nvSpPr>
        <p:spPr/>
        <p:txBody>
          <a:bodyPr>
            <a:normAutofit/>
          </a:bodyPr>
          <a:lstStyle/>
          <a:p>
            <a:r>
              <a:rPr lang="en-US" altLang="zh-CN" sz="4000" dirty="0">
                <a:latin typeface="+mn-ea"/>
                <a:ea typeface="+mn-ea"/>
              </a:rPr>
              <a:t>3D</a:t>
            </a:r>
            <a:r>
              <a:rPr lang="zh-CN" altLang="en-US" sz="4000" dirty="0"/>
              <a:t>散点图</a:t>
            </a:r>
            <a:endParaRPr lang="en-US" altLang="zh-CN" sz="4000" dirty="0"/>
          </a:p>
        </p:txBody>
      </p:sp>
      <p:sp>
        <p:nvSpPr>
          <p:cNvPr id="12291" name="内容占位符 2"/>
          <p:cNvSpPr>
            <a:spLocks noGrp="1" noChangeArrowheads="1"/>
          </p:cNvSpPr>
          <p:nvPr>
            <p:ph idx="1"/>
          </p:nvPr>
        </p:nvSpPr>
        <p:spPr>
          <a:xfrm>
            <a:off x="1251678" y="1389894"/>
            <a:ext cx="10178322" cy="1191382"/>
          </a:xfrm>
        </p:spPr>
        <p:txBody>
          <a:bodyPr/>
          <a:lstStyle/>
          <a:p>
            <a:r>
              <a:rPr lang="zh-CN" altLang="en-US" b="1" dirty="0"/>
              <a:t>创建选区并将数据绑定到网格体</a:t>
            </a:r>
            <a:endParaRPr lang="en-US" altLang="zh-CN" b="1" dirty="0"/>
          </a:p>
          <a:p>
            <a:pPr marL="0" indent="0">
              <a:buNone/>
            </a:pPr>
            <a:r>
              <a:rPr lang="zh-CN" altLang="en-US" dirty="0"/>
              <a:t>创建一个具有单一转换中心（</a:t>
            </a:r>
            <a:r>
              <a:rPr lang="en-US" altLang="zh-CN" dirty="0" err="1"/>
              <a:t>CoT</a:t>
            </a:r>
            <a:r>
              <a:rPr lang="zh-CN" altLang="en-US" dirty="0"/>
              <a:t>）节点的选择，该节点将作为所有网格和节点的父节点，这些节点将组成我们的散点图。</a:t>
            </a:r>
          </a:p>
        </p:txBody>
      </p:sp>
      <p:sp>
        <p:nvSpPr>
          <p:cNvPr id="4" name="矩形 3"/>
          <p:cNvSpPr/>
          <p:nvPr/>
        </p:nvSpPr>
        <p:spPr>
          <a:xfrm>
            <a:off x="2216944" y="2752842"/>
            <a:ext cx="6858000" cy="369332"/>
          </a:xfrm>
          <a:prstGeom prst="rect">
            <a:avLst/>
          </a:prstGeom>
          <a:solidFill>
            <a:schemeClr val="bg1">
              <a:lumMod val="85000"/>
            </a:schemeClr>
          </a:solidFill>
        </p:spPr>
        <p:txBody>
          <a:bodyPr>
            <a:spAutoFit/>
          </a:bodyPr>
          <a:lstStyle/>
          <a:p>
            <a:r>
              <a:rPr lang="en-US" altLang="zh-CN" dirty="0"/>
              <a:t>let cot = </a:t>
            </a:r>
            <a:r>
              <a:rPr lang="en-US" altLang="zh-CN" dirty="0" err="1"/>
              <a:t>anu.bind</a:t>
            </a:r>
            <a:r>
              <a:rPr lang="en-US" altLang="zh-CN" dirty="0"/>
              <a:t>('cot');</a:t>
            </a:r>
          </a:p>
        </p:txBody>
      </p:sp>
      <p:sp>
        <p:nvSpPr>
          <p:cNvPr id="5" name="内容占位符 2">
            <a:extLst>
              <a:ext uri="{FF2B5EF4-FFF2-40B4-BE49-F238E27FC236}">
                <a16:creationId xmlns:a16="http://schemas.microsoft.com/office/drawing/2014/main" id="{8A70BD19-A430-8135-8E91-9B3BEFC1E8A1}"/>
              </a:ext>
            </a:extLst>
          </p:cNvPr>
          <p:cNvSpPr txBox="1">
            <a:spLocks noChangeArrowheads="1"/>
          </p:cNvSpPr>
          <p:nvPr/>
        </p:nvSpPr>
        <p:spPr>
          <a:xfrm>
            <a:off x="1251678" y="3429000"/>
            <a:ext cx="10178322" cy="504825"/>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r>
              <a:rPr lang="zh-CN" altLang="en-US" b="1" dirty="0"/>
              <a:t>使用</a:t>
            </a:r>
            <a:r>
              <a:rPr lang="en-US" altLang="zh-CN" b="1" dirty="0"/>
              <a:t>bind</a:t>
            </a:r>
            <a:r>
              <a:rPr lang="zh-CN" altLang="en-US" b="1" dirty="0"/>
              <a:t>（）来绑定</a:t>
            </a:r>
            <a:r>
              <a:rPr lang="en-US" altLang="zh-CN" b="1" dirty="0"/>
              <a:t>iris</a:t>
            </a:r>
            <a:r>
              <a:rPr lang="zh-CN" altLang="en-US" b="1" dirty="0"/>
              <a:t>数据到球体网格。</a:t>
            </a:r>
            <a:endParaRPr lang="zh-CN" altLang="en-US" dirty="0"/>
          </a:p>
        </p:txBody>
      </p:sp>
      <p:sp>
        <p:nvSpPr>
          <p:cNvPr id="6" name="矩形 5">
            <a:extLst>
              <a:ext uri="{FF2B5EF4-FFF2-40B4-BE49-F238E27FC236}">
                <a16:creationId xmlns:a16="http://schemas.microsoft.com/office/drawing/2014/main" id="{ABE34709-AD15-E3D1-D535-383A6DAF0FDC}"/>
              </a:ext>
            </a:extLst>
          </p:cNvPr>
          <p:cNvSpPr/>
          <p:nvPr/>
        </p:nvSpPr>
        <p:spPr>
          <a:xfrm>
            <a:off x="2216944" y="4055985"/>
            <a:ext cx="6858000" cy="369332"/>
          </a:xfrm>
          <a:prstGeom prst="rect">
            <a:avLst/>
          </a:prstGeom>
          <a:solidFill>
            <a:schemeClr val="bg1">
              <a:lumMod val="85000"/>
            </a:schemeClr>
          </a:solidFill>
        </p:spPr>
        <p:txBody>
          <a:bodyPr>
            <a:spAutoFit/>
          </a:bodyPr>
          <a:lstStyle/>
          <a:p>
            <a:r>
              <a:rPr lang="en-US" altLang="zh-CN" dirty="0"/>
              <a:t>let spheres = </a:t>
            </a:r>
            <a:r>
              <a:rPr lang="en-US" altLang="zh-CN" dirty="0" err="1"/>
              <a:t>cot.bind</a:t>
            </a:r>
            <a:r>
              <a:rPr lang="en-US" altLang="zh-CN" dirty="0"/>
              <a:t>('sphere', { diameter: 0.5 }, iris);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4570E-943E-F9EC-BDEB-E3EB30B7F51D}"/>
            </a:ext>
          </a:extLst>
        </p:cNvPr>
        <p:cNvGrpSpPr/>
        <p:nvPr/>
      </p:nvGrpSpPr>
      <p:grpSpPr>
        <a:xfrm>
          <a:off x="0" y="0"/>
          <a:ext cx="0" cy="0"/>
          <a:chOff x="0" y="0"/>
          <a:chExt cx="0" cy="0"/>
        </a:xfrm>
      </p:grpSpPr>
      <p:sp>
        <p:nvSpPr>
          <p:cNvPr id="12290" name="标题 1">
            <a:extLst>
              <a:ext uri="{FF2B5EF4-FFF2-40B4-BE49-F238E27FC236}">
                <a16:creationId xmlns:a16="http://schemas.microsoft.com/office/drawing/2014/main" id="{4B6AA4DE-B51A-C2C8-AAF1-26E54CB801B9}"/>
              </a:ext>
            </a:extLst>
          </p:cNvPr>
          <p:cNvSpPr>
            <a:spLocks noGrp="1" noChangeArrowheads="1"/>
          </p:cNvSpPr>
          <p:nvPr>
            <p:ph type="title"/>
          </p:nvPr>
        </p:nvSpPr>
        <p:spPr/>
        <p:txBody>
          <a:bodyPr>
            <a:normAutofit/>
          </a:bodyPr>
          <a:lstStyle/>
          <a:p>
            <a:r>
              <a:rPr lang="en-US" altLang="zh-CN" sz="4000" dirty="0">
                <a:latin typeface="+mn-ea"/>
                <a:ea typeface="+mn-ea"/>
              </a:rPr>
              <a:t>3D</a:t>
            </a:r>
            <a:r>
              <a:rPr lang="zh-CN" altLang="en-US" sz="4000" dirty="0"/>
              <a:t>散点图</a:t>
            </a:r>
            <a:endParaRPr lang="en-US" altLang="zh-CN" sz="4000" dirty="0"/>
          </a:p>
        </p:txBody>
      </p:sp>
      <p:sp>
        <p:nvSpPr>
          <p:cNvPr id="12291" name="内容占位符 2">
            <a:extLst>
              <a:ext uri="{FF2B5EF4-FFF2-40B4-BE49-F238E27FC236}">
                <a16:creationId xmlns:a16="http://schemas.microsoft.com/office/drawing/2014/main" id="{151AE111-13F7-3F0A-1AE6-F7A8C8CEB6EC}"/>
              </a:ext>
            </a:extLst>
          </p:cNvPr>
          <p:cNvSpPr>
            <a:spLocks noGrp="1" noChangeArrowheads="1"/>
          </p:cNvSpPr>
          <p:nvPr>
            <p:ph idx="1"/>
          </p:nvPr>
        </p:nvSpPr>
        <p:spPr>
          <a:xfrm>
            <a:off x="1251678" y="1408943"/>
            <a:ext cx="5968272" cy="2524882"/>
          </a:xfrm>
        </p:spPr>
        <p:txBody>
          <a:bodyPr>
            <a:normAutofit/>
          </a:bodyPr>
          <a:lstStyle/>
          <a:p>
            <a:r>
              <a:rPr lang="zh-CN" altLang="en-US" b="1" dirty="0"/>
              <a:t>移动球体</a:t>
            </a:r>
            <a:endParaRPr lang="en-US" altLang="zh-CN" b="1" dirty="0"/>
          </a:p>
          <a:p>
            <a:pPr marL="0" indent="0">
              <a:buNone/>
            </a:pPr>
            <a:r>
              <a:rPr lang="zh-CN" altLang="en-US" dirty="0"/>
              <a:t>将球体与数据绑定在一起，我们可以开始在</a:t>
            </a:r>
            <a:r>
              <a:rPr lang="en-US" altLang="zh-CN" dirty="0"/>
              <a:t>x</a:t>
            </a:r>
            <a:r>
              <a:rPr lang="zh-CN" altLang="en-US" dirty="0"/>
              <a:t>， </a:t>
            </a:r>
            <a:r>
              <a:rPr lang="en-US" altLang="zh-CN" dirty="0"/>
              <a:t>y</a:t>
            </a:r>
            <a:r>
              <a:rPr lang="zh-CN" altLang="en-US" dirty="0"/>
              <a:t>和</a:t>
            </a:r>
            <a:r>
              <a:rPr lang="en-US" altLang="zh-CN" dirty="0"/>
              <a:t>z</a:t>
            </a:r>
            <a:r>
              <a:rPr lang="zh-CN" altLang="en-US" dirty="0"/>
              <a:t>轴上定位它们。使用球体选择对象和方法链的位置包装方法。</a:t>
            </a:r>
            <a:endParaRPr lang="en-US" altLang="zh-CN" b="1" dirty="0"/>
          </a:p>
          <a:p>
            <a:pPr marL="0" indent="0">
              <a:buNone/>
            </a:pPr>
            <a:r>
              <a:rPr lang="zh-CN" altLang="en-US" dirty="0"/>
              <a:t>使用匿名函数，传入数据</a:t>
            </a:r>
            <a:r>
              <a:rPr lang="en-US" altLang="zh-CN" dirty="0"/>
              <a:t>(d)</a:t>
            </a:r>
            <a:r>
              <a:rPr lang="zh-CN" altLang="en-US" dirty="0"/>
              <a:t>、节点</a:t>
            </a:r>
            <a:r>
              <a:rPr lang="en-US" altLang="zh-CN" dirty="0"/>
              <a:t>(n)</a:t>
            </a:r>
            <a:r>
              <a:rPr lang="zh-CN" altLang="en-US" dirty="0"/>
              <a:t>和索引</a:t>
            </a:r>
            <a:r>
              <a:rPr lang="en-US" altLang="zh-CN" dirty="0"/>
              <a:t>(</a:t>
            </a:r>
            <a:r>
              <a:rPr lang="en-US" altLang="zh-CN" dirty="0" err="1"/>
              <a:t>i</a:t>
            </a:r>
            <a:r>
              <a:rPr lang="en-US" altLang="zh-CN" dirty="0"/>
              <a:t>)</a:t>
            </a:r>
            <a:endParaRPr lang="zh-CN" altLang="en-US" dirty="0"/>
          </a:p>
        </p:txBody>
      </p:sp>
      <p:sp>
        <p:nvSpPr>
          <p:cNvPr id="4" name="矩形 3">
            <a:extLst>
              <a:ext uri="{FF2B5EF4-FFF2-40B4-BE49-F238E27FC236}">
                <a16:creationId xmlns:a16="http://schemas.microsoft.com/office/drawing/2014/main" id="{FF7AFE91-67EB-DC4D-C6EA-A47A61AA5D48}"/>
              </a:ext>
            </a:extLst>
          </p:cNvPr>
          <p:cNvSpPr/>
          <p:nvPr/>
        </p:nvSpPr>
        <p:spPr>
          <a:xfrm>
            <a:off x="1616869" y="3933825"/>
            <a:ext cx="4202906" cy="923330"/>
          </a:xfrm>
          <a:prstGeom prst="rect">
            <a:avLst/>
          </a:prstGeom>
          <a:solidFill>
            <a:schemeClr val="bg1">
              <a:lumMod val="85000"/>
            </a:schemeClr>
          </a:solidFill>
        </p:spPr>
        <p:txBody>
          <a:bodyPr wrap="square">
            <a:spAutoFit/>
          </a:bodyPr>
          <a:lstStyle/>
          <a:p>
            <a:r>
              <a:rPr lang="en-US" altLang="zh-CN" dirty="0" err="1"/>
              <a:t>spheres.positionX</a:t>
            </a:r>
            <a:r>
              <a:rPr lang="en-US" altLang="zh-CN" dirty="0"/>
              <a:t>((</a:t>
            </a:r>
            <a:r>
              <a:rPr lang="en-US" altLang="zh-CN" dirty="0" err="1"/>
              <a:t>d,n,i</a:t>
            </a:r>
            <a:r>
              <a:rPr lang="en-US" altLang="zh-CN" dirty="0"/>
              <a:t>) =&gt; </a:t>
            </a:r>
            <a:r>
              <a:rPr lang="en-US" altLang="zh-CN" dirty="0" err="1"/>
              <a:t>d.sepalLength</a:t>
            </a:r>
            <a:r>
              <a:rPr lang="en-US" altLang="zh-CN" dirty="0"/>
              <a:t>) </a:t>
            </a:r>
          </a:p>
          <a:p>
            <a:r>
              <a:rPr lang="en-US" altLang="zh-CN" dirty="0"/>
              <a:t>       .</a:t>
            </a:r>
            <a:r>
              <a:rPr lang="en-US" altLang="zh-CN" dirty="0" err="1"/>
              <a:t>positionY</a:t>
            </a:r>
            <a:r>
              <a:rPr lang="en-US" altLang="zh-CN" dirty="0"/>
              <a:t>((</a:t>
            </a:r>
            <a:r>
              <a:rPr lang="en-US" altLang="zh-CN" dirty="0" err="1"/>
              <a:t>d,n,i</a:t>
            </a:r>
            <a:r>
              <a:rPr lang="en-US" altLang="zh-CN" dirty="0"/>
              <a:t>) =&gt; </a:t>
            </a:r>
            <a:r>
              <a:rPr lang="en-US" altLang="zh-CN" dirty="0" err="1"/>
              <a:t>d.petalLength</a:t>
            </a:r>
            <a:r>
              <a:rPr lang="en-US" altLang="zh-CN" dirty="0"/>
              <a:t>) </a:t>
            </a:r>
          </a:p>
          <a:p>
            <a:r>
              <a:rPr lang="en-US" altLang="zh-CN" dirty="0"/>
              <a:t>       .</a:t>
            </a:r>
            <a:r>
              <a:rPr lang="en-US" altLang="zh-CN" dirty="0" err="1"/>
              <a:t>positionZ</a:t>
            </a:r>
            <a:r>
              <a:rPr lang="en-US" altLang="zh-CN" dirty="0"/>
              <a:t>((</a:t>
            </a:r>
            <a:r>
              <a:rPr lang="en-US" altLang="zh-CN" dirty="0" err="1"/>
              <a:t>d,n,i</a:t>
            </a:r>
            <a:r>
              <a:rPr lang="en-US" altLang="zh-CN" dirty="0"/>
              <a:t>) =&gt; </a:t>
            </a:r>
            <a:r>
              <a:rPr lang="en-US" altLang="zh-CN" dirty="0" err="1"/>
              <a:t>d.sepalWidth</a:t>
            </a:r>
            <a:r>
              <a:rPr lang="en-US" altLang="zh-CN" dirty="0"/>
              <a:t>); </a:t>
            </a:r>
          </a:p>
        </p:txBody>
      </p:sp>
      <p:pic>
        <p:nvPicPr>
          <p:cNvPr id="3" name="图片 2">
            <a:extLst>
              <a:ext uri="{FF2B5EF4-FFF2-40B4-BE49-F238E27FC236}">
                <a16:creationId xmlns:a16="http://schemas.microsoft.com/office/drawing/2014/main" id="{00CD330D-52EB-5BA7-A9F2-429AF60ECDAB}"/>
              </a:ext>
            </a:extLst>
          </p:cNvPr>
          <p:cNvPicPr>
            <a:picLocks noChangeAspect="1"/>
          </p:cNvPicPr>
          <p:nvPr/>
        </p:nvPicPr>
        <p:blipFill>
          <a:blip r:embed="rId2"/>
          <a:stretch>
            <a:fillRect/>
          </a:stretch>
        </p:blipFill>
        <p:spPr>
          <a:xfrm>
            <a:off x="7585141" y="2087506"/>
            <a:ext cx="3219450" cy="3552825"/>
          </a:xfrm>
          <a:prstGeom prst="rect">
            <a:avLst/>
          </a:prstGeom>
        </p:spPr>
      </p:pic>
    </p:spTree>
    <p:extLst>
      <p:ext uri="{BB962C8B-B14F-4D97-AF65-F5344CB8AC3E}">
        <p14:creationId xmlns:p14="http://schemas.microsoft.com/office/powerpoint/2010/main" val="16480033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BC533-236D-DD07-49BC-CD4496BFFCE5}"/>
            </a:ext>
          </a:extLst>
        </p:cNvPr>
        <p:cNvGrpSpPr/>
        <p:nvPr/>
      </p:nvGrpSpPr>
      <p:grpSpPr>
        <a:xfrm>
          <a:off x="0" y="0"/>
          <a:ext cx="0" cy="0"/>
          <a:chOff x="0" y="0"/>
          <a:chExt cx="0" cy="0"/>
        </a:xfrm>
      </p:grpSpPr>
      <p:sp>
        <p:nvSpPr>
          <p:cNvPr id="12290" name="标题 1">
            <a:extLst>
              <a:ext uri="{FF2B5EF4-FFF2-40B4-BE49-F238E27FC236}">
                <a16:creationId xmlns:a16="http://schemas.microsoft.com/office/drawing/2014/main" id="{FB932848-DBF8-37DA-9B2F-0AF8C4E5B0B0}"/>
              </a:ext>
            </a:extLst>
          </p:cNvPr>
          <p:cNvSpPr>
            <a:spLocks noGrp="1" noChangeArrowheads="1"/>
          </p:cNvSpPr>
          <p:nvPr>
            <p:ph type="title"/>
          </p:nvPr>
        </p:nvSpPr>
        <p:spPr/>
        <p:txBody>
          <a:bodyPr>
            <a:normAutofit/>
          </a:bodyPr>
          <a:lstStyle/>
          <a:p>
            <a:r>
              <a:rPr lang="en-US" altLang="zh-CN" sz="4000" dirty="0">
                <a:latin typeface="+mn-ea"/>
                <a:ea typeface="+mn-ea"/>
              </a:rPr>
              <a:t>3D</a:t>
            </a:r>
            <a:r>
              <a:rPr lang="zh-CN" altLang="en-US" sz="4000" dirty="0"/>
              <a:t>散点图</a:t>
            </a:r>
            <a:endParaRPr lang="en-US" altLang="zh-CN" sz="4000" dirty="0"/>
          </a:p>
        </p:txBody>
      </p:sp>
      <p:sp>
        <p:nvSpPr>
          <p:cNvPr id="12291" name="内容占位符 2">
            <a:extLst>
              <a:ext uri="{FF2B5EF4-FFF2-40B4-BE49-F238E27FC236}">
                <a16:creationId xmlns:a16="http://schemas.microsoft.com/office/drawing/2014/main" id="{8577FFE0-99C8-1E6C-2FB7-349D7E682B30}"/>
              </a:ext>
            </a:extLst>
          </p:cNvPr>
          <p:cNvSpPr>
            <a:spLocks noGrp="1" noChangeArrowheads="1"/>
          </p:cNvSpPr>
          <p:nvPr>
            <p:ph idx="1"/>
          </p:nvPr>
        </p:nvSpPr>
        <p:spPr>
          <a:xfrm>
            <a:off x="1251678" y="1389894"/>
            <a:ext cx="10178322" cy="1191382"/>
          </a:xfrm>
        </p:spPr>
        <p:txBody>
          <a:bodyPr/>
          <a:lstStyle/>
          <a:p>
            <a:r>
              <a:rPr lang="zh-CN" altLang="en-US" dirty="0"/>
              <a:t>利用</a:t>
            </a:r>
            <a:r>
              <a:rPr lang="en-US" altLang="zh-CN" dirty="0"/>
              <a:t>D3</a:t>
            </a:r>
            <a:r>
              <a:rPr lang="zh-CN" altLang="en-US" dirty="0"/>
              <a:t>的比例方法来进行从数据维度到 </a:t>
            </a:r>
            <a:r>
              <a:rPr lang="en-US" altLang="zh-CN" dirty="0"/>
              <a:t>3D </a:t>
            </a:r>
            <a:r>
              <a:rPr lang="zh-CN" altLang="en-US" dirty="0"/>
              <a:t>坐标的转换。</a:t>
            </a:r>
            <a:endParaRPr lang="en-US" altLang="zh-CN" dirty="0"/>
          </a:p>
          <a:p>
            <a:pPr marL="0" indent="0">
              <a:buNone/>
            </a:pPr>
            <a:r>
              <a:rPr lang="zh-CN" altLang="en-US" dirty="0"/>
              <a:t>使用</a:t>
            </a:r>
            <a:r>
              <a:rPr lang="en-US" altLang="zh-CN" dirty="0"/>
              <a:t>D3</a:t>
            </a:r>
            <a:r>
              <a:rPr lang="zh-CN" altLang="en-US" dirty="0"/>
              <a:t>的</a:t>
            </a:r>
            <a:r>
              <a:rPr lang="en-US" altLang="zh-CN" dirty="0" err="1"/>
              <a:t>scaleLinear</a:t>
            </a:r>
            <a:r>
              <a:rPr lang="en-US" altLang="zh-CN" dirty="0"/>
              <a:t>()</a:t>
            </a:r>
            <a:r>
              <a:rPr lang="zh-CN" altLang="en-US" dirty="0"/>
              <a:t>，我们将数据值转换到</a:t>
            </a:r>
            <a:r>
              <a:rPr lang="en-US" altLang="zh-CN" dirty="0"/>
              <a:t>Babylon.js</a:t>
            </a:r>
            <a:r>
              <a:rPr lang="zh-CN" altLang="en-US" dirty="0"/>
              <a:t>的</a:t>
            </a:r>
            <a:r>
              <a:rPr lang="en-US" altLang="zh-CN" dirty="0"/>
              <a:t>3D</a:t>
            </a:r>
            <a:r>
              <a:rPr lang="zh-CN" altLang="en-US" dirty="0"/>
              <a:t>坐标系。值域是给定数据维度的最小值和最大值（即范围），范围是</a:t>
            </a:r>
            <a:r>
              <a:rPr lang="en-US" altLang="zh-CN" dirty="0"/>
              <a:t>scale</a:t>
            </a:r>
            <a:r>
              <a:rPr lang="zh-CN" altLang="en-US" dirty="0"/>
              <a:t>函数输出的最小值和最大值。</a:t>
            </a:r>
          </a:p>
        </p:txBody>
      </p:sp>
      <p:sp>
        <p:nvSpPr>
          <p:cNvPr id="2" name="矩形 1">
            <a:extLst>
              <a:ext uri="{FF2B5EF4-FFF2-40B4-BE49-F238E27FC236}">
                <a16:creationId xmlns:a16="http://schemas.microsoft.com/office/drawing/2014/main" id="{4C9FA349-1A65-759E-2303-FAD2078CD233}"/>
              </a:ext>
            </a:extLst>
          </p:cNvPr>
          <p:cNvSpPr/>
          <p:nvPr/>
        </p:nvSpPr>
        <p:spPr>
          <a:xfrm>
            <a:off x="1375503" y="2882026"/>
            <a:ext cx="5453922" cy="3539430"/>
          </a:xfrm>
          <a:prstGeom prst="rect">
            <a:avLst/>
          </a:prstGeom>
          <a:solidFill>
            <a:schemeClr val="bg1">
              <a:lumMod val="85000"/>
            </a:schemeClr>
          </a:solidFill>
        </p:spPr>
        <p:txBody>
          <a:bodyPr wrap="square">
            <a:spAutoFit/>
          </a:bodyPr>
          <a:lstStyle/>
          <a:p>
            <a:r>
              <a:rPr lang="en-US" altLang="zh-CN" sz="1400" dirty="0"/>
              <a:t>import { extent, </a:t>
            </a:r>
            <a:r>
              <a:rPr lang="en-US" altLang="zh-CN" sz="1400" dirty="0" err="1"/>
              <a:t>scaleLinear</a:t>
            </a:r>
            <a:r>
              <a:rPr lang="en-US" altLang="zh-CN" sz="1400" dirty="0"/>
              <a:t>, map } from "d3"; </a:t>
            </a:r>
          </a:p>
          <a:p>
            <a:endParaRPr lang="en-US" altLang="zh-CN" sz="1400" dirty="0"/>
          </a:p>
          <a:p>
            <a:r>
              <a:rPr lang="en-US" altLang="zh-CN" sz="1400" dirty="0"/>
              <a:t>let </a:t>
            </a:r>
            <a:r>
              <a:rPr lang="en-US" altLang="zh-CN" sz="1400" dirty="0" err="1"/>
              <a:t>extentX</a:t>
            </a:r>
            <a:r>
              <a:rPr lang="en-US" altLang="zh-CN" sz="1400" dirty="0"/>
              <a:t> = extent(map(iris, (d) =&gt; {return </a:t>
            </a:r>
            <a:r>
              <a:rPr lang="en-US" altLang="zh-CN" sz="1400" dirty="0" err="1"/>
              <a:t>d.sepalLength</a:t>
            </a:r>
            <a:r>
              <a:rPr lang="en-US" altLang="zh-CN" sz="1400" dirty="0"/>
              <a:t>})); </a:t>
            </a:r>
          </a:p>
          <a:p>
            <a:r>
              <a:rPr lang="en-US" altLang="zh-CN" sz="1400" dirty="0"/>
              <a:t>let </a:t>
            </a:r>
            <a:r>
              <a:rPr lang="en-US" altLang="zh-CN" sz="1400" dirty="0" err="1"/>
              <a:t>extentY</a:t>
            </a:r>
            <a:r>
              <a:rPr lang="en-US" altLang="zh-CN" sz="1400" dirty="0"/>
              <a:t> = extent(map(iris, (d) =&gt; {return </a:t>
            </a:r>
            <a:r>
              <a:rPr lang="en-US" altLang="zh-CN" sz="1400" dirty="0" err="1"/>
              <a:t>d.petalLength</a:t>
            </a:r>
            <a:r>
              <a:rPr lang="en-US" altLang="zh-CN" sz="1400" dirty="0"/>
              <a:t>})); </a:t>
            </a:r>
          </a:p>
          <a:p>
            <a:r>
              <a:rPr lang="en-US" altLang="zh-CN" sz="1400" dirty="0"/>
              <a:t>let </a:t>
            </a:r>
            <a:r>
              <a:rPr lang="en-US" altLang="zh-CN" sz="1400" dirty="0" err="1"/>
              <a:t>extentZ</a:t>
            </a:r>
            <a:r>
              <a:rPr lang="en-US" altLang="zh-CN" sz="1400" dirty="0"/>
              <a:t> = extent(map(iris, (d) =&gt; {return </a:t>
            </a:r>
            <a:r>
              <a:rPr lang="en-US" altLang="zh-CN" sz="1400" dirty="0" err="1"/>
              <a:t>d.sepalWidth</a:t>
            </a:r>
            <a:r>
              <a:rPr lang="en-US" altLang="zh-CN" sz="1400" dirty="0"/>
              <a:t>})); </a:t>
            </a:r>
          </a:p>
          <a:p>
            <a:endParaRPr lang="en-US" altLang="zh-CN" sz="1400" dirty="0"/>
          </a:p>
          <a:p>
            <a:r>
              <a:rPr lang="en-US" altLang="zh-CN" sz="1400" dirty="0"/>
              <a:t>let </a:t>
            </a:r>
            <a:r>
              <a:rPr lang="en-US" altLang="zh-CN" sz="1400" dirty="0" err="1"/>
              <a:t>scaleX</a:t>
            </a:r>
            <a:r>
              <a:rPr lang="en-US" altLang="zh-CN" sz="1400" dirty="0"/>
              <a:t> = </a:t>
            </a:r>
            <a:r>
              <a:rPr lang="en-US" altLang="zh-CN" sz="1400" dirty="0" err="1"/>
              <a:t>scaleLinear</a:t>
            </a:r>
            <a:r>
              <a:rPr lang="en-US" altLang="zh-CN" sz="1400" dirty="0"/>
              <a:t>().domain(</a:t>
            </a:r>
            <a:r>
              <a:rPr lang="en-US" altLang="zh-CN" sz="1400" dirty="0" err="1"/>
              <a:t>extentX</a:t>
            </a:r>
            <a:r>
              <a:rPr lang="en-US" altLang="zh-CN" sz="1400" dirty="0"/>
              <a:t>).range([-10,10]).nice(); </a:t>
            </a:r>
          </a:p>
          <a:p>
            <a:r>
              <a:rPr lang="en-US" altLang="zh-CN" sz="1400" dirty="0"/>
              <a:t>let </a:t>
            </a:r>
            <a:r>
              <a:rPr lang="en-US" altLang="zh-CN" sz="1400" dirty="0" err="1"/>
              <a:t>scaleY</a:t>
            </a:r>
            <a:r>
              <a:rPr lang="en-US" altLang="zh-CN" sz="1400" dirty="0"/>
              <a:t> = </a:t>
            </a:r>
            <a:r>
              <a:rPr lang="en-US" altLang="zh-CN" sz="1400" dirty="0" err="1"/>
              <a:t>scaleLinear</a:t>
            </a:r>
            <a:r>
              <a:rPr lang="en-US" altLang="zh-CN" sz="1400" dirty="0"/>
              <a:t>().domain(</a:t>
            </a:r>
            <a:r>
              <a:rPr lang="en-US" altLang="zh-CN" sz="1400" dirty="0" err="1"/>
              <a:t>extentY</a:t>
            </a:r>
            <a:r>
              <a:rPr lang="en-US" altLang="zh-CN" sz="1400" dirty="0"/>
              <a:t>).range([-10,10]).nice(); </a:t>
            </a:r>
          </a:p>
          <a:p>
            <a:r>
              <a:rPr lang="en-US" altLang="zh-CN" sz="1400" dirty="0"/>
              <a:t>let </a:t>
            </a:r>
            <a:r>
              <a:rPr lang="en-US" altLang="zh-CN" sz="1400" dirty="0" err="1"/>
              <a:t>scaleZ</a:t>
            </a:r>
            <a:r>
              <a:rPr lang="en-US" altLang="zh-CN" sz="1400" dirty="0"/>
              <a:t> = </a:t>
            </a:r>
            <a:r>
              <a:rPr lang="en-US" altLang="zh-CN" sz="1400" dirty="0" err="1"/>
              <a:t>scaleLinear</a:t>
            </a:r>
            <a:r>
              <a:rPr lang="en-US" altLang="zh-CN" sz="1400" dirty="0"/>
              <a:t>().domain(</a:t>
            </a:r>
            <a:r>
              <a:rPr lang="en-US" altLang="zh-CN" sz="1400" dirty="0" err="1"/>
              <a:t>extentZ</a:t>
            </a:r>
            <a:r>
              <a:rPr lang="en-US" altLang="zh-CN" sz="1400" dirty="0"/>
              <a:t>).range([-10,10]).nice(); </a:t>
            </a:r>
          </a:p>
          <a:p>
            <a:endParaRPr lang="en-US" altLang="zh-CN" sz="1400" dirty="0"/>
          </a:p>
          <a:p>
            <a:r>
              <a:rPr lang="en-US" altLang="zh-CN" sz="1400" dirty="0"/>
              <a:t>let cot = </a:t>
            </a:r>
            <a:r>
              <a:rPr lang="en-US" altLang="zh-CN" sz="1400" dirty="0" err="1"/>
              <a:t>anu.bind</a:t>
            </a:r>
            <a:r>
              <a:rPr lang="en-US" altLang="zh-CN" sz="1400" dirty="0"/>
              <a:t>('cot');</a:t>
            </a:r>
          </a:p>
          <a:p>
            <a:r>
              <a:rPr lang="en-US" altLang="zh-CN" sz="1400" dirty="0"/>
              <a:t>let spheres = </a:t>
            </a:r>
            <a:r>
              <a:rPr lang="en-US" altLang="zh-CN" sz="1400" dirty="0" err="1"/>
              <a:t>cot.bind</a:t>
            </a:r>
            <a:r>
              <a:rPr lang="en-US" altLang="zh-CN" sz="1400" dirty="0"/>
              <a:t>('sphere', {diameter: 0.5}, iris);</a:t>
            </a:r>
          </a:p>
          <a:p>
            <a:endParaRPr lang="en-US" altLang="zh-CN" sz="1400" dirty="0"/>
          </a:p>
          <a:p>
            <a:r>
              <a:rPr lang="en-US" altLang="zh-CN" sz="1400" dirty="0" err="1"/>
              <a:t>spheres.positionX</a:t>
            </a:r>
            <a:r>
              <a:rPr lang="en-US" altLang="zh-CN" sz="1400" dirty="0"/>
              <a:t>((</a:t>
            </a:r>
            <a:r>
              <a:rPr lang="en-US" altLang="zh-CN" sz="1400" dirty="0" err="1"/>
              <a:t>d,n,i</a:t>
            </a:r>
            <a:r>
              <a:rPr lang="en-US" altLang="zh-CN" sz="1400" dirty="0"/>
              <a:t>) =&gt; </a:t>
            </a:r>
            <a:r>
              <a:rPr lang="en-US" altLang="zh-CN" sz="1400" dirty="0" err="1"/>
              <a:t>scaleX</a:t>
            </a:r>
            <a:r>
              <a:rPr lang="en-US" altLang="zh-CN" sz="1400" dirty="0"/>
              <a:t>(</a:t>
            </a:r>
            <a:r>
              <a:rPr lang="en-US" altLang="zh-CN" sz="1400" dirty="0" err="1"/>
              <a:t>d.sepalLength</a:t>
            </a:r>
            <a:r>
              <a:rPr lang="en-US" altLang="zh-CN" sz="1400" dirty="0"/>
              <a:t>)) </a:t>
            </a:r>
          </a:p>
          <a:p>
            <a:r>
              <a:rPr lang="en-US" altLang="zh-CN" sz="1400" dirty="0"/>
              <a:t>       .</a:t>
            </a:r>
            <a:r>
              <a:rPr lang="en-US" altLang="zh-CN" sz="1400" dirty="0" err="1"/>
              <a:t>positionY</a:t>
            </a:r>
            <a:r>
              <a:rPr lang="en-US" altLang="zh-CN" sz="1400" dirty="0"/>
              <a:t>((</a:t>
            </a:r>
            <a:r>
              <a:rPr lang="en-US" altLang="zh-CN" sz="1400" dirty="0" err="1"/>
              <a:t>d,n,i</a:t>
            </a:r>
            <a:r>
              <a:rPr lang="en-US" altLang="zh-CN" sz="1400" dirty="0"/>
              <a:t>) =&gt; </a:t>
            </a:r>
            <a:r>
              <a:rPr lang="en-US" altLang="zh-CN" sz="1400" dirty="0" err="1"/>
              <a:t>scaleY</a:t>
            </a:r>
            <a:r>
              <a:rPr lang="en-US" altLang="zh-CN" sz="1400" dirty="0"/>
              <a:t>(</a:t>
            </a:r>
            <a:r>
              <a:rPr lang="en-US" altLang="zh-CN" sz="1400" dirty="0" err="1"/>
              <a:t>d.petalLength</a:t>
            </a:r>
            <a:r>
              <a:rPr lang="en-US" altLang="zh-CN" sz="1400" dirty="0"/>
              <a:t>)) </a:t>
            </a:r>
          </a:p>
          <a:p>
            <a:r>
              <a:rPr lang="en-US" altLang="zh-CN" sz="1400" dirty="0"/>
              <a:t>       .</a:t>
            </a:r>
            <a:r>
              <a:rPr lang="en-US" altLang="zh-CN" sz="1400" dirty="0" err="1"/>
              <a:t>positionZ</a:t>
            </a:r>
            <a:r>
              <a:rPr lang="en-US" altLang="zh-CN" sz="1400" dirty="0"/>
              <a:t>((</a:t>
            </a:r>
            <a:r>
              <a:rPr lang="en-US" altLang="zh-CN" sz="1400" dirty="0" err="1"/>
              <a:t>d,n,i</a:t>
            </a:r>
            <a:r>
              <a:rPr lang="en-US" altLang="zh-CN" sz="1400" dirty="0"/>
              <a:t>) =&gt; </a:t>
            </a:r>
            <a:r>
              <a:rPr lang="en-US" altLang="zh-CN" sz="1400" dirty="0" err="1"/>
              <a:t>scaleZ</a:t>
            </a:r>
            <a:r>
              <a:rPr lang="en-US" altLang="zh-CN" sz="1400" dirty="0"/>
              <a:t>(</a:t>
            </a:r>
            <a:r>
              <a:rPr lang="en-US" altLang="zh-CN" sz="1400" dirty="0" err="1"/>
              <a:t>d.sepalWidth</a:t>
            </a:r>
            <a:r>
              <a:rPr lang="en-US" altLang="zh-CN" sz="1400" dirty="0"/>
              <a:t>)); </a:t>
            </a:r>
          </a:p>
        </p:txBody>
      </p:sp>
      <p:pic>
        <p:nvPicPr>
          <p:cNvPr id="7" name="图片 6">
            <a:extLst>
              <a:ext uri="{FF2B5EF4-FFF2-40B4-BE49-F238E27FC236}">
                <a16:creationId xmlns:a16="http://schemas.microsoft.com/office/drawing/2014/main" id="{B613F233-662F-376B-4FCE-C44347AF0151}"/>
              </a:ext>
            </a:extLst>
          </p:cNvPr>
          <p:cNvPicPr>
            <a:picLocks noChangeAspect="1"/>
          </p:cNvPicPr>
          <p:nvPr/>
        </p:nvPicPr>
        <p:blipFill>
          <a:blip r:embed="rId2"/>
          <a:stretch>
            <a:fillRect/>
          </a:stretch>
        </p:blipFill>
        <p:spPr>
          <a:xfrm>
            <a:off x="7419935" y="2882026"/>
            <a:ext cx="2990890" cy="3539430"/>
          </a:xfrm>
          <a:prstGeom prst="rect">
            <a:avLst/>
          </a:prstGeom>
        </p:spPr>
      </p:pic>
    </p:spTree>
    <p:extLst>
      <p:ext uri="{BB962C8B-B14F-4D97-AF65-F5344CB8AC3E}">
        <p14:creationId xmlns:p14="http://schemas.microsoft.com/office/powerpoint/2010/main" val="994207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89131-FD1D-7606-A9D7-D49DDB48881A}"/>
            </a:ext>
          </a:extLst>
        </p:cNvPr>
        <p:cNvGrpSpPr/>
        <p:nvPr/>
      </p:nvGrpSpPr>
      <p:grpSpPr>
        <a:xfrm>
          <a:off x="0" y="0"/>
          <a:ext cx="0" cy="0"/>
          <a:chOff x="0" y="0"/>
          <a:chExt cx="0" cy="0"/>
        </a:xfrm>
      </p:grpSpPr>
      <p:sp>
        <p:nvSpPr>
          <p:cNvPr id="12290" name="标题 1">
            <a:extLst>
              <a:ext uri="{FF2B5EF4-FFF2-40B4-BE49-F238E27FC236}">
                <a16:creationId xmlns:a16="http://schemas.microsoft.com/office/drawing/2014/main" id="{1CA95CC7-0A39-0F09-670D-92EA39E93D8C}"/>
              </a:ext>
            </a:extLst>
          </p:cNvPr>
          <p:cNvSpPr>
            <a:spLocks noGrp="1" noChangeArrowheads="1"/>
          </p:cNvSpPr>
          <p:nvPr>
            <p:ph type="title"/>
          </p:nvPr>
        </p:nvSpPr>
        <p:spPr/>
        <p:txBody>
          <a:bodyPr>
            <a:normAutofit/>
          </a:bodyPr>
          <a:lstStyle/>
          <a:p>
            <a:r>
              <a:rPr lang="en-US" altLang="zh-CN" sz="4000" dirty="0">
                <a:latin typeface="+mn-ea"/>
                <a:ea typeface="+mn-ea"/>
              </a:rPr>
              <a:t>3D</a:t>
            </a:r>
            <a:r>
              <a:rPr lang="zh-CN" altLang="en-US" sz="4000" dirty="0"/>
              <a:t>散点图</a:t>
            </a:r>
            <a:endParaRPr lang="en-US" altLang="zh-CN" sz="4000" dirty="0"/>
          </a:p>
        </p:txBody>
      </p:sp>
      <p:sp>
        <p:nvSpPr>
          <p:cNvPr id="12291" name="内容占位符 2">
            <a:extLst>
              <a:ext uri="{FF2B5EF4-FFF2-40B4-BE49-F238E27FC236}">
                <a16:creationId xmlns:a16="http://schemas.microsoft.com/office/drawing/2014/main" id="{B09FD097-A1A0-38D0-3541-92E4B7083A37}"/>
              </a:ext>
            </a:extLst>
          </p:cNvPr>
          <p:cNvSpPr>
            <a:spLocks noGrp="1" noChangeArrowheads="1"/>
          </p:cNvSpPr>
          <p:nvPr>
            <p:ph idx="1"/>
          </p:nvPr>
        </p:nvSpPr>
        <p:spPr>
          <a:xfrm>
            <a:off x="1251678" y="1389894"/>
            <a:ext cx="4844322" cy="1191382"/>
          </a:xfrm>
        </p:spPr>
        <p:txBody>
          <a:bodyPr>
            <a:normAutofit/>
          </a:bodyPr>
          <a:lstStyle/>
          <a:p>
            <a:r>
              <a:rPr lang="zh-CN" altLang="en-US" b="1" dirty="0"/>
              <a:t>添加坐标轴</a:t>
            </a:r>
            <a:endParaRPr lang="en-US" altLang="zh-CN" b="1" dirty="0"/>
          </a:p>
        </p:txBody>
      </p:sp>
      <p:sp>
        <p:nvSpPr>
          <p:cNvPr id="4" name="矩形 3">
            <a:extLst>
              <a:ext uri="{FF2B5EF4-FFF2-40B4-BE49-F238E27FC236}">
                <a16:creationId xmlns:a16="http://schemas.microsoft.com/office/drawing/2014/main" id="{9AC06B48-E19B-4F81-CFC0-48C14B9B4C52}"/>
              </a:ext>
            </a:extLst>
          </p:cNvPr>
          <p:cNvSpPr/>
          <p:nvPr/>
        </p:nvSpPr>
        <p:spPr>
          <a:xfrm>
            <a:off x="1435894" y="1878705"/>
            <a:ext cx="5117306" cy="738664"/>
          </a:xfrm>
          <a:prstGeom prst="rect">
            <a:avLst/>
          </a:prstGeom>
          <a:solidFill>
            <a:schemeClr val="bg1">
              <a:lumMod val="85000"/>
            </a:schemeClr>
          </a:solidFill>
        </p:spPr>
        <p:txBody>
          <a:bodyPr wrap="square">
            <a:spAutoFit/>
          </a:bodyPr>
          <a:lstStyle/>
          <a:p>
            <a:r>
              <a:rPr lang="en-US" altLang="zh-CN" sz="1400" dirty="0" err="1"/>
              <a:t>anu.createAxes</a:t>
            </a:r>
            <a:r>
              <a:rPr lang="en-US" altLang="zh-CN" sz="1400" dirty="0"/>
              <a:t>('axes', { scale: { x: </a:t>
            </a:r>
            <a:r>
              <a:rPr lang="en-US" altLang="zh-CN" sz="1400" dirty="0" err="1"/>
              <a:t>scaleX</a:t>
            </a:r>
            <a:r>
              <a:rPr lang="en-US" altLang="zh-CN" sz="1400" dirty="0"/>
              <a:t>, y: </a:t>
            </a:r>
            <a:r>
              <a:rPr lang="en-US" altLang="zh-CN" sz="1400" dirty="0" err="1"/>
              <a:t>scaleY</a:t>
            </a:r>
            <a:r>
              <a:rPr lang="en-US" altLang="zh-CN" sz="1400" dirty="0"/>
              <a:t>, z: </a:t>
            </a:r>
            <a:r>
              <a:rPr lang="en-US" altLang="zh-CN" sz="1400" dirty="0" err="1"/>
              <a:t>scaleZ</a:t>
            </a:r>
            <a:r>
              <a:rPr lang="en-US" altLang="zh-CN" sz="1400" dirty="0"/>
              <a:t> }, </a:t>
            </a:r>
          </a:p>
          <a:p>
            <a:r>
              <a:rPr lang="en-US" altLang="zh-CN" sz="1400" dirty="0"/>
              <a:t>                         parent: cot </a:t>
            </a:r>
          </a:p>
          <a:p>
            <a:r>
              <a:rPr lang="en-US" altLang="zh-CN" sz="1400" dirty="0"/>
              <a:t>                       }); </a:t>
            </a:r>
          </a:p>
        </p:txBody>
      </p:sp>
      <p:sp>
        <p:nvSpPr>
          <p:cNvPr id="7" name="内容占位符 2">
            <a:extLst>
              <a:ext uri="{FF2B5EF4-FFF2-40B4-BE49-F238E27FC236}">
                <a16:creationId xmlns:a16="http://schemas.microsoft.com/office/drawing/2014/main" id="{069241C5-5A21-211D-B67A-C705A43A0894}"/>
              </a:ext>
            </a:extLst>
          </p:cNvPr>
          <p:cNvSpPr txBox="1">
            <a:spLocks noChangeArrowheads="1"/>
          </p:cNvSpPr>
          <p:nvPr/>
        </p:nvSpPr>
        <p:spPr>
          <a:xfrm>
            <a:off x="1251678" y="2882026"/>
            <a:ext cx="4844322" cy="1191382"/>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r>
              <a:rPr lang="zh-CN" altLang="en-US" b="1" dirty="0"/>
              <a:t>添加随机颜色</a:t>
            </a:r>
            <a:endParaRPr lang="en-US" altLang="zh-CN" b="1" dirty="0"/>
          </a:p>
        </p:txBody>
      </p:sp>
      <p:sp>
        <p:nvSpPr>
          <p:cNvPr id="8" name="矩形 7">
            <a:extLst>
              <a:ext uri="{FF2B5EF4-FFF2-40B4-BE49-F238E27FC236}">
                <a16:creationId xmlns:a16="http://schemas.microsoft.com/office/drawing/2014/main" id="{DD12E65E-4575-3447-8630-24EC7DE8EF5E}"/>
              </a:ext>
            </a:extLst>
          </p:cNvPr>
          <p:cNvSpPr/>
          <p:nvPr/>
        </p:nvSpPr>
        <p:spPr>
          <a:xfrm>
            <a:off x="1435893" y="3473243"/>
            <a:ext cx="5117305" cy="2677656"/>
          </a:xfrm>
          <a:prstGeom prst="rect">
            <a:avLst/>
          </a:prstGeom>
          <a:solidFill>
            <a:schemeClr val="bg1">
              <a:lumMod val="85000"/>
            </a:schemeClr>
          </a:solidFill>
        </p:spPr>
        <p:txBody>
          <a:bodyPr wrap="square">
            <a:spAutoFit/>
          </a:bodyPr>
          <a:lstStyle/>
          <a:p>
            <a:r>
              <a:rPr lang="en-US" altLang="zh-CN" sz="1400" dirty="0" err="1"/>
              <a:t>spheres.positionX</a:t>
            </a:r>
            <a:r>
              <a:rPr lang="en-US" altLang="zh-CN" sz="1400" dirty="0"/>
              <a:t>((</a:t>
            </a:r>
            <a:r>
              <a:rPr lang="en-US" altLang="zh-CN" sz="1400" dirty="0" err="1"/>
              <a:t>d,n,i</a:t>
            </a:r>
            <a:r>
              <a:rPr lang="en-US" altLang="zh-CN" sz="1400" dirty="0"/>
              <a:t>) =&gt; </a:t>
            </a:r>
            <a:r>
              <a:rPr lang="en-US" altLang="zh-CN" sz="1400" dirty="0" err="1"/>
              <a:t>scaleX</a:t>
            </a:r>
            <a:r>
              <a:rPr lang="en-US" altLang="zh-CN" sz="1400" dirty="0"/>
              <a:t>(</a:t>
            </a:r>
            <a:r>
              <a:rPr lang="en-US" altLang="zh-CN" sz="1400" dirty="0" err="1"/>
              <a:t>d.sepalLength</a:t>
            </a:r>
            <a:r>
              <a:rPr lang="en-US" altLang="zh-CN" sz="1400" dirty="0"/>
              <a:t>))</a:t>
            </a:r>
          </a:p>
          <a:p>
            <a:r>
              <a:rPr lang="en-US" altLang="zh-CN" sz="1400" dirty="0"/>
              <a:t>       .</a:t>
            </a:r>
            <a:r>
              <a:rPr lang="en-US" altLang="zh-CN" sz="1400" dirty="0" err="1"/>
              <a:t>positionY</a:t>
            </a:r>
            <a:r>
              <a:rPr lang="en-US" altLang="zh-CN" sz="1400" dirty="0"/>
              <a:t>((</a:t>
            </a:r>
            <a:r>
              <a:rPr lang="en-US" altLang="zh-CN" sz="1400" dirty="0" err="1"/>
              <a:t>d,n,i</a:t>
            </a:r>
            <a:r>
              <a:rPr lang="en-US" altLang="zh-CN" sz="1400" dirty="0"/>
              <a:t>) =&gt; </a:t>
            </a:r>
            <a:r>
              <a:rPr lang="en-US" altLang="zh-CN" sz="1400" dirty="0" err="1"/>
              <a:t>scaleY</a:t>
            </a:r>
            <a:r>
              <a:rPr lang="en-US" altLang="zh-CN" sz="1400" dirty="0"/>
              <a:t>(</a:t>
            </a:r>
            <a:r>
              <a:rPr lang="en-US" altLang="zh-CN" sz="1400" dirty="0" err="1"/>
              <a:t>d.petalLength</a:t>
            </a:r>
            <a:r>
              <a:rPr lang="en-US" altLang="zh-CN" sz="1400" dirty="0"/>
              <a:t>))</a:t>
            </a:r>
          </a:p>
          <a:p>
            <a:r>
              <a:rPr lang="en-US" altLang="zh-CN" sz="1400" dirty="0"/>
              <a:t>       .</a:t>
            </a:r>
            <a:r>
              <a:rPr lang="en-US" altLang="zh-CN" sz="1400" dirty="0" err="1"/>
              <a:t>positionZ</a:t>
            </a:r>
            <a:r>
              <a:rPr lang="en-US" altLang="zh-CN" sz="1400" dirty="0"/>
              <a:t>((</a:t>
            </a:r>
            <a:r>
              <a:rPr lang="en-US" altLang="zh-CN" sz="1400" dirty="0" err="1"/>
              <a:t>d,n,i</a:t>
            </a:r>
            <a:r>
              <a:rPr lang="en-US" altLang="zh-CN" sz="1400" dirty="0"/>
              <a:t>) =&gt; </a:t>
            </a:r>
            <a:r>
              <a:rPr lang="en-US" altLang="zh-CN" sz="1400" dirty="0" err="1"/>
              <a:t>scaleZ</a:t>
            </a:r>
            <a:r>
              <a:rPr lang="en-US" altLang="zh-CN" sz="1400" dirty="0"/>
              <a:t>(</a:t>
            </a:r>
            <a:r>
              <a:rPr lang="en-US" altLang="zh-CN" sz="1400" dirty="0" err="1"/>
              <a:t>d.sepalWidth</a:t>
            </a:r>
            <a:r>
              <a:rPr lang="en-US" altLang="zh-CN" sz="1400" dirty="0"/>
              <a:t>))</a:t>
            </a:r>
          </a:p>
          <a:p>
            <a:r>
              <a:rPr lang="en-US" altLang="zh-CN" sz="1400" dirty="0"/>
              <a:t>       .material((</a:t>
            </a:r>
            <a:r>
              <a:rPr lang="en-US" altLang="zh-CN" sz="1400" dirty="0" err="1"/>
              <a:t>d,n,i</a:t>
            </a:r>
            <a:r>
              <a:rPr lang="en-US" altLang="zh-CN" sz="1400" dirty="0"/>
              <a:t>) =&gt; new </a:t>
            </a:r>
            <a:r>
              <a:rPr lang="en-US" altLang="zh-CN" sz="1400" dirty="0" err="1"/>
              <a:t>StandardMaterial</a:t>
            </a:r>
            <a:r>
              <a:rPr lang="en-US" altLang="zh-CN" sz="1400" dirty="0"/>
              <a:t>("</a:t>
            </a:r>
            <a:r>
              <a:rPr lang="en-US" altLang="zh-CN" sz="1400" dirty="0" err="1"/>
              <a:t>myMaterial</a:t>
            </a:r>
            <a:r>
              <a:rPr lang="en-US" altLang="zh-CN" sz="1400" dirty="0"/>
              <a:t>" + </a:t>
            </a:r>
            <a:r>
              <a:rPr lang="en-US" altLang="zh-CN" sz="1400" dirty="0" err="1"/>
              <a:t>i</a:t>
            </a:r>
            <a:r>
              <a:rPr lang="en-US" altLang="zh-CN" sz="1400" dirty="0"/>
              <a:t>, scene)) </a:t>
            </a:r>
          </a:p>
          <a:p>
            <a:r>
              <a:rPr lang="en-US" altLang="zh-CN" sz="1400" dirty="0"/>
              <a:t>       .</a:t>
            </a:r>
            <a:r>
              <a:rPr lang="en-US" altLang="zh-CN" sz="1400" dirty="0" err="1"/>
              <a:t>diffuseColor</a:t>
            </a:r>
            <a:r>
              <a:rPr lang="en-US" altLang="zh-CN" sz="1400" dirty="0"/>
              <a:t>(() =&gt; new Color3(</a:t>
            </a:r>
            <a:r>
              <a:rPr lang="en-US" altLang="zh-CN" sz="1400" dirty="0" err="1"/>
              <a:t>Math.random</a:t>
            </a:r>
            <a:r>
              <a:rPr lang="en-US" altLang="zh-CN" sz="1400" dirty="0"/>
              <a:t>(), </a:t>
            </a:r>
            <a:r>
              <a:rPr lang="en-US" altLang="zh-CN" sz="1400" dirty="0" err="1"/>
              <a:t>Math.random</a:t>
            </a:r>
            <a:r>
              <a:rPr lang="en-US" altLang="zh-CN" sz="1400" dirty="0"/>
              <a:t>(), </a:t>
            </a:r>
            <a:r>
              <a:rPr lang="en-US" altLang="zh-CN" sz="1400" dirty="0" err="1"/>
              <a:t>Math.random</a:t>
            </a:r>
            <a:r>
              <a:rPr lang="en-US" altLang="zh-CN" sz="1400" dirty="0"/>
              <a:t>()));</a:t>
            </a:r>
          </a:p>
          <a:p>
            <a:endParaRPr lang="en-US" altLang="zh-CN" sz="1400" dirty="0"/>
          </a:p>
          <a:p>
            <a:r>
              <a:rPr lang="en-US" altLang="zh-CN" sz="1400" dirty="0"/>
              <a:t>//name, options</a:t>
            </a:r>
          </a:p>
          <a:p>
            <a:r>
              <a:rPr lang="en-US" altLang="zh-CN" sz="1400" dirty="0" err="1"/>
              <a:t>anu.createAxes</a:t>
            </a:r>
            <a:r>
              <a:rPr lang="en-US" altLang="zh-CN" sz="1400" dirty="0"/>
              <a:t>('axes', { scale: { x: </a:t>
            </a:r>
            <a:r>
              <a:rPr lang="en-US" altLang="zh-CN" sz="1400" dirty="0" err="1"/>
              <a:t>scaleX</a:t>
            </a:r>
            <a:r>
              <a:rPr lang="en-US" altLang="zh-CN" sz="1400" dirty="0"/>
              <a:t>, y: </a:t>
            </a:r>
            <a:r>
              <a:rPr lang="en-US" altLang="zh-CN" sz="1400" dirty="0" err="1"/>
              <a:t>scaleY</a:t>
            </a:r>
            <a:r>
              <a:rPr lang="en-US" altLang="zh-CN" sz="1400" dirty="0"/>
              <a:t>, z: </a:t>
            </a:r>
            <a:r>
              <a:rPr lang="en-US" altLang="zh-CN" sz="1400" dirty="0" err="1"/>
              <a:t>scaleZ</a:t>
            </a:r>
            <a:r>
              <a:rPr lang="en-US" altLang="zh-CN" sz="1400" dirty="0"/>
              <a:t> }, </a:t>
            </a:r>
          </a:p>
          <a:p>
            <a:r>
              <a:rPr lang="en-US" altLang="zh-CN" sz="1400" dirty="0"/>
              <a:t>                         parent: cot </a:t>
            </a:r>
          </a:p>
          <a:p>
            <a:r>
              <a:rPr lang="en-US" altLang="zh-CN" sz="1400" dirty="0"/>
              <a:t>                       }); </a:t>
            </a:r>
          </a:p>
        </p:txBody>
      </p:sp>
      <p:pic>
        <p:nvPicPr>
          <p:cNvPr id="10" name="图片 9">
            <a:extLst>
              <a:ext uri="{FF2B5EF4-FFF2-40B4-BE49-F238E27FC236}">
                <a16:creationId xmlns:a16="http://schemas.microsoft.com/office/drawing/2014/main" id="{414327B6-DBE7-6D6B-F112-53519864DC5F}"/>
              </a:ext>
            </a:extLst>
          </p:cNvPr>
          <p:cNvPicPr>
            <a:picLocks noChangeAspect="1"/>
          </p:cNvPicPr>
          <p:nvPr/>
        </p:nvPicPr>
        <p:blipFill>
          <a:blip r:embed="rId2"/>
          <a:stretch>
            <a:fillRect/>
          </a:stretch>
        </p:blipFill>
        <p:spPr>
          <a:xfrm>
            <a:off x="6784948" y="1596406"/>
            <a:ext cx="3862970" cy="2041926"/>
          </a:xfrm>
          <a:prstGeom prst="rect">
            <a:avLst/>
          </a:prstGeom>
        </p:spPr>
      </p:pic>
      <p:pic>
        <p:nvPicPr>
          <p:cNvPr id="3" name="图片 2">
            <a:extLst>
              <a:ext uri="{FF2B5EF4-FFF2-40B4-BE49-F238E27FC236}">
                <a16:creationId xmlns:a16="http://schemas.microsoft.com/office/drawing/2014/main" id="{B0C981B1-AFA7-7F70-49AF-FFD178DEC7A6}"/>
              </a:ext>
            </a:extLst>
          </p:cNvPr>
          <p:cNvPicPr>
            <a:picLocks noChangeAspect="1"/>
          </p:cNvPicPr>
          <p:nvPr/>
        </p:nvPicPr>
        <p:blipFill>
          <a:blip r:embed="rId3"/>
          <a:stretch>
            <a:fillRect/>
          </a:stretch>
        </p:blipFill>
        <p:spPr>
          <a:xfrm>
            <a:off x="6784949" y="3911947"/>
            <a:ext cx="3862971" cy="2238952"/>
          </a:xfrm>
          <a:prstGeom prst="rect">
            <a:avLst/>
          </a:prstGeom>
        </p:spPr>
      </p:pic>
    </p:spTree>
    <p:extLst>
      <p:ext uri="{BB962C8B-B14F-4D97-AF65-F5344CB8AC3E}">
        <p14:creationId xmlns:p14="http://schemas.microsoft.com/office/powerpoint/2010/main" val="30556954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9FDCF-1DCE-405C-38A7-FFA0292DE8AE}"/>
            </a:ext>
          </a:extLst>
        </p:cNvPr>
        <p:cNvGrpSpPr/>
        <p:nvPr/>
      </p:nvGrpSpPr>
      <p:grpSpPr>
        <a:xfrm>
          <a:off x="0" y="0"/>
          <a:ext cx="0" cy="0"/>
          <a:chOff x="0" y="0"/>
          <a:chExt cx="0" cy="0"/>
        </a:xfrm>
      </p:grpSpPr>
      <p:sp>
        <p:nvSpPr>
          <p:cNvPr id="12290" name="标题 1">
            <a:extLst>
              <a:ext uri="{FF2B5EF4-FFF2-40B4-BE49-F238E27FC236}">
                <a16:creationId xmlns:a16="http://schemas.microsoft.com/office/drawing/2014/main" id="{1E8E8303-2B82-89DF-BBB0-2DE21A57AD75}"/>
              </a:ext>
            </a:extLst>
          </p:cNvPr>
          <p:cNvSpPr>
            <a:spLocks noGrp="1" noChangeArrowheads="1"/>
          </p:cNvSpPr>
          <p:nvPr>
            <p:ph type="title"/>
          </p:nvPr>
        </p:nvSpPr>
        <p:spPr/>
        <p:txBody>
          <a:bodyPr>
            <a:normAutofit/>
          </a:bodyPr>
          <a:lstStyle/>
          <a:p>
            <a:r>
              <a:rPr lang="zh-CN" altLang="en-US" sz="4000" dirty="0">
                <a:latin typeface="Times New Roman Regular" panose="02020603050405020304" charset="0"/>
              </a:rPr>
              <a:t>网格体，克隆</a:t>
            </a:r>
          </a:p>
        </p:txBody>
      </p:sp>
      <p:sp>
        <p:nvSpPr>
          <p:cNvPr id="12291" name="内容占位符 2">
            <a:extLst>
              <a:ext uri="{FF2B5EF4-FFF2-40B4-BE49-F238E27FC236}">
                <a16:creationId xmlns:a16="http://schemas.microsoft.com/office/drawing/2014/main" id="{FBFC8886-1CC1-226D-4AAC-1270DBCFF6B9}"/>
              </a:ext>
            </a:extLst>
          </p:cNvPr>
          <p:cNvSpPr>
            <a:spLocks noGrp="1" noChangeArrowheads="1"/>
          </p:cNvSpPr>
          <p:nvPr>
            <p:ph idx="1"/>
          </p:nvPr>
        </p:nvSpPr>
        <p:spPr>
          <a:xfrm>
            <a:off x="1116695" y="1161107"/>
            <a:ext cx="4979305" cy="1674413"/>
          </a:xfrm>
        </p:spPr>
        <p:txBody>
          <a:bodyPr/>
          <a:lstStyle/>
          <a:p>
            <a:pPr marL="0" indent="0">
              <a:buNone/>
            </a:pPr>
            <a:r>
              <a:rPr lang="zh-CN" altLang="en-US" b="1" dirty="0"/>
              <a:t>网格体</a:t>
            </a:r>
            <a:r>
              <a:rPr lang="en-US" altLang="zh-CN" b="1" dirty="0"/>
              <a:t>Mesh</a:t>
            </a:r>
            <a:r>
              <a:rPr lang="zh-CN" altLang="en-US" dirty="0"/>
              <a:t>（灵活但性能开销大）</a:t>
            </a:r>
            <a:endParaRPr lang="en-US" altLang="zh-CN" dirty="0"/>
          </a:p>
          <a:p>
            <a:pPr marL="0" indent="0">
              <a:buNone/>
            </a:pPr>
            <a:r>
              <a:rPr lang="en-US" altLang="zh-CN" sz="1800" b="1" dirty="0"/>
              <a:t>Mesh</a:t>
            </a:r>
            <a:r>
              <a:rPr lang="zh-CN" altLang="en-US" sz="1800" dirty="0"/>
              <a:t> 是最基础的方式，每个对象都有自己独立的几何体和绘制调用，能够完全控制和修改，但性能消耗较大，通常在数量不多时使用。</a:t>
            </a:r>
          </a:p>
        </p:txBody>
      </p:sp>
      <p:sp>
        <p:nvSpPr>
          <p:cNvPr id="5" name="内容占位符 2">
            <a:extLst>
              <a:ext uri="{FF2B5EF4-FFF2-40B4-BE49-F238E27FC236}">
                <a16:creationId xmlns:a16="http://schemas.microsoft.com/office/drawing/2014/main" id="{0A876CC3-45A5-2087-F4BC-6559693938F8}"/>
              </a:ext>
            </a:extLst>
          </p:cNvPr>
          <p:cNvSpPr txBox="1">
            <a:spLocks noChangeArrowheads="1"/>
          </p:cNvSpPr>
          <p:nvPr/>
        </p:nvSpPr>
        <p:spPr>
          <a:xfrm>
            <a:off x="6450695" y="1128451"/>
            <a:ext cx="4979305" cy="1739727"/>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pPr marL="0" indent="0">
              <a:buNone/>
            </a:pPr>
            <a:r>
              <a:rPr lang="zh-CN" altLang="en-US" b="1" dirty="0"/>
              <a:t>克隆</a:t>
            </a:r>
            <a:r>
              <a:rPr lang="en-US" altLang="zh-CN" b="1" dirty="0"/>
              <a:t>Clones</a:t>
            </a:r>
            <a:r>
              <a:rPr lang="zh-CN" altLang="en-US" dirty="0"/>
              <a:t>（保持独立，适度节省性能）</a:t>
            </a:r>
            <a:endParaRPr lang="en-US" altLang="zh-CN" dirty="0"/>
          </a:p>
          <a:p>
            <a:pPr marL="0" indent="0">
              <a:buNone/>
            </a:pPr>
            <a:r>
              <a:rPr lang="en-US" altLang="zh-CN" sz="1800" b="1" dirty="0"/>
              <a:t>Clone</a:t>
            </a:r>
            <a:r>
              <a:rPr lang="zh-CN" altLang="en-US" sz="1800" dirty="0"/>
              <a:t> 则是基于已有 </a:t>
            </a:r>
            <a:r>
              <a:rPr lang="en-US" altLang="zh-CN" sz="1800" dirty="0"/>
              <a:t>Mesh </a:t>
            </a:r>
            <a:r>
              <a:rPr lang="zh-CN" altLang="en-US" sz="1800" dirty="0"/>
              <a:t>复制的对象，它们共享相同的几何体，从而节省内存和部分开销，但仍然保持一定的独立性，适合需要大量重复几何的场景。</a:t>
            </a:r>
          </a:p>
        </p:txBody>
      </p:sp>
      <p:graphicFrame>
        <p:nvGraphicFramePr>
          <p:cNvPr id="2" name="表格 1">
            <a:extLst>
              <a:ext uri="{FF2B5EF4-FFF2-40B4-BE49-F238E27FC236}">
                <a16:creationId xmlns:a16="http://schemas.microsoft.com/office/drawing/2014/main" id="{6D3D71DE-DE70-CDFE-BF3B-6E49E9CF5AA6}"/>
              </a:ext>
            </a:extLst>
          </p:cNvPr>
          <p:cNvGraphicFramePr>
            <a:graphicFrameLocks noGrp="1"/>
          </p:cNvGraphicFramePr>
          <p:nvPr>
            <p:extLst>
              <p:ext uri="{D42A27DB-BD31-4B8C-83A1-F6EECF244321}">
                <p14:modId xmlns:p14="http://schemas.microsoft.com/office/powerpoint/2010/main" val="1034558400"/>
              </p:ext>
            </p:extLst>
          </p:nvPr>
        </p:nvGraphicFramePr>
        <p:xfrm>
          <a:off x="1658984" y="3138268"/>
          <a:ext cx="8490858" cy="3337347"/>
        </p:xfrm>
        <a:graphic>
          <a:graphicData uri="http://schemas.openxmlformats.org/drawingml/2006/table">
            <a:tbl>
              <a:tblPr/>
              <a:tblGrid>
                <a:gridCol w="1992084">
                  <a:extLst>
                    <a:ext uri="{9D8B030D-6E8A-4147-A177-3AD203B41FA5}">
                      <a16:colId xmlns:a16="http://schemas.microsoft.com/office/drawing/2014/main" val="3765694405"/>
                    </a:ext>
                  </a:extLst>
                </a:gridCol>
                <a:gridCol w="3291840">
                  <a:extLst>
                    <a:ext uri="{9D8B030D-6E8A-4147-A177-3AD203B41FA5}">
                      <a16:colId xmlns:a16="http://schemas.microsoft.com/office/drawing/2014/main" val="1750663658"/>
                    </a:ext>
                  </a:extLst>
                </a:gridCol>
                <a:gridCol w="3206934">
                  <a:extLst>
                    <a:ext uri="{9D8B030D-6E8A-4147-A177-3AD203B41FA5}">
                      <a16:colId xmlns:a16="http://schemas.microsoft.com/office/drawing/2014/main" val="248686303"/>
                    </a:ext>
                  </a:extLst>
                </a:gridCol>
              </a:tblGrid>
              <a:tr h="203131">
                <a:tc>
                  <a:txBody>
                    <a:bodyPr/>
                    <a:lstStyle/>
                    <a:p>
                      <a:pPr>
                        <a:buNone/>
                      </a:pPr>
                      <a:r>
                        <a:rPr lang="zh-CN" altLang="en-US" sz="1100" dirty="0"/>
                        <a:t>特性</a:t>
                      </a:r>
                    </a:p>
                  </a:txBody>
                  <a:tcPr marL="55294" marR="55294" marT="27647" marB="276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b="1"/>
                        <a:t>Mesh</a:t>
                      </a:r>
                      <a:endParaRPr lang="en-US" sz="1100"/>
                    </a:p>
                  </a:txBody>
                  <a:tcPr marL="55294" marR="55294" marT="27647" marB="276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b="1" dirty="0"/>
                        <a:t>Clone</a:t>
                      </a:r>
                      <a:r>
                        <a:rPr lang="en-US" altLang="zh-CN" sz="1100" b="1" dirty="0"/>
                        <a:t>s</a:t>
                      </a:r>
                      <a:endParaRPr lang="en-US" sz="1100" dirty="0"/>
                    </a:p>
                  </a:txBody>
                  <a:tcPr marL="55294" marR="55294" marT="27647" marB="276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4942188"/>
                  </a:ext>
                </a:extLst>
              </a:tr>
              <a:tr h="503821">
                <a:tc>
                  <a:txBody>
                    <a:bodyPr/>
                    <a:lstStyle/>
                    <a:p>
                      <a:pPr>
                        <a:buNone/>
                      </a:pPr>
                      <a:r>
                        <a:rPr lang="zh-CN" altLang="en-US" sz="1100" b="1"/>
                        <a:t>创建方式</a:t>
                      </a:r>
                      <a:endParaRPr lang="zh-CN" altLang="en-US" sz="1100"/>
                    </a:p>
                  </a:txBody>
                  <a:tcPr marL="55294" marR="55294" marT="27647" marB="276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100"/>
                        <a:t>使用 </a:t>
                      </a:r>
                      <a:r>
                        <a:rPr lang="en-US" sz="1100">
                          <a:latin typeface="Courier New" panose="02070309020205020404" pitchFamily="49" charset="0"/>
                        </a:rPr>
                        <a:t>anu.bind()</a:t>
                      </a:r>
                      <a:r>
                        <a:rPr lang="en-US" sz="1100"/>
                        <a:t> </a:t>
                      </a:r>
                      <a:r>
                        <a:rPr lang="zh-CN" altLang="en-US" sz="1100"/>
                        <a:t>或 </a:t>
                      </a:r>
                      <a:r>
                        <a:rPr lang="en-US" sz="1100">
                          <a:latin typeface="Courier New" panose="02070309020205020404" pitchFamily="49" charset="0"/>
                        </a:rPr>
                        <a:t>MeshBuilder</a:t>
                      </a:r>
                      <a:r>
                        <a:rPr lang="en-US" sz="1100"/>
                        <a:t> </a:t>
                      </a:r>
                      <a:r>
                        <a:rPr lang="zh-CN" altLang="en-US" sz="1100"/>
                        <a:t>每次创建一个新几何体</a:t>
                      </a:r>
                    </a:p>
                  </a:txBody>
                  <a:tcPr marL="55294" marR="55294" marT="27647" marB="276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100"/>
                        <a:t>使用 </a:t>
                      </a:r>
                      <a:r>
                        <a:rPr lang="en-US" sz="1100">
                          <a:latin typeface="Courier New" panose="02070309020205020404" pitchFamily="49" charset="0"/>
                        </a:rPr>
                        <a:t>anu.bindClone()</a:t>
                      </a:r>
                      <a:r>
                        <a:rPr lang="en-US" sz="1100"/>
                        <a:t>，</a:t>
                      </a:r>
                      <a:r>
                        <a:rPr lang="zh-CN" altLang="en-US" sz="1100"/>
                        <a:t>基于已有的 </a:t>
                      </a:r>
                      <a:r>
                        <a:rPr lang="en-US" sz="1100"/>
                        <a:t>Mesh </a:t>
                      </a:r>
                      <a:r>
                        <a:rPr lang="zh-CN" altLang="en-US" sz="1100"/>
                        <a:t>克隆几何体</a:t>
                      </a:r>
                    </a:p>
                  </a:txBody>
                  <a:tcPr marL="55294" marR="55294" marT="27647" marB="276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6480656"/>
                  </a:ext>
                </a:extLst>
              </a:tr>
              <a:tr h="352675">
                <a:tc>
                  <a:txBody>
                    <a:bodyPr/>
                    <a:lstStyle/>
                    <a:p>
                      <a:pPr>
                        <a:buNone/>
                      </a:pPr>
                      <a:r>
                        <a:rPr lang="zh-CN" altLang="en-US" sz="1100" b="1"/>
                        <a:t>几何数据</a:t>
                      </a:r>
                      <a:endParaRPr lang="zh-CN" altLang="en-US" sz="1100"/>
                    </a:p>
                  </a:txBody>
                  <a:tcPr marL="55294" marR="55294" marT="27647" marB="276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100"/>
                        <a:t>每个 </a:t>
                      </a:r>
                      <a:r>
                        <a:rPr lang="en-US" altLang="zh-CN" sz="1100"/>
                        <a:t>Mesh </a:t>
                      </a:r>
                      <a:r>
                        <a:rPr lang="zh-CN" altLang="en-US" sz="1100"/>
                        <a:t>都有自己独立的几何数据</a:t>
                      </a:r>
                    </a:p>
                  </a:txBody>
                  <a:tcPr marL="55294" marR="55294" marT="27647" marB="276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100"/>
                        <a:t>共享同一几何数据，只复制引用</a:t>
                      </a:r>
                    </a:p>
                  </a:txBody>
                  <a:tcPr marL="55294" marR="55294" marT="27647" marB="276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85896849"/>
                  </a:ext>
                </a:extLst>
              </a:tr>
              <a:tr h="503821">
                <a:tc>
                  <a:txBody>
                    <a:bodyPr/>
                    <a:lstStyle/>
                    <a:p>
                      <a:pPr>
                        <a:buNone/>
                      </a:pPr>
                      <a:r>
                        <a:rPr lang="en-US" sz="1100" b="1"/>
                        <a:t>Draw Call </a:t>
                      </a:r>
                      <a:r>
                        <a:rPr lang="zh-CN" altLang="en-US" sz="1100" b="1"/>
                        <a:t>开销</a:t>
                      </a:r>
                      <a:endParaRPr lang="zh-CN" altLang="en-US" sz="1100"/>
                    </a:p>
                  </a:txBody>
                  <a:tcPr marL="55294" marR="55294" marT="27647" marB="276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100"/>
                        <a:t>每个 </a:t>
                      </a:r>
                      <a:r>
                        <a:rPr lang="en-US" sz="1100"/>
                        <a:t>Mesh </a:t>
                      </a:r>
                      <a:r>
                        <a:rPr lang="zh-CN" altLang="en-US" sz="1100"/>
                        <a:t>都会产生独立的 </a:t>
                      </a:r>
                      <a:r>
                        <a:rPr lang="en-US" sz="1100"/>
                        <a:t>Draw Call（CPU </a:t>
                      </a:r>
                      <a:r>
                        <a:rPr lang="zh-CN" altLang="en-US" sz="1100"/>
                        <a:t>和 </a:t>
                      </a:r>
                      <a:r>
                        <a:rPr lang="en-US" sz="1100"/>
                        <a:t>GPU </a:t>
                      </a:r>
                      <a:r>
                        <a:rPr lang="zh-CN" altLang="en-US" sz="1100"/>
                        <a:t>都更耗资源）</a:t>
                      </a:r>
                    </a:p>
                  </a:txBody>
                  <a:tcPr marL="55294" marR="55294" marT="27647" marB="276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100"/>
                        <a:t>多个 </a:t>
                      </a:r>
                      <a:r>
                        <a:rPr lang="en-US" altLang="zh-CN" sz="1100"/>
                        <a:t>Clone </a:t>
                      </a:r>
                      <a:r>
                        <a:rPr lang="zh-CN" altLang="en-US" sz="1100"/>
                        <a:t>共享几何体，减少 </a:t>
                      </a:r>
                      <a:r>
                        <a:rPr lang="en-US" altLang="zh-CN" sz="1100"/>
                        <a:t>CPU/GPU </a:t>
                      </a:r>
                      <a:r>
                        <a:rPr lang="zh-CN" altLang="en-US" sz="1100"/>
                        <a:t>的负担</a:t>
                      </a:r>
                    </a:p>
                  </a:txBody>
                  <a:tcPr marL="55294" marR="55294" marT="27647" marB="276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83326570"/>
                  </a:ext>
                </a:extLst>
              </a:tr>
              <a:tr h="355880">
                <a:tc>
                  <a:txBody>
                    <a:bodyPr/>
                    <a:lstStyle/>
                    <a:p>
                      <a:pPr>
                        <a:buNone/>
                      </a:pPr>
                      <a:r>
                        <a:rPr lang="zh-CN" altLang="en-US" sz="1100" b="1"/>
                        <a:t>内存占用</a:t>
                      </a:r>
                      <a:endParaRPr lang="zh-CN" altLang="en-US" sz="1100"/>
                    </a:p>
                  </a:txBody>
                  <a:tcPr marL="55294" marR="55294" marT="27647" marB="276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100"/>
                        <a:t>占用较大（因为每个 </a:t>
                      </a:r>
                      <a:r>
                        <a:rPr lang="en-US" altLang="zh-CN" sz="1100"/>
                        <a:t>Mesh </a:t>
                      </a:r>
                      <a:r>
                        <a:rPr lang="zh-CN" altLang="en-US" sz="1100"/>
                        <a:t>存储完整的几何体）</a:t>
                      </a:r>
                    </a:p>
                  </a:txBody>
                  <a:tcPr marL="55294" marR="55294" marT="27647" marB="276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100"/>
                        <a:t>占用较小（共享几何数据，内存利用更高效）</a:t>
                      </a:r>
                    </a:p>
                  </a:txBody>
                  <a:tcPr marL="55294" marR="55294" marT="27647" marB="276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4919554"/>
                  </a:ext>
                </a:extLst>
              </a:tr>
              <a:tr h="503821">
                <a:tc>
                  <a:txBody>
                    <a:bodyPr/>
                    <a:lstStyle/>
                    <a:p>
                      <a:pPr>
                        <a:buNone/>
                      </a:pPr>
                      <a:r>
                        <a:rPr lang="zh-CN" altLang="en-US" sz="1100" b="1"/>
                        <a:t>可独立修改</a:t>
                      </a:r>
                      <a:endParaRPr lang="zh-CN" altLang="en-US" sz="1100"/>
                    </a:p>
                  </a:txBody>
                  <a:tcPr marL="55294" marR="55294" marT="27647" marB="276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100"/>
                        <a:t>完全独立，可以自由修改几何和材质</a:t>
                      </a:r>
                    </a:p>
                  </a:txBody>
                  <a:tcPr marL="55294" marR="55294" marT="27647" marB="276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100" dirty="0"/>
                        <a:t>每个 </a:t>
                      </a:r>
                      <a:r>
                        <a:rPr lang="en-US" altLang="zh-CN" sz="1100" dirty="0"/>
                        <a:t>Clone </a:t>
                      </a:r>
                      <a:r>
                        <a:rPr lang="zh-CN" altLang="en-US" sz="1100" dirty="0"/>
                        <a:t>拥有自己的变换（位置、旋转、缩放），但几何数据相同；材质可独立</a:t>
                      </a:r>
                    </a:p>
                  </a:txBody>
                  <a:tcPr marL="55294" marR="55294" marT="27647" marB="276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00854051"/>
                  </a:ext>
                </a:extLst>
              </a:tr>
              <a:tr h="503821">
                <a:tc>
                  <a:txBody>
                    <a:bodyPr/>
                    <a:lstStyle/>
                    <a:p>
                      <a:pPr>
                        <a:buNone/>
                      </a:pPr>
                      <a:r>
                        <a:rPr lang="zh-CN" altLang="en-US" sz="1100" b="1"/>
                        <a:t>适用场景</a:t>
                      </a:r>
                      <a:endParaRPr lang="zh-CN" altLang="en-US" sz="1100"/>
                    </a:p>
                  </a:txBody>
                  <a:tcPr marL="55294" marR="55294" marT="27647" marB="276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100"/>
                        <a:t>对象数量少，或每个对象几何完全不同，需要高度独立性</a:t>
                      </a:r>
                    </a:p>
                  </a:txBody>
                  <a:tcPr marL="55294" marR="55294" marT="27647" marB="276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100"/>
                        <a:t>对象数量较多，但几何一致，需要一定独立性（如同类型的多个物体）</a:t>
                      </a:r>
                    </a:p>
                  </a:txBody>
                  <a:tcPr marL="55294" marR="55294" marT="27647" marB="276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42969931"/>
                  </a:ext>
                </a:extLst>
              </a:tr>
              <a:tr h="355880">
                <a:tc>
                  <a:txBody>
                    <a:bodyPr/>
                    <a:lstStyle/>
                    <a:p>
                      <a:pPr>
                        <a:buNone/>
                      </a:pPr>
                      <a:r>
                        <a:rPr lang="zh-CN" altLang="en-US" sz="1100" b="1"/>
                        <a:t>性能表现</a:t>
                      </a:r>
                      <a:endParaRPr lang="zh-CN" altLang="en-US" sz="1100"/>
                    </a:p>
                  </a:txBody>
                  <a:tcPr marL="55294" marR="55294" marT="27647" marB="276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100"/>
                        <a:t>大约 </a:t>
                      </a:r>
                      <a:r>
                        <a:rPr lang="en-US" altLang="zh-CN" sz="1100"/>
                        <a:t>2000 </a:t>
                      </a:r>
                      <a:r>
                        <a:rPr lang="zh-CN" altLang="en-US" sz="1100"/>
                        <a:t>个 </a:t>
                      </a:r>
                      <a:r>
                        <a:rPr lang="en-US" altLang="zh-CN" sz="1100"/>
                        <a:t>Mesh </a:t>
                      </a:r>
                      <a:r>
                        <a:rPr lang="zh-CN" altLang="en-US" sz="1100"/>
                        <a:t>之后性能明显下降</a:t>
                      </a:r>
                    </a:p>
                  </a:txBody>
                  <a:tcPr marL="55294" marR="55294" marT="27647" marB="276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100" dirty="0"/>
                        <a:t>比 </a:t>
                      </a:r>
                      <a:r>
                        <a:rPr lang="en-US" sz="1100" dirty="0"/>
                        <a:t>Mesh </a:t>
                      </a:r>
                      <a:r>
                        <a:rPr lang="zh-CN" altLang="en-US" sz="1100" dirty="0"/>
                        <a:t>更高效，可以支持更多对象，性能比纯 </a:t>
                      </a:r>
                      <a:r>
                        <a:rPr lang="en-US" sz="1100" dirty="0"/>
                        <a:t>Mesh </a:t>
                      </a:r>
                      <a:r>
                        <a:rPr lang="zh-CN" altLang="en-US" sz="1100" dirty="0"/>
                        <a:t>好</a:t>
                      </a:r>
                    </a:p>
                  </a:txBody>
                  <a:tcPr marL="55294" marR="55294" marT="27647" marB="276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74250858"/>
                  </a:ext>
                </a:extLst>
              </a:tr>
            </a:tbl>
          </a:graphicData>
        </a:graphic>
      </p:graphicFrame>
    </p:spTree>
    <p:extLst>
      <p:ext uri="{BB962C8B-B14F-4D97-AF65-F5344CB8AC3E}">
        <p14:creationId xmlns:p14="http://schemas.microsoft.com/office/powerpoint/2010/main" val="19902132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DA693-78F1-2C92-8760-1373F3E7C71C}"/>
            </a:ext>
          </a:extLst>
        </p:cNvPr>
        <p:cNvGrpSpPr/>
        <p:nvPr/>
      </p:nvGrpSpPr>
      <p:grpSpPr>
        <a:xfrm>
          <a:off x="0" y="0"/>
          <a:ext cx="0" cy="0"/>
          <a:chOff x="0" y="0"/>
          <a:chExt cx="0" cy="0"/>
        </a:xfrm>
      </p:grpSpPr>
      <p:sp>
        <p:nvSpPr>
          <p:cNvPr id="12290" name="标题 1">
            <a:extLst>
              <a:ext uri="{FF2B5EF4-FFF2-40B4-BE49-F238E27FC236}">
                <a16:creationId xmlns:a16="http://schemas.microsoft.com/office/drawing/2014/main" id="{EC5D0660-DDB9-7225-2DCA-42308C683294}"/>
              </a:ext>
            </a:extLst>
          </p:cNvPr>
          <p:cNvSpPr>
            <a:spLocks noGrp="1" noChangeArrowheads="1"/>
          </p:cNvSpPr>
          <p:nvPr>
            <p:ph type="title"/>
          </p:nvPr>
        </p:nvSpPr>
        <p:spPr/>
        <p:txBody>
          <a:bodyPr>
            <a:normAutofit/>
          </a:bodyPr>
          <a:lstStyle/>
          <a:p>
            <a:r>
              <a:rPr lang="en-US" altLang="zh-CN" sz="3200" b="1" dirty="0">
                <a:solidFill>
                  <a:schemeClr val="tx1">
                    <a:lumMod val="65000"/>
                    <a:lumOff val="35000"/>
                  </a:schemeClr>
                </a:solidFill>
                <a:latin typeface="+mn-lt"/>
                <a:ea typeface="+mn-ea"/>
                <a:cs typeface="+mn-cs"/>
              </a:rPr>
              <a:t>mesh</a:t>
            </a:r>
            <a:endParaRPr lang="zh-CN" altLang="en-US" sz="3200" b="1" dirty="0">
              <a:solidFill>
                <a:schemeClr val="tx1">
                  <a:lumMod val="65000"/>
                  <a:lumOff val="35000"/>
                </a:schemeClr>
              </a:solidFill>
              <a:latin typeface="+mn-lt"/>
              <a:ea typeface="+mn-ea"/>
              <a:cs typeface="+mn-cs"/>
            </a:endParaRPr>
          </a:p>
        </p:txBody>
      </p:sp>
      <p:sp>
        <p:nvSpPr>
          <p:cNvPr id="4" name="矩形 3">
            <a:extLst>
              <a:ext uri="{FF2B5EF4-FFF2-40B4-BE49-F238E27FC236}">
                <a16:creationId xmlns:a16="http://schemas.microsoft.com/office/drawing/2014/main" id="{8D3E5E3D-D9EA-E1B4-103E-97A7583A03F4}"/>
              </a:ext>
            </a:extLst>
          </p:cNvPr>
          <p:cNvSpPr/>
          <p:nvPr/>
        </p:nvSpPr>
        <p:spPr>
          <a:xfrm>
            <a:off x="1021670" y="1128451"/>
            <a:ext cx="6874827" cy="5170646"/>
          </a:xfrm>
          <a:prstGeom prst="rect">
            <a:avLst/>
          </a:prstGeom>
          <a:solidFill>
            <a:schemeClr val="bg1">
              <a:lumMod val="85000"/>
            </a:schemeClr>
          </a:solidFill>
        </p:spPr>
        <p:txBody>
          <a:bodyPr wrap="square">
            <a:spAutoFit/>
          </a:bodyPr>
          <a:lstStyle/>
          <a:p>
            <a:r>
              <a:rPr lang="en-US" altLang="zh-CN" sz="1000" dirty="0"/>
              <a:t>import { </a:t>
            </a:r>
            <a:r>
              <a:rPr lang="en-US" altLang="zh-CN" sz="1000" dirty="0" err="1"/>
              <a:t>HemisphericLight</a:t>
            </a:r>
            <a:r>
              <a:rPr lang="en-US" altLang="zh-CN" sz="1000" dirty="0"/>
              <a:t>, </a:t>
            </a:r>
            <a:r>
              <a:rPr lang="en-US" altLang="zh-CN" sz="1000" dirty="0" err="1"/>
              <a:t>ArcRotateCamera</a:t>
            </a:r>
            <a:r>
              <a:rPr lang="en-US" altLang="zh-CN" sz="1000" dirty="0"/>
              <a:t>, Vector3, Scene} from '@</a:t>
            </a:r>
            <a:r>
              <a:rPr lang="en-US" altLang="zh-CN" sz="1000" dirty="0" err="1"/>
              <a:t>babylonjs</a:t>
            </a:r>
            <a:r>
              <a:rPr lang="en-US" altLang="zh-CN" sz="1000" dirty="0"/>
              <a:t>/core';</a:t>
            </a:r>
          </a:p>
          <a:p>
            <a:r>
              <a:rPr lang="en-US" altLang="zh-CN" sz="1000" dirty="0"/>
              <a:t>import { </a:t>
            </a:r>
            <a:r>
              <a:rPr lang="en-US" altLang="zh-CN" sz="1000" dirty="0" err="1"/>
              <a:t>AdvancedDynamicTexture</a:t>
            </a:r>
            <a:r>
              <a:rPr lang="en-US" altLang="zh-CN" sz="1000" dirty="0"/>
              <a:t>, Control, </a:t>
            </a:r>
            <a:r>
              <a:rPr lang="en-US" altLang="zh-CN" sz="1000" dirty="0" err="1"/>
              <a:t>SelectionPanel</a:t>
            </a:r>
            <a:r>
              <a:rPr lang="en-US" altLang="zh-CN" sz="1000" dirty="0"/>
              <a:t>, </a:t>
            </a:r>
            <a:r>
              <a:rPr lang="en-US" altLang="zh-CN" sz="1000" dirty="0" err="1"/>
              <a:t>SliderGroup</a:t>
            </a:r>
            <a:r>
              <a:rPr lang="en-US" altLang="zh-CN" sz="1000" dirty="0"/>
              <a:t>} from '@</a:t>
            </a:r>
            <a:r>
              <a:rPr lang="en-US" altLang="zh-CN" sz="1000" dirty="0" err="1"/>
              <a:t>babylonjs</a:t>
            </a:r>
            <a:r>
              <a:rPr lang="en-US" altLang="zh-CN" sz="1000" dirty="0"/>
              <a:t>/</a:t>
            </a:r>
            <a:r>
              <a:rPr lang="en-US" altLang="zh-CN" sz="1000" dirty="0" err="1"/>
              <a:t>gui</a:t>
            </a:r>
            <a:r>
              <a:rPr lang="en-US" altLang="zh-CN" sz="1000" dirty="0"/>
              <a:t>';</a:t>
            </a:r>
          </a:p>
          <a:p>
            <a:r>
              <a:rPr lang="en-US" altLang="zh-CN" sz="1000" dirty="0"/>
              <a:t>import * as anu from '@</a:t>
            </a:r>
            <a:r>
              <a:rPr lang="en-US" altLang="zh-CN" sz="1000" dirty="0" err="1"/>
              <a:t>jpmorganchase</a:t>
            </a:r>
            <a:r>
              <a:rPr lang="en-US" altLang="zh-CN" sz="1000" dirty="0"/>
              <a:t>/anu'</a:t>
            </a:r>
          </a:p>
          <a:p>
            <a:r>
              <a:rPr lang="en-US" altLang="zh-CN" sz="1000" dirty="0"/>
              <a:t>//create and export a function that takes a </a:t>
            </a:r>
            <a:r>
              <a:rPr lang="en-US" altLang="zh-CN" sz="1000" dirty="0" err="1"/>
              <a:t>babylon</a:t>
            </a:r>
            <a:r>
              <a:rPr lang="en-US" altLang="zh-CN" sz="1000" dirty="0"/>
              <a:t> engine and returns a scene</a:t>
            </a:r>
          </a:p>
          <a:p>
            <a:r>
              <a:rPr lang="en-US" altLang="zh-CN" sz="1000" dirty="0"/>
              <a:t>export const </a:t>
            </a:r>
            <a:r>
              <a:rPr lang="en-US" altLang="zh-CN" sz="1000" dirty="0" err="1"/>
              <a:t>meshBench</a:t>
            </a:r>
            <a:r>
              <a:rPr lang="en-US" altLang="zh-CN" sz="1000" dirty="0"/>
              <a:t> = (engine) =&gt; {</a:t>
            </a:r>
          </a:p>
          <a:p>
            <a:r>
              <a:rPr lang="en-US" altLang="zh-CN" sz="1000" dirty="0"/>
              <a:t>  const scene = new Scene(engine);</a:t>
            </a:r>
          </a:p>
          <a:p>
            <a:r>
              <a:rPr lang="en-US" altLang="zh-CN" sz="1000" dirty="0"/>
              <a:t>  new </a:t>
            </a:r>
            <a:r>
              <a:rPr lang="en-US" altLang="zh-CN" sz="1000" dirty="0" err="1"/>
              <a:t>HemisphericLight</a:t>
            </a:r>
            <a:r>
              <a:rPr lang="en-US" altLang="zh-CN" sz="1000" dirty="0"/>
              <a:t>('light1', new Vector3(0, 10, 0), scene);</a:t>
            </a:r>
          </a:p>
          <a:p>
            <a:r>
              <a:rPr lang="en-US" altLang="zh-CN" sz="1000" dirty="0"/>
              <a:t>  const camera = new </a:t>
            </a:r>
            <a:r>
              <a:rPr lang="en-US" altLang="zh-CN" sz="1000" dirty="0" err="1"/>
              <a:t>ArcRotateCamera</a:t>
            </a:r>
            <a:r>
              <a:rPr lang="en-US" altLang="zh-CN" sz="1000" dirty="0"/>
              <a:t>("Camera", -(</a:t>
            </a:r>
            <a:r>
              <a:rPr lang="en-US" altLang="zh-CN" sz="1000" dirty="0" err="1"/>
              <a:t>Math.PI</a:t>
            </a:r>
            <a:r>
              <a:rPr lang="en-US" altLang="zh-CN" sz="1000" dirty="0"/>
              <a:t> / 4) * 3, </a:t>
            </a:r>
            <a:r>
              <a:rPr lang="en-US" altLang="zh-CN" sz="1000" dirty="0" err="1"/>
              <a:t>Math.PI</a:t>
            </a:r>
            <a:r>
              <a:rPr lang="en-US" altLang="zh-CN" sz="1000" dirty="0"/>
              <a:t> / 4, 10, new Vector3(0, 0, 0), scene);</a:t>
            </a:r>
          </a:p>
          <a:p>
            <a:r>
              <a:rPr lang="en-US" altLang="zh-CN" sz="1000" dirty="0"/>
              <a:t>  </a:t>
            </a:r>
            <a:r>
              <a:rPr lang="en-US" altLang="zh-CN" sz="1000" dirty="0" err="1"/>
              <a:t>camera.position</a:t>
            </a:r>
            <a:r>
              <a:rPr lang="en-US" altLang="zh-CN" sz="1000" dirty="0"/>
              <a:t> = new Vector3(-25, 10, -50);</a:t>
            </a:r>
          </a:p>
          <a:p>
            <a:r>
              <a:rPr lang="en-US" altLang="zh-CN" sz="1000" dirty="0"/>
              <a:t>  </a:t>
            </a:r>
            <a:r>
              <a:rPr lang="en-US" altLang="zh-CN" sz="1000" dirty="0" err="1"/>
              <a:t>camera.attachControl</a:t>
            </a:r>
            <a:r>
              <a:rPr lang="en-US" altLang="zh-CN" sz="1000" dirty="0"/>
              <a:t>(true);</a:t>
            </a:r>
          </a:p>
          <a:p>
            <a:r>
              <a:rPr lang="en-US" altLang="zh-CN" sz="1000" dirty="0"/>
              <a:t>  let n = 100</a:t>
            </a:r>
          </a:p>
          <a:p>
            <a:r>
              <a:rPr lang="en-US" altLang="zh-CN" sz="1000" dirty="0"/>
              <a:t>  let box = </a:t>
            </a:r>
            <a:r>
              <a:rPr lang="en-US" altLang="zh-CN" sz="1000" dirty="0" err="1"/>
              <a:t>anu.bind</a:t>
            </a:r>
            <a:r>
              <a:rPr lang="en-US" altLang="zh-CN" sz="1000" dirty="0"/>
              <a:t>('box', {}, [...Array(n).keys()], scene)</a:t>
            </a:r>
          </a:p>
          <a:p>
            <a:r>
              <a:rPr lang="en-US" altLang="zh-CN" sz="1000" dirty="0"/>
              <a:t>                .position(() =&gt; Vector3.Random(-20,20));</a:t>
            </a:r>
          </a:p>
          <a:p>
            <a:r>
              <a:rPr lang="en-US" altLang="zh-CN" sz="1000" dirty="0"/>
              <a:t>  let </a:t>
            </a:r>
            <a:r>
              <a:rPr lang="en-US" altLang="zh-CN" sz="1000" dirty="0" err="1"/>
              <a:t>createBoxes</a:t>
            </a:r>
            <a:r>
              <a:rPr lang="en-US" altLang="zh-CN" sz="1000" dirty="0"/>
              <a:t> = (num) =&gt; {</a:t>
            </a:r>
          </a:p>
          <a:p>
            <a:r>
              <a:rPr lang="en-US" altLang="zh-CN" sz="1000" dirty="0"/>
              <a:t>    </a:t>
            </a:r>
            <a:r>
              <a:rPr lang="en-US" altLang="zh-CN" sz="1000" dirty="0" err="1"/>
              <a:t>box.dispose</a:t>
            </a:r>
            <a:r>
              <a:rPr lang="en-US" altLang="zh-CN" sz="1000" dirty="0"/>
              <a:t>();</a:t>
            </a:r>
          </a:p>
          <a:p>
            <a:r>
              <a:rPr lang="en-US" altLang="zh-CN" sz="1000" dirty="0"/>
              <a:t>    box = </a:t>
            </a:r>
            <a:r>
              <a:rPr lang="en-US" altLang="zh-CN" sz="1000" dirty="0" err="1"/>
              <a:t>anu.bind</a:t>
            </a:r>
            <a:r>
              <a:rPr lang="en-US" altLang="zh-CN" sz="1000" dirty="0"/>
              <a:t>('box', {}, [...Array(num).keys()], scene)</a:t>
            </a:r>
          </a:p>
          <a:p>
            <a:r>
              <a:rPr lang="en-US" altLang="zh-CN" sz="1000" dirty="0"/>
              <a:t>    .position(() =&gt; Vector3.Random(-20,20));</a:t>
            </a:r>
          </a:p>
          <a:p>
            <a:r>
              <a:rPr lang="en-US" altLang="zh-CN" sz="1000" dirty="0"/>
              <a:t>  }</a:t>
            </a:r>
          </a:p>
          <a:p>
            <a:r>
              <a:rPr lang="en-US" altLang="zh-CN" sz="1000" dirty="0"/>
              <a:t>	var </a:t>
            </a:r>
            <a:r>
              <a:rPr lang="en-US" altLang="zh-CN" sz="1000" dirty="0" err="1"/>
              <a:t>advancedTexture</a:t>
            </a:r>
            <a:r>
              <a:rPr lang="en-US" altLang="zh-CN" sz="1000" dirty="0"/>
              <a:t> = </a:t>
            </a:r>
            <a:r>
              <a:rPr lang="en-US" altLang="zh-CN" sz="1000" dirty="0" err="1"/>
              <a:t>AdvancedDynamicTexture.CreateFullscreenUI</a:t>
            </a:r>
            <a:r>
              <a:rPr lang="en-US" altLang="zh-CN" sz="1000" dirty="0"/>
              <a:t>("mesh");</a:t>
            </a:r>
          </a:p>
          <a:p>
            <a:r>
              <a:rPr lang="en-US" altLang="zh-CN" sz="1000" dirty="0"/>
              <a:t>  var </a:t>
            </a:r>
            <a:r>
              <a:rPr lang="en-US" altLang="zh-CN" sz="1000" dirty="0" err="1"/>
              <a:t>selectBox</a:t>
            </a:r>
            <a:r>
              <a:rPr lang="en-US" altLang="zh-CN" sz="1000" dirty="0"/>
              <a:t> = new </a:t>
            </a:r>
            <a:r>
              <a:rPr lang="en-US" altLang="zh-CN" sz="1000" dirty="0" err="1"/>
              <a:t>SelectionPanel</a:t>
            </a:r>
            <a:r>
              <a:rPr lang="en-US" altLang="zh-CN" sz="1000" dirty="0"/>
              <a:t>("mesh");</a:t>
            </a:r>
          </a:p>
          <a:p>
            <a:r>
              <a:rPr lang="en-US" altLang="zh-CN" sz="1000" dirty="0"/>
              <a:t>  </a:t>
            </a:r>
            <a:r>
              <a:rPr lang="en-US" altLang="zh-CN" sz="1000" dirty="0" err="1"/>
              <a:t>selectBox.width</a:t>
            </a:r>
            <a:r>
              <a:rPr lang="en-US" altLang="zh-CN" sz="1000" dirty="0"/>
              <a:t> = 0.25;</a:t>
            </a:r>
          </a:p>
          <a:p>
            <a:r>
              <a:rPr lang="en-US" altLang="zh-CN" sz="1000" dirty="0"/>
              <a:t>  </a:t>
            </a:r>
            <a:r>
              <a:rPr lang="en-US" altLang="zh-CN" sz="1000" dirty="0" err="1"/>
              <a:t>selectBox.height</a:t>
            </a:r>
            <a:r>
              <a:rPr lang="en-US" altLang="zh-CN" sz="1000" dirty="0"/>
              <a:t> = 0.25;</a:t>
            </a:r>
          </a:p>
          <a:p>
            <a:r>
              <a:rPr lang="en-US" altLang="zh-CN" sz="1000" dirty="0"/>
              <a:t>  </a:t>
            </a:r>
            <a:r>
              <a:rPr lang="en-US" altLang="zh-CN" sz="1000" dirty="0" err="1"/>
              <a:t>selectBox.horizontalAlignment</a:t>
            </a:r>
            <a:r>
              <a:rPr lang="en-US" altLang="zh-CN" sz="1000" dirty="0"/>
              <a:t> = </a:t>
            </a:r>
            <a:r>
              <a:rPr lang="en-US" altLang="zh-CN" sz="1000" dirty="0" err="1"/>
              <a:t>Control.HORIZONTAL_ALIGNMENT_LEFT</a:t>
            </a:r>
            <a:r>
              <a:rPr lang="en-US" altLang="zh-CN" sz="1000" dirty="0"/>
              <a:t>;</a:t>
            </a:r>
          </a:p>
          <a:p>
            <a:r>
              <a:rPr lang="en-US" altLang="zh-CN" sz="1000" dirty="0"/>
              <a:t>  </a:t>
            </a:r>
            <a:r>
              <a:rPr lang="en-US" altLang="zh-CN" sz="1000" dirty="0" err="1"/>
              <a:t>selectBox.verticalAlignment</a:t>
            </a:r>
            <a:r>
              <a:rPr lang="en-US" altLang="zh-CN" sz="1000" dirty="0"/>
              <a:t> = </a:t>
            </a:r>
            <a:r>
              <a:rPr lang="en-US" altLang="zh-CN" sz="1000" dirty="0" err="1"/>
              <a:t>Control.VERTICAL_ALIGNMENT_BOTTOM</a:t>
            </a:r>
            <a:r>
              <a:rPr lang="en-US" altLang="zh-CN" sz="1000" dirty="0"/>
              <a:t>;</a:t>
            </a:r>
          </a:p>
          <a:p>
            <a:r>
              <a:rPr lang="en-US" altLang="zh-CN" sz="1000" dirty="0"/>
              <a:t>  </a:t>
            </a:r>
            <a:r>
              <a:rPr lang="en-US" altLang="zh-CN" sz="1000" dirty="0" err="1"/>
              <a:t>advancedTexture.addControl</a:t>
            </a:r>
            <a:r>
              <a:rPr lang="en-US" altLang="zh-CN" sz="1000" dirty="0"/>
              <a:t>(</a:t>
            </a:r>
            <a:r>
              <a:rPr lang="en-US" altLang="zh-CN" sz="1000" dirty="0" err="1"/>
              <a:t>selectBox</a:t>
            </a:r>
            <a:r>
              <a:rPr lang="en-US" altLang="zh-CN" sz="1000" dirty="0"/>
              <a:t>);</a:t>
            </a:r>
          </a:p>
          <a:p>
            <a:r>
              <a:rPr lang="en-US" altLang="zh-CN" sz="1000" dirty="0"/>
              <a:t>  var </a:t>
            </a:r>
            <a:r>
              <a:rPr lang="en-US" altLang="zh-CN" sz="1000" dirty="0" err="1"/>
              <a:t>numGroup</a:t>
            </a:r>
            <a:r>
              <a:rPr lang="en-US" altLang="zh-CN" sz="1000" dirty="0"/>
              <a:t> = new </a:t>
            </a:r>
            <a:r>
              <a:rPr lang="en-US" altLang="zh-CN" sz="1000" dirty="0" err="1"/>
              <a:t>SliderGroup</a:t>
            </a:r>
            <a:r>
              <a:rPr lang="en-US" altLang="zh-CN" sz="1000" dirty="0"/>
              <a:t>("1");</a:t>
            </a:r>
          </a:p>
          <a:p>
            <a:r>
              <a:rPr lang="en-US" altLang="zh-CN" sz="1000" dirty="0"/>
              <a:t>  </a:t>
            </a:r>
            <a:r>
              <a:rPr lang="en-US" altLang="zh-CN" sz="1000" dirty="0" err="1"/>
              <a:t>numGroup.addSlider</a:t>
            </a:r>
            <a:r>
              <a:rPr lang="en-US" altLang="zh-CN" sz="1000" dirty="0"/>
              <a:t>("Boxes", (value) =&gt; </a:t>
            </a:r>
            <a:r>
              <a:rPr lang="en-US" altLang="zh-CN" sz="1000" dirty="0" err="1"/>
              <a:t>createBoxes</a:t>
            </a:r>
            <a:r>
              <a:rPr lang="en-US" altLang="zh-CN" sz="1000" dirty="0"/>
              <a:t>(</a:t>
            </a:r>
            <a:r>
              <a:rPr lang="en-US" altLang="zh-CN" sz="1000" dirty="0" err="1"/>
              <a:t>Math.round</a:t>
            </a:r>
            <a:r>
              <a:rPr lang="en-US" altLang="zh-CN" sz="1000" dirty="0"/>
              <a:t>(value)), "", 100, 10000, 100, (value) =&gt; </a:t>
            </a:r>
            <a:r>
              <a:rPr lang="en-US" altLang="zh-CN" sz="1000" dirty="0" err="1"/>
              <a:t>Math.round</a:t>
            </a:r>
            <a:r>
              <a:rPr lang="en-US" altLang="zh-CN" sz="1000" dirty="0"/>
              <a:t>(value)) </a:t>
            </a:r>
          </a:p>
          <a:p>
            <a:r>
              <a:rPr lang="en-US" altLang="zh-CN" sz="1000" dirty="0"/>
              <a:t>  </a:t>
            </a:r>
            <a:r>
              <a:rPr lang="en-US" altLang="zh-CN" sz="1000" dirty="0" err="1"/>
              <a:t>selectBox.addGroup</a:t>
            </a:r>
            <a:r>
              <a:rPr lang="en-US" altLang="zh-CN" sz="1000" dirty="0"/>
              <a:t>(</a:t>
            </a:r>
            <a:r>
              <a:rPr lang="en-US" altLang="zh-CN" sz="1000" dirty="0" err="1"/>
              <a:t>numGroup</a:t>
            </a:r>
            <a:r>
              <a:rPr lang="en-US" altLang="zh-CN" sz="1000" dirty="0"/>
              <a:t>);</a:t>
            </a:r>
          </a:p>
          <a:p>
            <a:r>
              <a:rPr lang="en-US" altLang="zh-CN" sz="1000" dirty="0"/>
              <a:t>  </a:t>
            </a:r>
            <a:r>
              <a:rPr lang="en-US" altLang="zh-CN" sz="1000" dirty="0" err="1"/>
              <a:t>scene.onAfterRenderObservable.add</a:t>
            </a:r>
            <a:r>
              <a:rPr lang="en-US" altLang="zh-CN" sz="1000" dirty="0"/>
              <a:t>(() =&gt; {</a:t>
            </a:r>
          </a:p>
          <a:p>
            <a:r>
              <a:rPr lang="en-US" altLang="zh-CN" sz="1000" dirty="0"/>
              <a:t>    </a:t>
            </a:r>
            <a:r>
              <a:rPr lang="en-US" altLang="zh-CN" sz="1000" dirty="0" err="1"/>
              <a:t>numGroup.header</a:t>
            </a:r>
            <a:r>
              <a:rPr lang="en-US" altLang="zh-CN" sz="1000" dirty="0"/>
              <a:t> = "FPS: " + </a:t>
            </a:r>
            <a:r>
              <a:rPr lang="en-US" altLang="zh-CN" sz="1000" dirty="0" err="1"/>
              <a:t>scene.getEngine</a:t>
            </a:r>
            <a:r>
              <a:rPr lang="en-US" altLang="zh-CN" sz="1000" dirty="0"/>
              <a:t>().</a:t>
            </a:r>
            <a:r>
              <a:rPr lang="en-US" altLang="zh-CN" sz="1000" dirty="0" err="1"/>
              <a:t>getFps</a:t>
            </a:r>
            <a:r>
              <a:rPr lang="en-US" altLang="zh-CN" sz="1000" dirty="0"/>
              <a:t>().</a:t>
            </a:r>
            <a:r>
              <a:rPr lang="en-US" altLang="zh-CN" sz="1000" dirty="0" err="1"/>
              <a:t>toFixed</a:t>
            </a:r>
            <a:r>
              <a:rPr lang="en-US" altLang="zh-CN" sz="1000" dirty="0"/>
              <a:t>();</a:t>
            </a:r>
          </a:p>
          <a:p>
            <a:r>
              <a:rPr lang="en-US" altLang="zh-CN" sz="1000" dirty="0"/>
              <a:t>  })</a:t>
            </a:r>
          </a:p>
          <a:p>
            <a:r>
              <a:rPr lang="en-US" altLang="zh-CN" sz="1000" dirty="0"/>
              <a:t>  return scene;</a:t>
            </a:r>
          </a:p>
          <a:p>
            <a:r>
              <a:rPr lang="en-US" altLang="zh-CN" sz="1000" dirty="0"/>
              <a:t>};</a:t>
            </a:r>
          </a:p>
        </p:txBody>
      </p:sp>
      <p:pic>
        <p:nvPicPr>
          <p:cNvPr id="5" name="图片 4">
            <a:extLst>
              <a:ext uri="{FF2B5EF4-FFF2-40B4-BE49-F238E27FC236}">
                <a16:creationId xmlns:a16="http://schemas.microsoft.com/office/drawing/2014/main" id="{5EBDDCB4-0951-11D6-E156-C2E8730EB6F5}"/>
              </a:ext>
            </a:extLst>
          </p:cNvPr>
          <p:cNvPicPr>
            <a:picLocks noChangeAspect="1"/>
          </p:cNvPicPr>
          <p:nvPr/>
        </p:nvPicPr>
        <p:blipFill>
          <a:blip r:embed="rId2"/>
          <a:stretch>
            <a:fillRect/>
          </a:stretch>
        </p:blipFill>
        <p:spPr>
          <a:xfrm>
            <a:off x="7805964" y="3517797"/>
            <a:ext cx="3919538" cy="2781300"/>
          </a:xfrm>
          <a:prstGeom prst="rect">
            <a:avLst/>
          </a:prstGeom>
        </p:spPr>
      </p:pic>
      <p:sp>
        <p:nvSpPr>
          <p:cNvPr id="3" name="矩形 2">
            <a:extLst>
              <a:ext uri="{FF2B5EF4-FFF2-40B4-BE49-F238E27FC236}">
                <a16:creationId xmlns:a16="http://schemas.microsoft.com/office/drawing/2014/main" id="{41EFC629-1861-6D7C-2733-006B4ED312AB}"/>
              </a:ext>
            </a:extLst>
          </p:cNvPr>
          <p:cNvSpPr/>
          <p:nvPr/>
        </p:nvSpPr>
        <p:spPr>
          <a:xfrm>
            <a:off x="7941376" y="1128451"/>
            <a:ext cx="3338402" cy="1815882"/>
          </a:xfrm>
          <a:prstGeom prst="rect">
            <a:avLst/>
          </a:prstGeom>
          <a:solidFill>
            <a:schemeClr val="bg1">
              <a:lumMod val="85000"/>
            </a:schemeClr>
          </a:solidFill>
        </p:spPr>
        <p:txBody>
          <a:bodyPr wrap="square">
            <a:spAutoFit/>
          </a:bodyPr>
          <a:lstStyle/>
          <a:p>
            <a:r>
              <a:rPr lang="en-US" altLang="zh-CN" sz="1400" dirty="0"/>
              <a:t>// Create engine and scene</a:t>
            </a:r>
          </a:p>
          <a:p>
            <a:r>
              <a:rPr lang="en-US" altLang="zh-CN" sz="1400" dirty="0"/>
              <a:t>const </a:t>
            </a:r>
            <a:r>
              <a:rPr lang="en-US" altLang="zh-CN" sz="1400" dirty="0" err="1"/>
              <a:t>babylonEngine</a:t>
            </a:r>
            <a:r>
              <a:rPr lang="en-US" altLang="zh-CN" sz="1400" dirty="0"/>
              <a:t> = new Engine(canvas, true)</a:t>
            </a:r>
          </a:p>
          <a:p>
            <a:endParaRPr lang="en-US" altLang="zh-CN" sz="1400" dirty="0"/>
          </a:p>
          <a:p>
            <a:r>
              <a:rPr lang="en-US" altLang="zh-CN" sz="1400" dirty="0"/>
              <a:t>const scene = </a:t>
            </a:r>
            <a:r>
              <a:rPr lang="en-US" altLang="zh-CN" sz="1400" dirty="0" err="1"/>
              <a:t>meshBench</a:t>
            </a:r>
            <a:r>
              <a:rPr lang="en-US" altLang="zh-CN" sz="1400" dirty="0"/>
              <a:t>(</a:t>
            </a:r>
            <a:r>
              <a:rPr lang="en-US" altLang="zh-CN" sz="1400" dirty="0" err="1"/>
              <a:t>babylonEngine</a:t>
            </a:r>
            <a:r>
              <a:rPr lang="en-US" altLang="zh-CN" sz="1400" dirty="0"/>
              <a:t>);// </a:t>
            </a:r>
            <a:r>
              <a:rPr lang="en-US" altLang="zh-CN" sz="1400" dirty="0" err="1"/>
              <a:t>meshBench</a:t>
            </a:r>
            <a:r>
              <a:rPr lang="en-US" altLang="zh-CN" sz="1400" dirty="0"/>
              <a:t> </a:t>
            </a:r>
            <a:r>
              <a:rPr lang="zh-CN" altLang="en-US" sz="1400" dirty="0"/>
              <a:t>返回 </a:t>
            </a:r>
            <a:r>
              <a:rPr lang="en-US" altLang="zh-CN" sz="1400" dirty="0"/>
              <a:t>Scene</a:t>
            </a:r>
          </a:p>
          <a:p>
            <a:endParaRPr lang="en-US" altLang="zh-CN" sz="1400" dirty="0"/>
          </a:p>
          <a:p>
            <a:r>
              <a:rPr lang="en-US" altLang="zh-CN" sz="1400" dirty="0" err="1"/>
              <a:t>meshBench</a:t>
            </a:r>
            <a:r>
              <a:rPr lang="en-US" altLang="zh-CN" sz="1400" dirty="0"/>
              <a:t>(engine)</a:t>
            </a:r>
          </a:p>
        </p:txBody>
      </p:sp>
      <p:sp>
        <p:nvSpPr>
          <p:cNvPr id="6" name="内容占位符 2">
            <a:extLst>
              <a:ext uri="{FF2B5EF4-FFF2-40B4-BE49-F238E27FC236}">
                <a16:creationId xmlns:a16="http://schemas.microsoft.com/office/drawing/2014/main" id="{2F5A5F3B-E69D-95AB-5ED2-ADA83C08671F}"/>
              </a:ext>
            </a:extLst>
          </p:cNvPr>
          <p:cNvSpPr>
            <a:spLocks noGrp="1" noChangeArrowheads="1"/>
          </p:cNvSpPr>
          <p:nvPr>
            <p:ph idx="1"/>
          </p:nvPr>
        </p:nvSpPr>
        <p:spPr>
          <a:xfrm>
            <a:off x="7331776" y="675412"/>
            <a:ext cx="4557601" cy="453039"/>
          </a:xfrm>
        </p:spPr>
        <p:txBody>
          <a:bodyPr/>
          <a:lstStyle/>
          <a:p>
            <a:pPr marL="0" indent="0">
              <a:buNone/>
            </a:pPr>
            <a:r>
              <a:rPr lang="zh-CN" altLang="en-US" b="1" dirty="0"/>
              <a:t>注意需要在</a:t>
            </a:r>
            <a:r>
              <a:rPr lang="en-US" altLang="zh-CN" b="1" dirty="0"/>
              <a:t>main.js</a:t>
            </a:r>
            <a:r>
              <a:rPr lang="zh-CN" altLang="en-US" b="1" dirty="0"/>
              <a:t>创建</a:t>
            </a:r>
            <a:r>
              <a:rPr lang="en-US" altLang="zh-CN" b="1" dirty="0"/>
              <a:t>scene</a:t>
            </a:r>
            <a:r>
              <a:rPr lang="zh-CN" altLang="en-US" b="1" dirty="0"/>
              <a:t>和</a:t>
            </a:r>
            <a:r>
              <a:rPr lang="en-US" altLang="zh-CN" b="1" dirty="0"/>
              <a:t>engine</a:t>
            </a:r>
            <a:endParaRPr lang="zh-CN" altLang="en-US" sz="1800" dirty="0"/>
          </a:p>
        </p:txBody>
      </p:sp>
    </p:spTree>
    <p:extLst>
      <p:ext uri="{BB962C8B-B14F-4D97-AF65-F5344CB8AC3E}">
        <p14:creationId xmlns:p14="http://schemas.microsoft.com/office/powerpoint/2010/main" val="4050006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DE0B2-765F-FB61-6373-3BD15C299C8D}"/>
            </a:ext>
          </a:extLst>
        </p:cNvPr>
        <p:cNvGrpSpPr/>
        <p:nvPr/>
      </p:nvGrpSpPr>
      <p:grpSpPr>
        <a:xfrm>
          <a:off x="0" y="0"/>
          <a:ext cx="0" cy="0"/>
          <a:chOff x="0" y="0"/>
          <a:chExt cx="0" cy="0"/>
        </a:xfrm>
      </p:grpSpPr>
      <p:sp>
        <p:nvSpPr>
          <p:cNvPr id="12290" name="标题 1">
            <a:extLst>
              <a:ext uri="{FF2B5EF4-FFF2-40B4-BE49-F238E27FC236}">
                <a16:creationId xmlns:a16="http://schemas.microsoft.com/office/drawing/2014/main" id="{841EDDC2-B6D9-E00A-7FD9-5515E438D0B2}"/>
              </a:ext>
            </a:extLst>
          </p:cNvPr>
          <p:cNvSpPr>
            <a:spLocks noGrp="1" noChangeArrowheads="1"/>
          </p:cNvSpPr>
          <p:nvPr>
            <p:ph type="title"/>
          </p:nvPr>
        </p:nvSpPr>
        <p:spPr/>
        <p:txBody>
          <a:bodyPr>
            <a:normAutofit/>
          </a:bodyPr>
          <a:lstStyle/>
          <a:p>
            <a:r>
              <a:rPr lang="en-US" altLang="zh-CN" sz="3200" b="1" dirty="0">
                <a:solidFill>
                  <a:schemeClr val="tx1">
                    <a:lumMod val="65000"/>
                    <a:lumOff val="35000"/>
                  </a:schemeClr>
                </a:solidFill>
                <a:latin typeface="+mn-lt"/>
                <a:ea typeface="+mn-ea"/>
                <a:cs typeface="+mn-cs"/>
              </a:rPr>
              <a:t>clones</a:t>
            </a:r>
            <a:endParaRPr lang="zh-CN" altLang="en-US" sz="3200" b="1" dirty="0">
              <a:solidFill>
                <a:schemeClr val="tx1">
                  <a:lumMod val="65000"/>
                  <a:lumOff val="35000"/>
                </a:schemeClr>
              </a:solidFill>
              <a:latin typeface="+mn-lt"/>
              <a:ea typeface="+mn-ea"/>
              <a:cs typeface="+mn-cs"/>
            </a:endParaRPr>
          </a:p>
        </p:txBody>
      </p:sp>
      <p:sp>
        <p:nvSpPr>
          <p:cNvPr id="4" name="矩形 3">
            <a:extLst>
              <a:ext uri="{FF2B5EF4-FFF2-40B4-BE49-F238E27FC236}">
                <a16:creationId xmlns:a16="http://schemas.microsoft.com/office/drawing/2014/main" id="{64859830-38FB-D7D9-6F1B-37E326BF7F20}"/>
              </a:ext>
            </a:extLst>
          </p:cNvPr>
          <p:cNvSpPr/>
          <p:nvPr/>
        </p:nvSpPr>
        <p:spPr>
          <a:xfrm>
            <a:off x="1021670" y="1128451"/>
            <a:ext cx="6874827" cy="5478423"/>
          </a:xfrm>
          <a:prstGeom prst="rect">
            <a:avLst/>
          </a:prstGeom>
          <a:solidFill>
            <a:schemeClr val="bg1">
              <a:lumMod val="85000"/>
            </a:schemeClr>
          </a:solidFill>
        </p:spPr>
        <p:txBody>
          <a:bodyPr wrap="square">
            <a:spAutoFit/>
          </a:bodyPr>
          <a:lstStyle/>
          <a:p>
            <a:r>
              <a:rPr lang="en-US" altLang="zh-CN" sz="1000" dirty="0"/>
              <a:t>import { </a:t>
            </a:r>
            <a:r>
              <a:rPr lang="en-US" altLang="zh-CN" sz="1000" dirty="0" err="1"/>
              <a:t>HemisphericLight</a:t>
            </a:r>
            <a:r>
              <a:rPr lang="en-US" altLang="zh-CN" sz="1000" dirty="0"/>
              <a:t>, </a:t>
            </a:r>
            <a:r>
              <a:rPr lang="en-US" altLang="zh-CN" sz="1000" dirty="0" err="1"/>
              <a:t>ArcRotateCamera</a:t>
            </a:r>
            <a:r>
              <a:rPr lang="en-US" altLang="zh-CN" sz="1000" dirty="0"/>
              <a:t>, Vector3, Scene} from '@</a:t>
            </a:r>
            <a:r>
              <a:rPr lang="en-US" altLang="zh-CN" sz="1000" dirty="0" err="1"/>
              <a:t>babylonjs</a:t>
            </a:r>
            <a:r>
              <a:rPr lang="en-US" altLang="zh-CN" sz="1000" dirty="0"/>
              <a:t>/core';</a:t>
            </a:r>
          </a:p>
          <a:p>
            <a:r>
              <a:rPr lang="en-US" altLang="zh-CN" sz="1000" dirty="0"/>
              <a:t>import { </a:t>
            </a:r>
            <a:r>
              <a:rPr lang="en-US" altLang="zh-CN" sz="1000" dirty="0" err="1"/>
              <a:t>AdvancedDynamicTexture</a:t>
            </a:r>
            <a:r>
              <a:rPr lang="en-US" altLang="zh-CN" sz="1000" dirty="0"/>
              <a:t>, Control, </a:t>
            </a:r>
            <a:r>
              <a:rPr lang="en-US" altLang="zh-CN" sz="1000" dirty="0" err="1"/>
              <a:t>SelectionPanel</a:t>
            </a:r>
            <a:r>
              <a:rPr lang="en-US" altLang="zh-CN" sz="1000" dirty="0"/>
              <a:t>, </a:t>
            </a:r>
            <a:r>
              <a:rPr lang="en-US" altLang="zh-CN" sz="1000" dirty="0" err="1"/>
              <a:t>SliderGroup</a:t>
            </a:r>
            <a:r>
              <a:rPr lang="en-US" altLang="zh-CN" sz="1000" dirty="0"/>
              <a:t>} from '@</a:t>
            </a:r>
            <a:r>
              <a:rPr lang="en-US" altLang="zh-CN" sz="1000" dirty="0" err="1"/>
              <a:t>babylonjs</a:t>
            </a:r>
            <a:r>
              <a:rPr lang="en-US" altLang="zh-CN" sz="1000" dirty="0"/>
              <a:t>/</a:t>
            </a:r>
            <a:r>
              <a:rPr lang="en-US" altLang="zh-CN" sz="1000" dirty="0" err="1"/>
              <a:t>gui</a:t>
            </a:r>
            <a:r>
              <a:rPr lang="en-US" altLang="zh-CN" sz="1000" dirty="0"/>
              <a:t>';</a:t>
            </a:r>
          </a:p>
          <a:p>
            <a:r>
              <a:rPr lang="en-US" altLang="zh-CN" sz="1000" dirty="0"/>
              <a:t>import * as anu from '@</a:t>
            </a:r>
            <a:r>
              <a:rPr lang="en-US" altLang="zh-CN" sz="1000" dirty="0" err="1"/>
              <a:t>jpmorganchase</a:t>
            </a:r>
            <a:r>
              <a:rPr lang="en-US" altLang="zh-CN" sz="1000" dirty="0"/>
              <a:t>/anu' //import anu, this project is using a local import of </a:t>
            </a:r>
            <a:r>
              <a:rPr lang="en-US" altLang="zh-CN" sz="1000" dirty="0" err="1"/>
              <a:t>babylon</a:t>
            </a:r>
            <a:r>
              <a:rPr lang="en-US" altLang="zh-CN" sz="1000" dirty="0"/>
              <a:t> </a:t>
            </a:r>
            <a:r>
              <a:rPr lang="en-US" altLang="zh-CN" sz="1000" dirty="0" err="1"/>
              <a:t>js</a:t>
            </a:r>
            <a:r>
              <a:rPr lang="en-US" altLang="zh-CN" sz="1000" dirty="0"/>
              <a:t> located at ../</a:t>
            </a:r>
            <a:r>
              <a:rPr lang="en-US" altLang="zh-CN" sz="1000" dirty="0" err="1"/>
              <a:t>babylonjs</a:t>
            </a:r>
            <a:r>
              <a:rPr lang="en-US" altLang="zh-CN" sz="1000" dirty="0"/>
              <a:t>-anu this may not be the latest version and is used for simplicity.</a:t>
            </a:r>
          </a:p>
          <a:p>
            <a:r>
              <a:rPr lang="en-US" altLang="zh-CN" sz="1000" dirty="0"/>
              <a:t>//create and export a function that takes a </a:t>
            </a:r>
            <a:r>
              <a:rPr lang="en-US" altLang="zh-CN" sz="1000" dirty="0" err="1"/>
              <a:t>babylon</a:t>
            </a:r>
            <a:r>
              <a:rPr lang="en-US" altLang="zh-CN" sz="1000" dirty="0"/>
              <a:t> engine and returns a scene</a:t>
            </a:r>
          </a:p>
          <a:p>
            <a:r>
              <a:rPr lang="en-US" altLang="zh-CN" sz="1000" dirty="0"/>
              <a:t>export const </a:t>
            </a:r>
            <a:r>
              <a:rPr lang="en-US" altLang="zh-CN" sz="1000" dirty="0" err="1"/>
              <a:t>cloneBench</a:t>
            </a:r>
            <a:r>
              <a:rPr lang="en-US" altLang="zh-CN" sz="1000" dirty="0"/>
              <a:t> = (engine) =&gt;{</a:t>
            </a:r>
          </a:p>
          <a:p>
            <a:r>
              <a:rPr lang="en-US" altLang="zh-CN" sz="1000" dirty="0"/>
              <a:t>  const scene = new Scene(engine);</a:t>
            </a:r>
          </a:p>
          <a:p>
            <a:r>
              <a:rPr lang="en-US" altLang="zh-CN" sz="1000" dirty="0"/>
              <a:t>  new </a:t>
            </a:r>
            <a:r>
              <a:rPr lang="en-US" altLang="zh-CN" sz="1000" dirty="0" err="1"/>
              <a:t>HemisphericLight</a:t>
            </a:r>
            <a:r>
              <a:rPr lang="en-US" altLang="zh-CN" sz="1000" dirty="0"/>
              <a:t>('light1', new Vector3(0, 10, 0), scene);</a:t>
            </a:r>
          </a:p>
          <a:p>
            <a:r>
              <a:rPr lang="en-US" altLang="zh-CN" sz="1000" dirty="0"/>
              <a:t>  const camera = new </a:t>
            </a:r>
            <a:r>
              <a:rPr lang="en-US" altLang="zh-CN" sz="1000" dirty="0" err="1"/>
              <a:t>ArcRotateCamera</a:t>
            </a:r>
            <a:r>
              <a:rPr lang="en-US" altLang="zh-CN" sz="1000" dirty="0"/>
              <a:t>("Camera", -(</a:t>
            </a:r>
            <a:r>
              <a:rPr lang="en-US" altLang="zh-CN" sz="1000" dirty="0" err="1"/>
              <a:t>Math.PI</a:t>
            </a:r>
            <a:r>
              <a:rPr lang="en-US" altLang="zh-CN" sz="1000" dirty="0"/>
              <a:t> / 4) * 3, </a:t>
            </a:r>
            <a:r>
              <a:rPr lang="en-US" altLang="zh-CN" sz="1000" dirty="0" err="1"/>
              <a:t>Math.PI</a:t>
            </a:r>
            <a:r>
              <a:rPr lang="en-US" altLang="zh-CN" sz="1000" dirty="0"/>
              <a:t> / 4, 10, new Vector3(0, 0, 0), scene);</a:t>
            </a:r>
          </a:p>
          <a:p>
            <a:r>
              <a:rPr lang="en-US" altLang="zh-CN" sz="1000" dirty="0"/>
              <a:t>  </a:t>
            </a:r>
            <a:r>
              <a:rPr lang="en-US" altLang="zh-CN" sz="1000" dirty="0" err="1"/>
              <a:t>camera.position</a:t>
            </a:r>
            <a:r>
              <a:rPr lang="en-US" altLang="zh-CN" sz="1000" dirty="0"/>
              <a:t> = new Vector3(-25, 10, -50);</a:t>
            </a:r>
          </a:p>
          <a:p>
            <a:r>
              <a:rPr lang="en-US" altLang="zh-CN" sz="1000" dirty="0"/>
              <a:t>  </a:t>
            </a:r>
            <a:r>
              <a:rPr lang="en-US" altLang="zh-CN" sz="1000" dirty="0" err="1"/>
              <a:t>camera.attachControl</a:t>
            </a:r>
            <a:r>
              <a:rPr lang="en-US" altLang="zh-CN" sz="1000" dirty="0"/>
              <a:t>(true);</a:t>
            </a:r>
          </a:p>
          <a:p>
            <a:r>
              <a:rPr lang="en-US" altLang="zh-CN" sz="1000" dirty="0"/>
              <a:t>  let n = 100</a:t>
            </a:r>
          </a:p>
          <a:p>
            <a:r>
              <a:rPr lang="en-US" altLang="zh-CN" sz="1000" dirty="0"/>
              <a:t>  let </a:t>
            </a:r>
            <a:r>
              <a:rPr lang="en-US" altLang="zh-CN" sz="1000" dirty="0" err="1"/>
              <a:t>root_box</a:t>
            </a:r>
            <a:r>
              <a:rPr lang="en-US" altLang="zh-CN" sz="1000" dirty="0"/>
              <a:t> = </a:t>
            </a:r>
            <a:r>
              <a:rPr lang="en-US" altLang="zh-CN" sz="1000" dirty="0" err="1"/>
              <a:t>anu.create</a:t>
            </a:r>
            <a:r>
              <a:rPr lang="en-US" altLang="zh-CN" sz="1000" dirty="0"/>
              <a:t>('box', '</a:t>
            </a:r>
            <a:r>
              <a:rPr lang="en-US" altLang="zh-CN" sz="1000" dirty="0" err="1"/>
              <a:t>root_box</a:t>
            </a:r>
            <a:r>
              <a:rPr lang="en-US" altLang="zh-CN" sz="1000" dirty="0"/>
              <a:t>')</a:t>
            </a:r>
          </a:p>
          <a:p>
            <a:r>
              <a:rPr lang="en-US" altLang="zh-CN" sz="1000" dirty="0"/>
              <a:t>  let box = </a:t>
            </a:r>
            <a:r>
              <a:rPr lang="en-US" altLang="zh-CN" sz="1000" dirty="0" err="1"/>
              <a:t>anu.bindClone</a:t>
            </a:r>
            <a:r>
              <a:rPr lang="en-US" altLang="zh-CN" sz="1000" dirty="0"/>
              <a:t>(</a:t>
            </a:r>
            <a:r>
              <a:rPr lang="en-US" altLang="zh-CN" sz="1000" dirty="0" err="1"/>
              <a:t>root_box</a:t>
            </a:r>
            <a:r>
              <a:rPr lang="en-US" altLang="zh-CN" sz="1000" dirty="0"/>
              <a:t>, [...Array(n).keys()], scene)</a:t>
            </a:r>
          </a:p>
          <a:p>
            <a:r>
              <a:rPr lang="en-US" altLang="zh-CN" sz="1000" dirty="0"/>
              <a:t>                .position(() =&gt; Vector3.Random(-20,20));</a:t>
            </a:r>
          </a:p>
          <a:p>
            <a:r>
              <a:rPr lang="en-US" altLang="zh-CN" sz="1000" dirty="0"/>
              <a:t>  let </a:t>
            </a:r>
            <a:r>
              <a:rPr lang="en-US" altLang="zh-CN" sz="1000" dirty="0" err="1"/>
              <a:t>createBoxes</a:t>
            </a:r>
            <a:r>
              <a:rPr lang="en-US" altLang="zh-CN" sz="1000" dirty="0"/>
              <a:t> = (num) =&gt; {</a:t>
            </a:r>
          </a:p>
          <a:p>
            <a:r>
              <a:rPr lang="en-US" altLang="zh-CN" sz="1000" dirty="0"/>
              <a:t>    </a:t>
            </a:r>
            <a:r>
              <a:rPr lang="en-US" altLang="zh-CN" sz="1000" dirty="0" err="1"/>
              <a:t>box.dispose</a:t>
            </a:r>
            <a:r>
              <a:rPr lang="en-US" altLang="zh-CN" sz="1000" dirty="0"/>
              <a:t>();</a:t>
            </a:r>
          </a:p>
          <a:p>
            <a:r>
              <a:rPr lang="en-US" altLang="zh-CN" sz="1000" dirty="0"/>
              <a:t>    box = </a:t>
            </a:r>
            <a:r>
              <a:rPr lang="en-US" altLang="zh-CN" sz="1000" dirty="0" err="1"/>
              <a:t>anu.bindClone</a:t>
            </a:r>
            <a:r>
              <a:rPr lang="en-US" altLang="zh-CN" sz="1000" dirty="0"/>
              <a:t>(</a:t>
            </a:r>
            <a:r>
              <a:rPr lang="en-US" altLang="zh-CN" sz="1000" dirty="0" err="1"/>
              <a:t>root_box</a:t>
            </a:r>
            <a:r>
              <a:rPr lang="en-US" altLang="zh-CN" sz="1000" dirty="0"/>
              <a:t>, [...Array(num).keys()], scene)</a:t>
            </a:r>
          </a:p>
          <a:p>
            <a:r>
              <a:rPr lang="en-US" altLang="zh-CN" sz="1000" dirty="0"/>
              <a:t>                .position(() =&gt; Vector3.Random(-20,20));</a:t>
            </a:r>
          </a:p>
          <a:p>
            <a:r>
              <a:rPr lang="en-US" altLang="zh-CN" sz="1000" dirty="0"/>
              <a:t>  }</a:t>
            </a:r>
          </a:p>
          <a:p>
            <a:r>
              <a:rPr lang="en-US" altLang="zh-CN" sz="1000" dirty="0"/>
              <a:t>	var </a:t>
            </a:r>
            <a:r>
              <a:rPr lang="en-US" altLang="zh-CN" sz="1000" dirty="0" err="1"/>
              <a:t>advancedTexture</a:t>
            </a:r>
            <a:r>
              <a:rPr lang="en-US" altLang="zh-CN" sz="1000" dirty="0"/>
              <a:t> = </a:t>
            </a:r>
            <a:r>
              <a:rPr lang="en-US" altLang="zh-CN" sz="1000" dirty="0" err="1"/>
              <a:t>AdvancedDynamicTexture.CreateFullscreenUI</a:t>
            </a:r>
            <a:r>
              <a:rPr lang="en-US" altLang="zh-CN" sz="1000" dirty="0"/>
              <a:t>("mesh");</a:t>
            </a:r>
          </a:p>
          <a:p>
            <a:r>
              <a:rPr lang="en-US" altLang="zh-CN" sz="1000" dirty="0"/>
              <a:t>  var </a:t>
            </a:r>
            <a:r>
              <a:rPr lang="en-US" altLang="zh-CN" sz="1000" dirty="0" err="1"/>
              <a:t>selectBox</a:t>
            </a:r>
            <a:r>
              <a:rPr lang="en-US" altLang="zh-CN" sz="1000" dirty="0"/>
              <a:t> = new </a:t>
            </a:r>
            <a:r>
              <a:rPr lang="en-US" altLang="zh-CN" sz="1000" dirty="0" err="1"/>
              <a:t>SelectionPanel</a:t>
            </a:r>
            <a:r>
              <a:rPr lang="en-US" altLang="zh-CN" sz="1000" dirty="0"/>
              <a:t>("mesh");</a:t>
            </a:r>
          </a:p>
          <a:p>
            <a:r>
              <a:rPr lang="en-US" altLang="zh-CN" sz="1000" dirty="0"/>
              <a:t>  </a:t>
            </a:r>
            <a:r>
              <a:rPr lang="en-US" altLang="zh-CN" sz="1000" dirty="0" err="1"/>
              <a:t>selectBox.width</a:t>
            </a:r>
            <a:r>
              <a:rPr lang="en-US" altLang="zh-CN" sz="1000" dirty="0"/>
              <a:t> = 0.25;</a:t>
            </a:r>
          </a:p>
          <a:p>
            <a:r>
              <a:rPr lang="en-US" altLang="zh-CN" sz="1000" dirty="0"/>
              <a:t>  </a:t>
            </a:r>
            <a:r>
              <a:rPr lang="en-US" altLang="zh-CN" sz="1000" dirty="0" err="1"/>
              <a:t>selectBox.height</a:t>
            </a:r>
            <a:r>
              <a:rPr lang="en-US" altLang="zh-CN" sz="1000" dirty="0"/>
              <a:t> = 0.25;</a:t>
            </a:r>
          </a:p>
          <a:p>
            <a:r>
              <a:rPr lang="en-US" altLang="zh-CN" sz="1000" dirty="0"/>
              <a:t>  </a:t>
            </a:r>
            <a:r>
              <a:rPr lang="en-US" altLang="zh-CN" sz="1000" dirty="0" err="1"/>
              <a:t>selectBox.horizontalAlignment</a:t>
            </a:r>
            <a:r>
              <a:rPr lang="en-US" altLang="zh-CN" sz="1000" dirty="0"/>
              <a:t> = </a:t>
            </a:r>
            <a:r>
              <a:rPr lang="en-US" altLang="zh-CN" sz="1000" dirty="0" err="1"/>
              <a:t>Control.HORIZONTAL_ALIGNMENT_LEFT</a:t>
            </a:r>
            <a:r>
              <a:rPr lang="en-US" altLang="zh-CN" sz="1000" dirty="0"/>
              <a:t>;</a:t>
            </a:r>
          </a:p>
          <a:p>
            <a:r>
              <a:rPr lang="en-US" altLang="zh-CN" sz="1000" dirty="0"/>
              <a:t>  </a:t>
            </a:r>
            <a:r>
              <a:rPr lang="en-US" altLang="zh-CN" sz="1000" dirty="0" err="1"/>
              <a:t>selectBox.verticalAlignment</a:t>
            </a:r>
            <a:r>
              <a:rPr lang="en-US" altLang="zh-CN" sz="1000" dirty="0"/>
              <a:t> = </a:t>
            </a:r>
            <a:r>
              <a:rPr lang="en-US" altLang="zh-CN" sz="1000" dirty="0" err="1"/>
              <a:t>Control.VERTICAL_ALIGNMENT_BOTTOM</a:t>
            </a:r>
            <a:r>
              <a:rPr lang="en-US" altLang="zh-CN" sz="1000" dirty="0"/>
              <a:t>;</a:t>
            </a:r>
          </a:p>
          <a:p>
            <a:r>
              <a:rPr lang="en-US" altLang="zh-CN" sz="1000" dirty="0"/>
              <a:t>  </a:t>
            </a:r>
            <a:r>
              <a:rPr lang="en-US" altLang="zh-CN" sz="1000" dirty="0" err="1"/>
              <a:t>advancedTexture.addControl</a:t>
            </a:r>
            <a:r>
              <a:rPr lang="en-US" altLang="zh-CN" sz="1000" dirty="0"/>
              <a:t>(</a:t>
            </a:r>
            <a:r>
              <a:rPr lang="en-US" altLang="zh-CN" sz="1000" dirty="0" err="1"/>
              <a:t>selectBox</a:t>
            </a:r>
            <a:r>
              <a:rPr lang="en-US" altLang="zh-CN" sz="1000" dirty="0"/>
              <a:t>);</a:t>
            </a:r>
          </a:p>
          <a:p>
            <a:r>
              <a:rPr lang="en-US" altLang="zh-CN" sz="1000" dirty="0"/>
              <a:t>  var </a:t>
            </a:r>
            <a:r>
              <a:rPr lang="en-US" altLang="zh-CN" sz="1000" dirty="0" err="1"/>
              <a:t>numGroup</a:t>
            </a:r>
            <a:r>
              <a:rPr lang="en-US" altLang="zh-CN" sz="1000" dirty="0"/>
              <a:t> = new </a:t>
            </a:r>
            <a:r>
              <a:rPr lang="en-US" altLang="zh-CN" sz="1000" dirty="0" err="1"/>
              <a:t>SliderGroup</a:t>
            </a:r>
            <a:r>
              <a:rPr lang="en-US" altLang="zh-CN" sz="1000" dirty="0"/>
              <a:t>("1");</a:t>
            </a:r>
          </a:p>
          <a:p>
            <a:r>
              <a:rPr lang="en-US" altLang="zh-CN" sz="1000" dirty="0"/>
              <a:t>  </a:t>
            </a:r>
            <a:r>
              <a:rPr lang="en-US" altLang="zh-CN" sz="1000" dirty="0" err="1"/>
              <a:t>numGroup.addSlider</a:t>
            </a:r>
            <a:r>
              <a:rPr lang="en-US" altLang="zh-CN" sz="1000" dirty="0"/>
              <a:t>("Boxes", (value) =&gt; </a:t>
            </a:r>
            <a:r>
              <a:rPr lang="en-US" altLang="zh-CN" sz="1000" dirty="0" err="1"/>
              <a:t>createBoxes</a:t>
            </a:r>
            <a:r>
              <a:rPr lang="en-US" altLang="zh-CN" sz="1000" dirty="0"/>
              <a:t>(</a:t>
            </a:r>
            <a:r>
              <a:rPr lang="en-US" altLang="zh-CN" sz="1000" dirty="0" err="1"/>
              <a:t>Math.round</a:t>
            </a:r>
            <a:r>
              <a:rPr lang="en-US" altLang="zh-CN" sz="1000" dirty="0"/>
              <a:t>(value)), "", 100, 10000, 100, (value) =&gt; </a:t>
            </a:r>
            <a:r>
              <a:rPr lang="en-US" altLang="zh-CN" sz="1000" dirty="0" err="1"/>
              <a:t>Math.round</a:t>
            </a:r>
            <a:r>
              <a:rPr lang="en-US" altLang="zh-CN" sz="1000" dirty="0"/>
              <a:t>(value)) </a:t>
            </a:r>
          </a:p>
          <a:p>
            <a:r>
              <a:rPr lang="en-US" altLang="zh-CN" sz="1000" dirty="0"/>
              <a:t>  </a:t>
            </a:r>
            <a:r>
              <a:rPr lang="en-US" altLang="zh-CN" sz="1000" dirty="0" err="1"/>
              <a:t>selectBox.addGroup</a:t>
            </a:r>
            <a:r>
              <a:rPr lang="en-US" altLang="zh-CN" sz="1000" dirty="0"/>
              <a:t>(</a:t>
            </a:r>
            <a:r>
              <a:rPr lang="en-US" altLang="zh-CN" sz="1000" dirty="0" err="1"/>
              <a:t>numGroup</a:t>
            </a:r>
            <a:r>
              <a:rPr lang="en-US" altLang="zh-CN" sz="1000" dirty="0"/>
              <a:t>);</a:t>
            </a:r>
          </a:p>
          <a:p>
            <a:r>
              <a:rPr lang="en-US" altLang="zh-CN" sz="1000" dirty="0"/>
              <a:t>  </a:t>
            </a:r>
            <a:r>
              <a:rPr lang="en-US" altLang="zh-CN" sz="1000" dirty="0" err="1"/>
              <a:t>scene.onAfterRenderObservable.add</a:t>
            </a:r>
            <a:r>
              <a:rPr lang="en-US" altLang="zh-CN" sz="1000" dirty="0"/>
              <a:t>(() =&gt; {</a:t>
            </a:r>
          </a:p>
          <a:p>
            <a:r>
              <a:rPr lang="en-US" altLang="zh-CN" sz="1000" dirty="0"/>
              <a:t>    </a:t>
            </a:r>
            <a:r>
              <a:rPr lang="en-US" altLang="zh-CN" sz="1000" dirty="0" err="1"/>
              <a:t>numGroup.header</a:t>
            </a:r>
            <a:r>
              <a:rPr lang="en-US" altLang="zh-CN" sz="1000" dirty="0"/>
              <a:t> = "FPS: " + </a:t>
            </a:r>
            <a:r>
              <a:rPr lang="en-US" altLang="zh-CN" sz="1000" dirty="0" err="1"/>
              <a:t>scene.getEngine</a:t>
            </a:r>
            <a:r>
              <a:rPr lang="en-US" altLang="zh-CN" sz="1000" dirty="0"/>
              <a:t>().</a:t>
            </a:r>
            <a:r>
              <a:rPr lang="en-US" altLang="zh-CN" sz="1000" dirty="0" err="1"/>
              <a:t>getFps</a:t>
            </a:r>
            <a:r>
              <a:rPr lang="en-US" altLang="zh-CN" sz="1000" dirty="0"/>
              <a:t>().</a:t>
            </a:r>
            <a:r>
              <a:rPr lang="en-US" altLang="zh-CN" sz="1000" dirty="0" err="1"/>
              <a:t>toFixed</a:t>
            </a:r>
            <a:r>
              <a:rPr lang="en-US" altLang="zh-CN" sz="1000" dirty="0"/>
              <a:t>();</a:t>
            </a:r>
          </a:p>
          <a:p>
            <a:r>
              <a:rPr lang="en-US" altLang="zh-CN" sz="1000" dirty="0"/>
              <a:t>  })</a:t>
            </a:r>
          </a:p>
          <a:p>
            <a:r>
              <a:rPr lang="en-US" altLang="zh-CN" sz="1000" dirty="0"/>
              <a:t>  return scene;</a:t>
            </a:r>
          </a:p>
          <a:p>
            <a:r>
              <a:rPr lang="en-US" altLang="zh-CN" sz="1000" dirty="0"/>
              <a:t>};</a:t>
            </a:r>
          </a:p>
        </p:txBody>
      </p:sp>
      <p:pic>
        <p:nvPicPr>
          <p:cNvPr id="3" name="图片 2">
            <a:extLst>
              <a:ext uri="{FF2B5EF4-FFF2-40B4-BE49-F238E27FC236}">
                <a16:creationId xmlns:a16="http://schemas.microsoft.com/office/drawing/2014/main" id="{143294F5-96B3-6622-7146-E74246942DEE}"/>
              </a:ext>
            </a:extLst>
          </p:cNvPr>
          <p:cNvPicPr>
            <a:picLocks noChangeAspect="1"/>
          </p:cNvPicPr>
          <p:nvPr/>
        </p:nvPicPr>
        <p:blipFill>
          <a:blip r:embed="rId2"/>
          <a:stretch>
            <a:fillRect/>
          </a:stretch>
        </p:blipFill>
        <p:spPr>
          <a:xfrm>
            <a:off x="7896497" y="3729759"/>
            <a:ext cx="3976686" cy="2662237"/>
          </a:xfrm>
          <a:prstGeom prst="rect">
            <a:avLst/>
          </a:prstGeom>
        </p:spPr>
      </p:pic>
      <p:sp>
        <p:nvSpPr>
          <p:cNvPr id="2" name="矩形 1">
            <a:extLst>
              <a:ext uri="{FF2B5EF4-FFF2-40B4-BE49-F238E27FC236}">
                <a16:creationId xmlns:a16="http://schemas.microsoft.com/office/drawing/2014/main" id="{63F5A955-8C9D-9372-2037-AEE7CEBB73A4}"/>
              </a:ext>
            </a:extLst>
          </p:cNvPr>
          <p:cNvSpPr/>
          <p:nvPr/>
        </p:nvSpPr>
        <p:spPr>
          <a:xfrm>
            <a:off x="7994047" y="1126965"/>
            <a:ext cx="3338402" cy="1815882"/>
          </a:xfrm>
          <a:prstGeom prst="rect">
            <a:avLst/>
          </a:prstGeom>
          <a:solidFill>
            <a:schemeClr val="bg1">
              <a:lumMod val="85000"/>
            </a:schemeClr>
          </a:solidFill>
        </p:spPr>
        <p:txBody>
          <a:bodyPr wrap="square">
            <a:spAutoFit/>
          </a:bodyPr>
          <a:lstStyle/>
          <a:p>
            <a:r>
              <a:rPr lang="en-US" altLang="zh-CN" sz="1400" dirty="0"/>
              <a:t>// Create engine and scene</a:t>
            </a:r>
          </a:p>
          <a:p>
            <a:r>
              <a:rPr lang="en-US" altLang="zh-CN" sz="1400" dirty="0"/>
              <a:t>const </a:t>
            </a:r>
            <a:r>
              <a:rPr lang="en-US" altLang="zh-CN" sz="1400" dirty="0" err="1"/>
              <a:t>babylonEngine</a:t>
            </a:r>
            <a:r>
              <a:rPr lang="en-US" altLang="zh-CN" sz="1400" dirty="0"/>
              <a:t> = new Engine(canvas, true)</a:t>
            </a:r>
          </a:p>
          <a:p>
            <a:endParaRPr lang="en-US" altLang="zh-CN" sz="1400" dirty="0"/>
          </a:p>
          <a:p>
            <a:r>
              <a:rPr lang="en-US" altLang="zh-CN" sz="1400" dirty="0"/>
              <a:t>const scene =</a:t>
            </a:r>
            <a:r>
              <a:rPr lang="en-US" altLang="zh-CN" sz="1400" dirty="0" err="1"/>
              <a:t>cloneBench</a:t>
            </a:r>
            <a:r>
              <a:rPr lang="en-US" altLang="zh-CN" sz="1400" dirty="0"/>
              <a:t>(</a:t>
            </a:r>
            <a:r>
              <a:rPr lang="en-US" altLang="zh-CN" sz="1400" dirty="0" err="1"/>
              <a:t>babylonEngine</a:t>
            </a:r>
            <a:r>
              <a:rPr lang="en-US" altLang="zh-CN" sz="1400" dirty="0"/>
              <a:t>);// </a:t>
            </a:r>
            <a:r>
              <a:rPr lang="en-US" altLang="zh-CN" sz="1400" dirty="0" err="1"/>
              <a:t>meshBench</a:t>
            </a:r>
            <a:r>
              <a:rPr lang="en-US" altLang="zh-CN" sz="1400" dirty="0"/>
              <a:t> </a:t>
            </a:r>
            <a:r>
              <a:rPr lang="zh-CN" altLang="en-US" sz="1400" dirty="0"/>
              <a:t>返回 </a:t>
            </a:r>
            <a:r>
              <a:rPr lang="en-US" altLang="zh-CN" sz="1400" dirty="0"/>
              <a:t>Scene</a:t>
            </a:r>
          </a:p>
          <a:p>
            <a:endParaRPr lang="en-US" altLang="zh-CN" sz="1400" dirty="0"/>
          </a:p>
          <a:p>
            <a:r>
              <a:rPr lang="en-US" altLang="zh-CN" sz="1400" dirty="0" err="1"/>
              <a:t>cloneBench</a:t>
            </a:r>
            <a:r>
              <a:rPr lang="en-US" altLang="zh-CN" sz="1400" dirty="0"/>
              <a:t>(engine)</a:t>
            </a:r>
          </a:p>
        </p:txBody>
      </p:sp>
      <p:sp>
        <p:nvSpPr>
          <p:cNvPr id="5" name="内容占位符 2">
            <a:extLst>
              <a:ext uri="{FF2B5EF4-FFF2-40B4-BE49-F238E27FC236}">
                <a16:creationId xmlns:a16="http://schemas.microsoft.com/office/drawing/2014/main" id="{BCFC222C-DA37-2C18-6DC4-7E17AD26AEF5}"/>
              </a:ext>
            </a:extLst>
          </p:cNvPr>
          <p:cNvSpPr>
            <a:spLocks noGrp="1" noChangeArrowheads="1"/>
          </p:cNvSpPr>
          <p:nvPr>
            <p:ph idx="1"/>
          </p:nvPr>
        </p:nvSpPr>
        <p:spPr>
          <a:xfrm>
            <a:off x="7994047" y="673926"/>
            <a:ext cx="2543743" cy="453039"/>
          </a:xfrm>
        </p:spPr>
        <p:txBody>
          <a:bodyPr/>
          <a:lstStyle/>
          <a:p>
            <a:pPr marL="0" indent="0">
              <a:buNone/>
            </a:pPr>
            <a:r>
              <a:rPr lang="en-US" altLang="zh-CN" b="1" dirty="0"/>
              <a:t>main.js</a:t>
            </a:r>
            <a:r>
              <a:rPr lang="zh-CN" altLang="en-US" b="1" dirty="0"/>
              <a:t>部分代码</a:t>
            </a:r>
            <a:endParaRPr lang="zh-CN" altLang="en-US" sz="1800" dirty="0"/>
          </a:p>
        </p:txBody>
      </p:sp>
    </p:spTree>
    <p:extLst>
      <p:ext uri="{BB962C8B-B14F-4D97-AF65-F5344CB8AC3E}">
        <p14:creationId xmlns:p14="http://schemas.microsoft.com/office/powerpoint/2010/main" val="3220048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9FF21-CE0A-BA53-21C3-DBEBF3A6165F}"/>
            </a:ext>
          </a:extLst>
        </p:cNvPr>
        <p:cNvGrpSpPr/>
        <p:nvPr/>
      </p:nvGrpSpPr>
      <p:grpSpPr>
        <a:xfrm>
          <a:off x="0" y="0"/>
          <a:ext cx="0" cy="0"/>
          <a:chOff x="0" y="0"/>
          <a:chExt cx="0" cy="0"/>
        </a:xfrm>
      </p:grpSpPr>
      <p:sp>
        <p:nvSpPr>
          <p:cNvPr id="12290" name="标题 1">
            <a:extLst>
              <a:ext uri="{FF2B5EF4-FFF2-40B4-BE49-F238E27FC236}">
                <a16:creationId xmlns:a16="http://schemas.microsoft.com/office/drawing/2014/main" id="{7F810FA2-B846-528B-F951-D2958C739923}"/>
              </a:ext>
            </a:extLst>
          </p:cNvPr>
          <p:cNvSpPr>
            <a:spLocks noGrp="1" noChangeArrowheads="1"/>
          </p:cNvSpPr>
          <p:nvPr>
            <p:ph type="title"/>
          </p:nvPr>
        </p:nvSpPr>
        <p:spPr>
          <a:xfrm>
            <a:off x="1223533" y="582410"/>
            <a:ext cx="10178322" cy="746066"/>
          </a:xfrm>
        </p:spPr>
        <p:txBody>
          <a:bodyPr>
            <a:normAutofit/>
          </a:bodyPr>
          <a:lstStyle/>
          <a:p>
            <a:r>
              <a:rPr lang="zh-CN" altLang="en-US" sz="4000" dirty="0">
                <a:latin typeface="华文中宋" panose="02010600040101010101" pitchFamily="2" charset="-122"/>
                <a:ea typeface="华文中宋" panose="02010600040101010101" pitchFamily="2" charset="-122"/>
              </a:rPr>
              <a:t>实例，瘦实例</a:t>
            </a:r>
          </a:p>
        </p:txBody>
      </p:sp>
      <p:sp>
        <p:nvSpPr>
          <p:cNvPr id="12291" name="内容占位符 2">
            <a:extLst>
              <a:ext uri="{FF2B5EF4-FFF2-40B4-BE49-F238E27FC236}">
                <a16:creationId xmlns:a16="http://schemas.microsoft.com/office/drawing/2014/main" id="{05DE5299-BEC6-FD14-B10B-1FE9FECB85E4}"/>
              </a:ext>
            </a:extLst>
          </p:cNvPr>
          <p:cNvSpPr>
            <a:spLocks noGrp="1" noChangeArrowheads="1"/>
          </p:cNvSpPr>
          <p:nvPr>
            <p:ph idx="1"/>
          </p:nvPr>
        </p:nvSpPr>
        <p:spPr>
          <a:xfrm>
            <a:off x="1116695" y="2256482"/>
            <a:ext cx="4979305" cy="2696518"/>
          </a:xfrm>
        </p:spPr>
        <p:txBody>
          <a:bodyPr>
            <a:normAutofit/>
          </a:bodyPr>
          <a:lstStyle/>
          <a:p>
            <a:pPr marL="0" indent="0">
              <a:buNone/>
            </a:pPr>
            <a:r>
              <a:rPr lang="en-US" altLang="zh-CN" b="1" dirty="0"/>
              <a:t>Instanced Mesh</a:t>
            </a:r>
          </a:p>
          <a:p>
            <a:pPr marL="0" indent="0">
              <a:buNone/>
            </a:pPr>
            <a:r>
              <a:rPr lang="zh-CN" altLang="en-US" sz="1800" dirty="0"/>
              <a:t>适用于大量相同几何体的网格绘制，性能高于普通网格。所有实例共享几何体，在单次绘制中渲染，每个实例仍是独立节点，可保留名称和变换属性。要为每个实例设置不同属性（如颜色），需使用 </a:t>
            </a:r>
            <a:r>
              <a:rPr lang="en-US" altLang="zh-CN" sz="1800" dirty="0" err="1"/>
              <a:t>InstancedBuffers</a:t>
            </a:r>
            <a:r>
              <a:rPr lang="zh-CN" altLang="en-US" sz="1800" dirty="0"/>
              <a:t>。</a:t>
            </a:r>
            <a:r>
              <a:rPr lang="en-US" altLang="zh-CN" sz="1800" dirty="0"/>
              <a:t>Anu </a:t>
            </a:r>
            <a:r>
              <a:rPr lang="zh-CN" altLang="en-US" sz="1800" dirty="0"/>
              <a:t>提供 </a:t>
            </a:r>
            <a:r>
              <a:rPr lang="en-US" altLang="zh-CN" dirty="0" err="1"/>
              <a:t>bindInstance</a:t>
            </a:r>
            <a:r>
              <a:rPr lang="en-US" altLang="zh-CN" dirty="0"/>
              <a:t>()</a:t>
            </a:r>
            <a:r>
              <a:rPr lang="zh-CN" altLang="en-US" sz="1800" dirty="0"/>
              <a:t> 来根据数据创建实例。。</a:t>
            </a:r>
          </a:p>
        </p:txBody>
      </p:sp>
      <p:sp>
        <p:nvSpPr>
          <p:cNvPr id="5" name="内容占位符 2">
            <a:extLst>
              <a:ext uri="{FF2B5EF4-FFF2-40B4-BE49-F238E27FC236}">
                <a16:creationId xmlns:a16="http://schemas.microsoft.com/office/drawing/2014/main" id="{1B56A32D-46E5-0F92-E551-8EBB6B44A595}"/>
              </a:ext>
            </a:extLst>
          </p:cNvPr>
          <p:cNvSpPr txBox="1">
            <a:spLocks noChangeArrowheads="1"/>
          </p:cNvSpPr>
          <p:nvPr/>
        </p:nvSpPr>
        <p:spPr>
          <a:xfrm>
            <a:off x="6450695" y="2223826"/>
            <a:ext cx="4979305" cy="2529149"/>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pPr marL="0" indent="0">
              <a:buNone/>
            </a:pPr>
            <a:r>
              <a:rPr lang="en-US" altLang="zh-CN" b="1" dirty="0"/>
              <a:t>Thin Instance</a:t>
            </a:r>
          </a:p>
          <a:p>
            <a:pPr marL="0" indent="0">
              <a:buNone/>
            </a:pPr>
            <a:r>
              <a:rPr lang="en-US" altLang="zh-CN" sz="1800" dirty="0"/>
              <a:t>Thin Instance </a:t>
            </a:r>
            <a:r>
              <a:rPr lang="zh-CN" altLang="en-US" sz="1800" dirty="0"/>
              <a:t>性能最高，可一次绘制数百万个相同网格，但限制多。网格不在场景图中单独表示，只属于单个根网格。修改网格需重写整个矩阵缓冲区。</a:t>
            </a:r>
            <a:r>
              <a:rPr lang="en-US" altLang="zh-CN" sz="1800" dirty="0"/>
              <a:t>Anu </a:t>
            </a:r>
            <a:r>
              <a:rPr lang="zh-CN" altLang="en-US" sz="1800" dirty="0"/>
              <a:t>提供 </a:t>
            </a:r>
            <a:r>
              <a:rPr lang="en-US" altLang="zh-CN" dirty="0" err="1"/>
              <a:t>bindThinInstance</a:t>
            </a:r>
            <a:r>
              <a:rPr lang="en-US" altLang="zh-CN" dirty="0"/>
              <a:t>()</a:t>
            </a:r>
            <a:r>
              <a:rPr lang="zh-CN" altLang="en-US" sz="1800" dirty="0"/>
              <a:t> 和专用方法方便操作。</a:t>
            </a:r>
          </a:p>
        </p:txBody>
      </p:sp>
      <p:sp>
        <p:nvSpPr>
          <p:cNvPr id="3" name="矩形 2">
            <a:extLst>
              <a:ext uri="{FF2B5EF4-FFF2-40B4-BE49-F238E27FC236}">
                <a16:creationId xmlns:a16="http://schemas.microsoft.com/office/drawing/2014/main" id="{3392D138-1340-56B3-15AE-25B1C6DB1080}"/>
              </a:ext>
            </a:extLst>
          </p:cNvPr>
          <p:cNvSpPr/>
          <p:nvPr/>
        </p:nvSpPr>
        <p:spPr>
          <a:xfrm>
            <a:off x="1223533" y="4985656"/>
            <a:ext cx="4300967" cy="307777"/>
          </a:xfrm>
          <a:prstGeom prst="rect">
            <a:avLst/>
          </a:prstGeom>
          <a:solidFill>
            <a:schemeClr val="bg1">
              <a:lumMod val="85000"/>
            </a:schemeClr>
          </a:solidFill>
        </p:spPr>
        <p:txBody>
          <a:bodyPr wrap="square">
            <a:spAutoFit/>
          </a:bodyPr>
          <a:lstStyle/>
          <a:p>
            <a:r>
              <a:rPr lang="nn-NO" altLang="zh-CN" sz="1400" dirty="0"/>
              <a:t>anu.bindInstance(mesh: Mesh, data: [], scene: Scene)</a:t>
            </a:r>
            <a:endParaRPr lang="en-US" altLang="zh-CN" sz="1400" dirty="0"/>
          </a:p>
        </p:txBody>
      </p:sp>
      <p:sp>
        <p:nvSpPr>
          <p:cNvPr id="4" name="矩形 3">
            <a:extLst>
              <a:ext uri="{FF2B5EF4-FFF2-40B4-BE49-F238E27FC236}">
                <a16:creationId xmlns:a16="http://schemas.microsoft.com/office/drawing/2014/main" id="{014E434F-C9D3-C61C-45F2-51C2D929E2F8}"/>
              </a:ext>
            </a:extLst>
          </p:cNvPr>
          <p:cNvSpPr/>
          <p:nvPr/>
        </p:nvSpPr>
        <p:spPr>
          <a:xfrm>
            <a:off x="6312694" y="4953000"/>
            <a:ext cx="4655773" cy="307777"/>
          </a:xfrm>
          <a:prstGeom prst="rect">
            <a:avLst/>
          </a:prstGeom>
          <a:solidFill>
            <a:schemeClr val="bg1">
              <a:lumMod val="85000"/>
            </a:schemeClr>
          </a:solidFill>
        </p:spPr>
        <p:txBody>
          <a:bodyPr wrap="square">
            <a:spAutoFit/>
          </a:bodyPr>
          <a:lstStyle/>
          <a:p>
            <a:r>
              <a:rPr lang="nn-NO" altLang="zh-CN" sz="1400" dirty="0"/>
              <a:t>bindThinInstance(mesh: Mesh, data: [], scene: Scene)</a:t>
            </a:r>
            <a:endParaRPr lang="en-US" altLang="zh-CN" sz="1400" dirty="0"/>
          </a:p>
        </p:txBody>
      </p:sp>
    </p:spTree>
    <p:extLst>
      <p:ext uri="{BB962C8B-B14F-4D97-AF65-F5344CB8AC3E}">
        <p14:creationId xmlns:p14="http://schemas.microsoft.com/office/powerpoint/2010/main" val="15592164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399BE-4891-10E8-AFAE-BA5C509A7C18}"/>
            </a:ext>
          </a:extLst>
        </p:cNvPr>
        <p:cNvGrpSpPr/>
        <p:nvPr/>
      </p:nvGrpSpPr>
      <p:grpSpPr>
        <a:xfrm>
          <a:off x="0" y="0"/>
          <a:ext cx="0" cy="0"/>
          <a:chOff x="0" y="0"/>
          <a:chExt cx="0" cy="0"/>
        </a:xfrm>
      </p:grpSpPr>
      <p:sp>
        <p:nvSpPr>
          <p:cNvPr id="12290" name="标题 1">
            <a:extLst>
              <a:ext uri="{FF2B5EF4-FFF2-40B4-BE49-F238E27FC236}">
                <a16:creationId xmlns:a16="http://schemas.microsoft.com/office/drawing/2014/main" id="{3E8F2AAE-4FD8-3FED-66AF-0FFD7CB2185B}"/>
              </a:ext>
            </a:extLst>
          </p:cNvPr>
          <p:cNvSpPr>
            <a:spLocks noGrp="1" noChangeArrowheads="1"/>
          </p:cNvSpPr>
          <p:nvPr>
            <p:ph type="title"/>
          </p:nvPr>
        </p:nvSpPr>
        <p:spPr/>
        <p:txBody>
          <a:bodyPr>
            <a:normAutofit/>
          </a:bodyPr>
          <a:lstStyle/>
          <a:p>
            <a:r>
              <a:rPr lang="en-US" altLang="zh-CN" sz="3200" b="1" dirty="0">
                <a:solidFill>
                  <a:schemeClr val="tx1">
                    <a:lumMod val="65000"/>
                    <a:lumOff val="35000"/>
                  </a:schemeClr>
                </a:solidFill>
                <a:latin typeface="+mn-lt"/>
                <a:ea typeface="+mn-ea"/>
                <a:cs typeface="+mn-cs"/>
              </a:rPr>
              <a:t>Instanced Mesh</a:t>
            </a:r>
          </a:p>
        </p:txBody>
      </p:sp>
      <p:sp>
        <p:nvSpPr>
          <p:cNvPr id="4" name="矩形 3">
            <a:extLst>
              <a:ext uri="{FF2B5EF4-FFF2-40B4-BE49-F238E27FC236}">
                <a16:creationId xmlns:a16="http://schemas.microsoft.com/office/drawing/2014/main" id="{E4438512-4F6B-FADD-4DFC-A4C40CF022CF}"/>
              </a:ext>
            </a:extLst>
          </p:cNvPr>
          <p:cNvSpPr/>
          <p:nvPr/>
        </p:nvSpPr>
        <p:spPr>
          <a:xfrm>
            <a:off x="1021670" y="1128451"/>
            <a:ext cx="6874827" cy="5324535"/>
          </a:xfrm>
          <a:prstGeom prst="rect">
            <a:avLst/>
          </a:prstGeom>
          <a:solidFill>
            <a:schemeClr val="bg1">
              <a:lumMod val="85000"/>
            </a:schemeClr>
          </a:solidFill>
        </p:spPr>
        <p:txBody>
          <a:bodyPr wrap="square">
            <a:spAutoFit/>
          </a:bodyPr>
          <a:lstStyle/>
          <a:p>
            <a:r>
              <a:rPr lang="en-US" altLang="zh-CN" sz="1000" dirty="0"/>
              <a:t>import { </a:t>
            </a:r>
            <a:r>
              <a:rPr lang="en-US" altLang="zh-CN" sz="1000" dirty="0" err="1"/>
              <a:t>HemisphericLight</a:t>
            </a:r>
            <a:r>
              <a:rPr lang="en-US" altLang="zh-CN" sz="1000" dirty="0"/>
              <a:t>, </a:t>
            </a:r>
            <a:r>
              <a:rPr lang="en-US" altLang="zh-CN" sz="1000" dirty="0" err="1"/>
              <a:t>ArcRotateCamera</a:t>
            </a:r>
            <a:r>
              <a:rPr lang="en-US" altLang="zh-CN" sz="1000" dirty="0"/>
              <a:t>, Vector3, Scene} from '@</a:t>
            </a:r>
            <a:r>
              <a:rPr lang="en-US" altLang="zh-CN" sz="1000" dirty="0" err="1"/>
              <a:t>babylonjs</a:t>
            </a:r>
            <a:r>
              <a:rPr lang="en-US" altLang="zh-CN" sz="1000" dirty="0"/>
              <a:t>/core';</a:t>
            </a:r>
          </a:p>
          <a:p>
            <a:r>
              <a:rPr lang="en-US" altLang="zh-CN" sz="1000" dirty="0"/>
              <a:t>import { </a:t>
            </a:r>
            <a:r>
              <a:rPr lang="en-US" altLang="zh-CN" sz="1000" dirty="0" err="1"/>
              <a:t>AdvancedDynamicTexture</a:t>
            </a:r>
            <a:r>
              <a:rPr lang="en-US" altLang="zh-CN" sz="1000" dirty="0"/>
              <a:t>, Control, </a:t>
            </a:r>
            <a:r>
              <a:rPr lang="en-US" altLang="zh-CN" sz="1000" dirty="0" err="1"/>
              <a:t>SelectionPanel</a:t>
            </a:r>
            <a:r>
              <a:rPr lang="en-US" altLang="zh-CN" sz="1000" dirty="0"/>
              <a:t>, </a:t>
            </a:r>
            <a:r>
              <a:rPr lang="en-US" altLang="zh-CN" sz="1000" dirty="0" err="1"/>
              <a:t>SliderGroup</a:t>
            </a:r>
            <a:r>
              <a:rPr lang="en-US" altLang="zh-CN" sz="1000" dirty="0"/>
              <a:t>} from '@</a:t>
            </a:r>
            <a:r>
              <a:rPr lang="en-US" altLang="zh-CN" sz="1000" dirty="0" err="1"/>
              <a:t>babylonjs</a:t>
            </a:r>
            <a:r>
              <a:rPr lang="en-US" altLang="zh-CN" sz="1000" dirty="0"/>
              <a:t>/</a:t>
            </a:r>
            <a:r>
              <a:rPr lang="en-US" altLang="zh-CN" sz="1000" dirty="0" err="1"/>
              <a:t>gui</a:t>
            </a:r>
            <a:r>
              <a:rPr lang="en-US" altLang="zh-CN" sz="1000" dirty="0"/>
              <a:t>';</a:t>
            </a:r>
          </a:p>
          <a:p>
            <a:r>
              <a:rPr lang="en-US" altLang="zh-CN" sz="1000" dirty="0"/>
              <a:t>import * as anu from '@</a:t>
            </a:r>
            <a:r>
              <a:rPr lang="en-US" altLang="zh-CN" sz="1000" dirty="0" err="1"/>
              <a:t>jpmorganchase</a:t>
            </a:r>
            <a:r>
              <a:rPr lang="en-US" altLang="zh-CN" sz="1000" dirty="0"/>
              <a:t>/anu' </a:t>
            </a:r>
          </a:p>
          <a:p>
            <a:r>
              <a:rPr lang="en-US" altLang="zh-CN" sz="1000" dirty="0"/>
              <a:t>//create and export a function that takes a </a:t>
            </a:r>
            <a:r>
              <a:rPr lang="en-US" altLang="zh-CN" sz="1000" dirty="0" err="1"/>
              <a:t>babylon</a:t>
            </a:r>
            <a:r>
              <a:rPr lang="en-US" altLang="zh-CN" sz="1000" dirty="0"/>
              <a:t> engine and returns a scene</a:t>
            </a:r>
          </a:p>
          <a:p>
            <a:r>
              <a:rPr lang="en-US" altLang="zh-CN" sz="1000" dirty="0"/>
              <a:t>export const </a:t>
            </a:r>
            <a:r>
              <a:rPr lang="en-US" altLang="zh-CN" sz="1000" dirty="0" err="1"/>
              <a:t>instanceBench</a:t>
            </a:r>
            <a:r>
              <a:rPr lang="en-US" altLang="zh-CN" sz="1000" dirty="0"/>
              <a:t> =  (engine) =&gt;{</a:t>
            </a:r>
          </a:p>
          <a:p>
            <a:r>
              <a:rPr lang="en-US" altLang="zh-CN" sz="1000" dirty="0"/>
              <a:t>  const scene = new Scene(engine);</a:t>
            </a:r>
          </a:p>
          <a:p>
            <a:r>
              <a:rPr lang="en-US" altLang="zh-CN" sz="1000" dirty="0"/>
              <a:t>  new </a:t>
            </a:r>
            <a:r>
              <a:rPr lang="en-US" altLang="zh-CN" sz="1000" dirty="0" err="1"/>
              <a:t>HemisphericLight</a:t>
            </a:r>
            <a:r>
              <a:rPr lang="en-US" altLang="zh-CN" sz="1000" dirty="0"/>
              <a:t>('light1', new Vector3(0, 10, 0), scene);</a:t>
            </a:r>
          </a:p>
          <a:p>
            <a:r>
              <a:rPr lang="en-US" altLang="zh-CN" sz="1000" dirty="0"/>
              <a:t>  const camera = new </a:t>
            </a:r>
            <a:r>
              <a:rPr lang="en-US" altLang="zh-CN" sz="1000" dirty="0" err="1"/>
              <a:t>ArcRotateCamera</a:t>
            </a:r>
            <a:r>
              <a:rPr lang="en-US" altLang="zh-CN" sz="1000" dirty="0"/>
              <a:t>("Camera", -(</a:t>
            </a:r>
            <a:r>
              <a:rPr lang="en-US" altLang="zh-CN" sz="1000" dirty="0" err="1"/>
              <a:t>Math.PI</a:t>
            </a:r>
            <a:r>
              <a:rPr lang="en-US" altLang="zh-CN" sz="1000" dirty="0"/>
              <a:t> / 4) * 3, </a:t>
            </a:r>
            <a:r>
              <a:rPr lang="en-US" altLang="zh-CN" sz="1000" dirty="0" err="1"/>
              <a:t>Math.PI</a:t>
            </a:r>
            <a:r>
              <a:rPr lang="en-US" altLang="zh-CN" sz="1000" dirty="0"/>
              <a:t> / 4, 10, new Vector3(0, 0, 0), scene);</a:t>
            </a:r>
          </a:p>
          <a:p>
            <a:r>
              <a:rPr lang="en-US" altLang="zh-CN" sz="1000" dirty="0"/>
              <a:t>  </a:t>
            </a:r>
            <a:r>
              <a:rPr lang="en-US" altLang="zh-CN" sz="1000" dirty="0" err="1"/>
              <a:t>camera.position</a:t>
            </a:r>
            <a:r>
              <a:rPr lang="en-US" altLang="zh-CN" sz="1000" dirty="0"/>
              <a:t> = new Vector3(-25, 10, -50);</a:t>
            </a:r>
          </a:p>
          <a:p>
            <a:r>
              <a:rPr lang="en-US" altLang="zh-CN" sz="1000" dirty="0"/>
              <a:t>  </a:t>
            </a:r>
            <a:r>
              <a:rPr lang="en-US" altLang="zh-CN" sz="1000" dirty="0" err="1"/>
              <a:t>camera.attachControl</a:t>
            </a:r>
            <a:r>
              <a:rPr lang="en-US" altLang="zh-CN" sz="1000" dirty="0"/>
              <a:t>(true);</a:t>
            </a:r>
          </a:p>
          <a:p>
            <a:r>
              <a:rPr lang="en-US" altLang="zh-CN" sz="1000" dirty="0"/>
              <a:t>  let n = 100</a:t>
            </a:r>
          </a:p>
          <a:p>
            <a:r>
              <a:rPr lang="en-US" altLang="zh-CN" sz="1000" dirty="0"/>
              <a:t>  let box = </a:t>
            </a:r>
            <a:r>
              <a:rPr lang="en-US" altLang="zh-CN" sz="1000" dirty="0" err="1"/>
              <a:t>anu.create</a:t>
            </a:r>
            <a:r>
              <a:rPr lang="en-US" altLang="zh-CN" sz="1000" dirty="0"/>
              <a:t>('box', 'box');</a:t>
            </a:r>
          </a:p>
          <a:p>
            <a:r>
              <a:rPr lang="en-US" altLang="zh-CN" sz="1000" dirty="0"/>
              <a:t>  let boxes = </a:t>
            </a:r>
            <a:r>
              <a:rPr lang="en-US" altLang="zh-CN" sz="1000" dirty="0" err="1"/>
              <a:t>anu.bindInstance</a:t>
            </a:r>
            <a:r>
              <a:rPr lang="en-US" altLang="zh-CN" sz="1000" dirty="0"/>
              <a:t>(box, [...Array(n).keys()], scene)</a:t>
            </a:r>
          </a:p>
          <a:p>
            <a:r>
              <a:rPr lang="en-US" altLang="zh-CN" sz="1000" dirty="0"/>
              <a:t>                .position(() =&gt; Vector3.Random(-20,20));</a:t>
            </a:r>
          </a:p>
          <a:p>
            <a:r>
              <a:rPr lang="en-US" altLang="zh-CN" sz="1000" dirty="0"/>
              <a:t>  let </a:t>
            </a:r>
            <a:r>
              <a:rPr lang="en-US" altLang="zh-CN" sz="1000" dirty="0" err="1"/>
              <a:t>createBoxes</a:t>
            </a:r>
            <a:r>
              <a:rPr lang="en-US" altLang="zh-CN" sz="1000" dirty="0"/>
              <a:t> = (num) =&gt; {</a:t>
            </a:r>
          </a:p>
          <a:p>
            <a:r>
              <a:rPr lang="en-US" altLang="zh-CN" sz="1000" dirty="0"/>
              <a:t>    </a:t>
            </a:r>
            <a:r>
              <a:rPr lang="en-US" altLang="zh-CN" sz="1000" dirty="0" err="1"/>
              <a:t>boxes.dispose</a:t>
            </a:r>
            <a:r>
              <a:rPr lang="en-US" altLang="zh-CN" sz="1000" dirty="0"/>
              <a:t>();</a:t>
            </a:r>
          </a:p>
          <a:p>
            <a:r>
              <a:rPr lang="en-US" altLang="zh-CN" sz="1000" dirty="0"/>
              <a:t>    boxes = </a:t>
            </a:r>
            <a:r>
              <a:rPr lang="en-US" altLang="zh-CN" sz="1000" dirty="0" err="1"/>
              <a:t>anu.bindInstance</a:t>
            </a:r>
            <a:r>
              <a:rPr lang="en-US" altLang="zh-CN" sz="1000" dirty="0"/>
              <a:t>(box, [...Array(num).keys()], scene)</a:t>
            </a:r>
          </a:p>
          <a:p>
            <a:r>
              <a:rPr lang="en-US" altLang="zh-CN" sz="1000" dirty="0"/>
              <a:t>    .position(() =&gt; Vector3.Random(-20,20));</a:t>
            </a:r>
          </a:p>
          <a:p>
            <a:r>
              <a:rPr lang="en-US" altLang="zh-CN" sz="1000" dirty="0"/>
              <a:t>  }</a:t>
            </a:r>
          </a:p>
          <a:p>
            <a:r>
              <a:rPr lang="en-US" altLang="zh-CN" sz="1000" dirty="0"/>
              <a:t>	var </a:t>
            </a:r>
            <a:r>
              <a:rPr lang="en-US" altLang="zh-CN" sz="1000" dirty="0" err="1"/>
              <a:t>advancedTexture</a:t>
            </a:r>
            <a:r>
              <a:rPr lang="en-US" altLang="zh-CN" sz="1000" dirty="0"/>
              <a:t> = </a:t>
            </a:r>
            <a:r>
              <a:rPr lang="en-US" altLang="zh-CN" sz="1000" dirty="0" err="1"/>
              <a:t>AdvancedDynamicTexture.CreateFullscreenUI</a:t>
            </a:r>
            <a:r>
              <a:rPr lang="en-US" altLang="zh-CN" sz="1000" dirty="0"/>
              <a:t>("instance");</a:t>
            </a:r>
          </a:p>
          <a:p>
            <a:r>
              <a:rPr lang="en-US" altLang="zh-CN" sz="1000" dirty="0"/>
              <a:t>  var </a:t>
            </a:r>
            <a:r>
              <a:rPr lang="en-US" altLang="zh-CN" sz="1000" dirty="0" err="1"/>
              <a:t>selectBox</a:t>
            </a:r>
            <a:r>
              <a:rPr lang="en-US" altLang="zh-CN" sz="1000" dirty="0"/>
              <a:t> = new </a:t>
            </a:r>
            <a:r>
              <a:rPr lang="en-US" altLang="zh-CN" sz="1000" dirty="0" err="1"/>
              <a:t>SelectionPanel</a:t>
            </a:r>
            <a:r>
              <a:rPr lang="en-US" altLang="zh-CN" sz="1000" dirty="0"/>
              <a:t>("instance");</a:t>
            </a:r>
          </a:p>
          <a:p>
            <a:r>
              <a:rPr lang="en-US" altLang="zh-CN" sz="1000" dirty="0"/>
              <a:t>  </a:t>
            </a:r>
            <a:r>
              <a:rPr lang="en-US" altLang="zh-CN" sz="1000" dirty="0" err="1"/>
              <a:t>selectBox.width</a:t>
            </a:r>
            <a:r>
              <a:rPr lang="en-US" altLang="zh-CN" sz="1000" dirty="0"/>
              <a:t> = 0.25;</a:t>
            </a:r>
          </a:p>
          <a:p>
            <a:r>
              <a:rPr lang="en-US" altLang="zh-CN" sz="1000" dirty="0"/>
              <a:t>  </a:t>
            </a:r>
            <a:r>
              <a:rPr lang="en-US" altLang="zh-CN" sz="1000" dirty="0" err="1"/>
              <a:t>selectBox.height</a:t>
            </a:r>
            <a:r>
              <a:rPr lang="en-US" altLang="zh-CN" sz="1000" dirty="0"/>
              <a:t> = 0.25;</a:t>
            </a:r>
          </a:p>
          <a:p>
            <a:r>
              <a:rPr lang="en-US" altLang="zh-CN" sz="1000" dirty="0"/>
              <a:t>  </a:t>
            </a:r>
            <a:r>
              <a:rPr lang="en-US" altLang="zh-CN" sz="1000" dirty="0" err="1"/>
              <a:t>selectBox.horizontalAlignment</a:t>
            </a:r>
            <a:r>
              <a:rPr lang="en-US" altLang="zh-CN" sz="1000" dirty="0"/>
              <a:t> = </a:t>
            </a:r>
            <a:r>
              <a:rPr lang="en-US" altLang="zh-CN" sz="1000" dirty="0" err="1"/>
              <a:t>Control.HORIZONTAL_ALIGNMENT_LEFT</a:t>
            </a:r>
            <a:r>
              <a:rPr lang="en-US" altLang="zh-CN" sz="1000" dirty="0"/>
              <a:t>;</a:t>
            </a:r>
          </a:p>
          <a:p>
            <a:r>
              <a:rPr lang="en-US" altLang="zh-CN" sz="1000" dirty="0"/>
              <a:t>  </a:t>
            </a:r>
            <a:r>
              <a:rPr lang="en-US" altLang="zh-CN" sz="1000" dirty="0" err="1"/>
              <a:t>selectBox.verticalAlignment</a:t>
            </a:r>
            <a:r>
              <a:rPr lang="en-US" altLang="zh-CN" sz="1000" dirty="0"/>
              <a:t> = </a:t>
            </a:r>
            <a:r>
              <a:rPr lang="en-US" altLang="zh-CN" sz="1000" dirty="0" err="1"/>
              <a:t>Control.VERTICAL_ALIGNMENT_BOTTOM</a:t>
            </a:r>
            <a:r>
              <a:rPr lang="en-US" altLang="zh-CN" sz="1000" dirty="0"/>
              <a:t>;</a:t>
            </a:r>
          </a:p>
          <a:p>
            <a:r>
              <a:rPr lang="en-US" altLang="zh-CN" sz="1000" dirty="0"/>
              <a:t>  </a:t>
            </a:r>
            <a:r>
              <a:rPr lang="en-US" altLang="zh-CN" sz="1000" dirty="0" err="1"/>
              <a:t>advancedTexture.addControl</a:t>
            </a:r>
            <a:r>
              <a:rPr lang="en-US" altLang="zh-CN" sz="1000" dirty="0"/>
              <a:t>(</a:t>
            </a:r>
            <a:r>
              <a:rPr lang="en-US" altLang="zh-CN" sz="1000" dirty="0" err="1"/>
              <a:t>selectBox</a:t>
            </a:r>
            <a:r>
              <a:rPr lang="en-US" altLang="zh-CN" sz="1000" dirty="0"/>
              <a:t>);</a:t>
            </a:r>
          </a:p>
          <a:p>
            <a:r>
              <a:rPr lang="en-US" altLang="zh-CN" sz="1000" dirty="0"/>
              <a:t>  var </a:t>
            </a:r>
            <a:r>
              <a:rPr lang="en-US" altLang="zh-CN" sz="1000" dirty="0" err="1"/>
              <a:t>numGroup</a:t>
            </a:r>
            <a:r>
              <a:rPr lang="en-US" altLang="zh-CN" sz="1000" dirty="0"/>
              <a:t> = new </a:t>
            </a:r>
            <a:r>
              <a:rPr lang="en-US" altLang="zh-CN" sz="1000" dirty="0" err="1"/>
              <a:t>SliderGroup</a:t>
            </a:r>
            <a:r>
              <a:rPr lang="en-US" altLang="zh-CN" sz="1000" dirty="0"/>
              <a:t>("2",);</a:t>
            </a:r>
          </a:p>
          <a:p>
            <a:r>
              <a:rPr lang="en-US" altLang="zh-CN" sz="1000" dirty="0"/>
              <a:t>  </a:t>
            </a:r>
            <a:r>
              <a:rPr lang="en-US" altLang="zh-CN" sz="1000" dirty="0" err="1"/>
              <a:t>numGroup.addSlider</a:t>
            </a:r>
            <a:r>
              <a:rPr lang="en-US" altLang="zh-CN" sz="1000" dirty="0"/>
              <a:t>("Boxes", (value) =&gt; </a:t>
            </a:r>
            <a:r>
              <a:rPr lang="en-US" altLang="zh-CN" sz="1000" dirty="0" err="1"/>
              <a:t>createBoxes</a:t>
            </a:r>
            <a:r>
              <a:rPr lang="en-US" altLang="zh-CN" sz="1000" dirty="0"/>
              <a:t>(</a:t>
            </a:r>
            <a:r>
              <a:rPr lang="en-US" altLang="zh-CN" sz="1000" dirty="0" err="1"/>
              <a:t>Math.round</a:t>
            </a:r>
            <a:r>
              <a:rPr lang="en-US" altLang="zh-CN" sz="1000" dirty="0"/>
              <a:t>(value)), "", 100, 10000, 100, (value) =&gt; </a:t>
            </a:r>
            <a:r>
              <a:rPr lang="en-US" altLang="zh-CN" sz="1000" dirty="0" err="1"/>
              <a:t>Math.round</a:t>
            </a:r>
            <a:r>
              <a:rPr lang="en-US" altLang="zh-CN" sz="1000" dirty="0"/>
              <a:t>(value)) </a:t>
            </a:r>
          </a:p>
          <a:p>
            <a:r>
              <a:rPr lang="en-US" altLang="zh-CN" sz="1000" dirty="0"/>
              <a:t>  </a:t>
            </a:r>
            <a:r>
              <a:rPr lang="en-US" altLang="zh-CN" sz="1000" dirty="0" err="1"/>
              <a:t>selectBox.addGroup</a:t>
            </a:r>
            <a:r>
              <a:rPr lang="en-US" altLang="zh-CN" sz="1000" dirty="0"/>
              <a:t>(</a:t>
            </a:r>
            <a:r>
              <a:rPr lang="en-US" altLang="zh-CN" sz="1000" dirty="0" err="1"/>
              <a:t>numGroup</a:t>
            </a:r>
            <a:r>
              <a:rPr lang="en-US" altLang="zh-CN" sz="1000" dirty="0"/>
              <a:t>);</a:t>
            </a:r>
          </a:p>
          <a:p>
            <a:r>
              <a:rPr lang="en-US" altLang="zh-CN" sz="1000" dirty="0"/>
              <a:t>  </a:t>
            </a:r>
            <a:r>
              <a:rPr lang="en-US" altLang="zh-CN" sz="1000" dirty="0" err="1"/>
              <a:t>scene.onAfterRenderObservable.add</a:t>
            </a:r>
            <a:r>
              <a:rPr lang="en-US" altLang="zh-CN" sz="1000" dirty="0"/>
              <a:t>(() =&gt; {</a:t>
            </a:r>
          </a:p>
          <a:p>
            <a:r>
              <a:rPr lang="en-US" altLang="zh-CN" sz="1000" dirty="0"/>
              <a:t>    </a:t>
            </a:r>
            <a:r>
              <a:rPr lang="en-US" altLang="zh-CN" sz="1000" dirty="0" err="1"/>
              <a:t>numGroup.header</a:t>
            </a:r>
            <a:r>
              <a:rPr lang="en-US" altLang="zh-CN" sz="1000" dirty="0"/>
              <a:t> = "FPS: " + </a:t>
            </a:r>
            <a:r>
              <a:rPr lang="en-US" altLang="zh-CN" sz="1000" dirty="0" err="1"/>
              <a:t>scene.getEngine</a:t>
            </a:r>
            <a:r>
              <a:rPr lang="en-US" altLang="zh-CN" sz="1000" dirty="0"/>
              <a:t>().</a:t>
            </a:r>
            <a:r>
              <a:rPr lang="en-US" altLang="zh-CN" sz="1000" dirty="0" err="1"/>
              <a:t>getFps</a:t>
            </a:r>
            <a:r>
              <a:rPr lang="en-US" altLang="zh-CN" sz="1000" dirty="0"/>
              <a:t>().</a:t>
            </a:r>
            <a:r>
              <a:rPr lang="en-US" altLang="zh-CN" sz="1000" dirty="0" err="1"/>
              <a:t>toFixed</a:t>
            </a:r>
            <a:r>
              <a:rPr lang="en-US" altLang="zh-CN" sz="1000" dirty="0"/>
              <a:t>();</a:t>
            </a:r>
          </a:p>
          <a:p>
            <a:r>
              <a:rPr lang="en-US" altLang="zh-CN" sz="1000" dirty="0"/>
              <a:t>  })</a:t>
            </a:r>
          </a:p>
          <a:p>
            <a:r>
              <a:rPr lang="en-US" altLang="zh-CN" sz="1000" dirty="0"/>
              <a:t>  return scene;</a:t>
            </a:r>
          </a:p>
          <a:p>
            <a:r>
              <a:rPr lang="en-US" altLang="zh-CN" sz="1000" dirty="0"/>
              <a:t>};</a:t>
            </a:r>
          </a:p>
        </p:txBody>
      </p:sp>
      <p:sp>
        <p:nvSpPr>
          <p:cNvPr id="3" name="矩形 2">
            <a:extLst>
              <a:ext uri="{FF2B5EF4-FFF2-40B4-BE49-F238E27FC236}">
                <a16:creationId xmlns:a16="http://schemas.microsoft.com/office/drawing/2014/main" id="{E1D85967-1F36-EAA5-3464-EA6E9AF6075A}"/>
              </a:ext>
            </a:extLst>
          </p:cNvPr>
          <p:cNvSpPr/>
          <p:nvPr/>
        </p:nvSpPr>
        <p:spPr>
          <a:xfrm>
            <a:off x="7941376" y="1128451"/>
            <a:ext cx="3338402" cy="1600438"/>
          </a:xfrm>
          <a:prstGeom prst="rect">
            <a:avLst/>
          </a:prstGeom>
          <a:solidFill>
            <a:schemeClr val="bg1">
              <a:lumMod val="85000"/>
            </a:schemeClr>
          </a:solidFill>
        </p:spPr>
        <p:txBody>
          <a:bodyPr wrap="square">
            <a:spAutoFit/>
          </a:bodyPr>
          <a:lstStyle/>
          <a:p>
            <a:r>
              <a:rPr lang="en-US" altLang="zh-CN" sz="1400" dirty="0"/>
              <a:t>// Create engine and scene</a:t>
            </a:r>
          </a:p>
          <a:p>
            <a:r>
              <a:rPr lang="en-US" altLang="zh-CN" sz="1400" dirty="0"/>
              <a:t>const </a:t>
            </a:r>
            <a:r>
              <a:rPr lang="en-US" altLang="zh-CN" sz="1400" dirty="0" err="1"/>
              <a:t>babylonEngine</a:t>
            </a:r>
            <a:r>
              <a:rPr lang="en-US" altLang="zh-CN" sz="1400" dirty="0"/>
              <a:t> = new Engine(canvas, true)</a:t>
            </a:r>
          </a:p>
          <a:p>
            <a:r>
              <a:rPr lang="en-US" altLang="zh-CN" sz="1400" dirty="0"/>
              <a:t>const scene = </a:t>
            </a:r>
            <a:r>
              <a:rPr lang="en-US" altLang="zh-CN" sz="1400" dirty="0" err="1"/>
              <a:t>instanceBench</a:t>
            </a:r>
            <a:r>
              <a:rPr lang="en-US" altLang="zh-CN" sz="1400" dirty="0"/>
              <a:t>(</a:t>
            </a:r>
            <a:r>
              <a:rPr lang="en-US" altLang="zh-CN" sz="1400" dirty="0" err="1"/>
              <a:t>babylonEngine</a:t>
            </a:r>
            <a:r>
              <a:rPr lang="en-US" altLang="zh-CN" sz="1400" dirty="0"/>
              <a:t>);</a:t>
            </a:r>
          </a:p>
          <a:p>
            <a:r>
              <a:rPr lang="en-US" altLang="zh-CN" sz="1400" dirty="0"/>
              <a:t>const engine = new Engine(canvas, true);</a:t>
            </a:r>
          </a:p>
          <a:p>
            <a:r>
              <a:rPr lang="en-US" altLang="zh-CN" sz="1400" dirty="0" err="1"/>
              <a:t>instanceBench</a:t>
            </a:r>
            <a:r>
              <a:rPr lang="en-US" altLang="zh-CN" sz="1400" dirty="0"/>
              <a:t>(engine)</a:t>
            </a:r>
          </a:p>
        </p:txBody>
      </p:sp>
      <p:sp>
        <p:nvSpPr>
          <p:cNvPr id="6" name="内容占位符 2">
            <a:extLst>
              <a:ext uri="{FF2B5EF4-FFF2-40B4-BE49-F238E27FC236}">
                <a16:creationId xmlns:a16="http://schemas.microsoft.com/office/drawing/2014/main" id="{CEEFA91C-7E31-875E-F4D4-B961B898563A}"/>
              </a:ext>
            </a:extLst>
          </p:cNvPr>
          <p:cNvSpPr>
            <a:spLocks noGrp="1" noChangeArrowheads="1"/>
          </p:cNvSpPr>
          <p:nvPr>
            <p:ph idx="1"/>
          </p:nvPr>
        </p:nvSpPr>
        <p:spPr>
          <a:xfrm>
            <a:off x="7941376" y="675412"/>
            <a:ext cx="4557601" cy="453039"/>
          </a:xfrm>
        </p:spPr>
        <p:txBody>
          <a:bodyPr/>
          <a:lstStyle/>
          <a:p>
            <a:pPr marL="0" indent="0">
              <a:buNone/>
            </a:pPr>
            <a:r>
              <a:rPr lang="en-US" altLang="zh-CN" b="1" dirty="0"/>
              <a:t>Main.js</a:t>
            </a:r>
            <a:r>
              <a:rPr lang="zh-CN" altLang="en-US" b="1" dirty="0"/>
              <a:t>部分代码</a:t>
            </a:r>
            <a:endParaRPr lang="zh-CN" altLang="en-US" sz="1800" dirty="0"/>
          </a:p>
        </p:txBody>
      </p:sp>
    </p:spTree>
    <p:extLst>
      <p:ext uri="{BB962C8B-B14F-4D97-AF65-F5344CB8AC3E}">
        <p14:creationId xmlns:p14="http://schemas.microsoft.com/office/powerpoint/2010/main" val="12248215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935E8-15DF-93A3-EA7C-EA41F7370AF7}"/>
            </a:ext>
          </a:extLst>
        </p:cNvPr>
        <p:cNvGrpSpPr/>
        <p:nvPr/>
      </p:nvGrpSpPr>
      <p:grpSpPr>
        <a:xfrm>
          <a:off x="0" y="0"/>
          <a:ext cx="0" cy="0"/>
          <a:chOff x="0" y="0"/>
          <a:chExt cx="0" cy="0"/>
        </a:xfrm>
      </p:grpSpPr>
      <p:sp>
        <p:nvSpPr>
          <p:cNvPr id="12290" name="标题 1">
            <a:extLst>
              <a:ext uri="{FF2B5EF4-FFF2-40B4-BE49-F238E27FC236}">
                <a16:creationId xmlns:a16="http://schemas.microsoft.com/office/drawing/2014/main" id="{8CB4E944-5741-1858-F522-6B7B09AFD226}"/>
              </a:ext>
            </a:extLst>
          </p:cNvPr>
          <p:cNvSpPr>
            <a:spLocks noGrp="1" noChangeArrowheads="1"/>
          </p:cNvSpPr>
          <p:nvPr>
            <p:ph type="title"/>
          </p:nvPr>
        </p:nvSpPr>
        <p:spPr/>
        <p:txBody>
          <a:bodyPr>
            <a:normAutofit/>
          </a:bodyPr>
          <a:lstStyle/>
          <a:p>
            <a:r>
              <a:rPr lang="en-US" altLang="zh-CN" sz="3200" b="1" dirty="0">
                <a:solidFill>
                  <a:schemeClr val="tx1">
                    <a:lumMod val="65000"/>
                    <a:lumOff val="35000"/>
                  </a:schemeClr>
                </a:solidFill>
                <a:latin typeface="+mn-lt"/>
                <a:ea typeface="+mn-ea"/>
                <a:cs typeface="+mn-cs"/>
              </a:rPr>
              <a:t>Thin Instance</a:t>
            </a:r>
          </a:p>
        </p:txBody>
      </p:sp>
      <p:sp>
        <p:nvSpPr>
          <p:cNvPr id="4" name="矩形 3">
            <a:extLst>
              <a:ext uri="{FF2B5EF4-FFF2-40B4-BE49-F238E27FC236}">
                <a16:creationId xmlns:a16="http://schemas.microsoft.com/office/drawing/2014/main" id="{E7077DF6-BE38-C6CE-1986-44708E3E7383}"/>
              </a:ext>
            </a:extLst>
          </p:cNvPr>
          <p:cNvSpPr/>
          <p:nvPr/>
        </p:nvSpPr>
        <p:spPr>
          <a:xfrm>
            <a:off x="1021670" y="1128451"/>
            <a:ext cx="6874827" cy="5324535"/>
          </a:xfrm>
          <a:prstGeom prst="rect">
            <a:avLst/>
          </a:prstGeom>
          <a:solidFill>
            <a:schemeClr val="bg1">
              <a:lumMod val="85000"/>
            </a:schemeClr>
          </a:solidFill>
        </p:spPr>
        <p:txBody>
          <a:bodyPr wrap="square">
            <a:spAutoFit/>
          </a:bodyPr>
          <a:lstStyle/>
          <a:p>
            <a:r>
              <a:rPr lang="en-US" altLang="zh-CN" sz="1000" dirty="0"/>
              <a:t>import { </a:t>
            </a:r>
            <a:r>
              <a:rPr lang="en-US" altLang="zh-CN" sz="1000" dirty="0" err="1"/>
              <a:t>HemisphericLight</a:t>
            </a:r>
            <a:r>
              <a:rPr lang="en-US" altLang="zh-CN" sz="1000" dirty="0"/>
              <a:t>, </a:t>
            </a:r>
            <a:r>
              <a:rPr lang="en-US" altLang="zh-CN" sz="1000" dirty="0" err="1"/>
              <a:t>ArcRotateCamera</a:t>
            </a:r>
            <a:r>
              <a:rPr lang="en-US" altLang="zh-CN" sz="1000" dirty="0"/>
              <a:t>, Vector3, Scene} from '@</a:t>
            </a:r>
            <a:r>
              <a:rPr lang="en-US" altLang="zh-CN" sz="1000" dirty="0" err="1"/>
              <a:t>babylonjs</a:t>
            </a:r>
            <a:r>
              <a:rPr lang="en-US" altLang="zh-CN" sz="1000" dirty="0"/>
              <a:t>/core';</a:t>
            </a:r>
          </a:p>
          <a:p>
            <a:r>
              <a:rPr lang="en-US" altLang="zh-CN" sz="1000" dirty="0"/>
              <a:t>import { </a:t>
            </a:r>
            <a:r>
              <a:rPr lang="en-US" altLang="zh-CN" sz="1000" dirty="0" err="1"/>
              <a:t>AdvancedDynamicTexture</a:t>
            </a:r>
            <a:r>
              <a:rPr lang="en-US" altLang="zh-CN" sz="1000" dirty="0"/>
              <a:t>, Control, </a:t>
            </a:r>
            <a:r>
              <a:rPr lang="en-US" altLang="zh-CN" sz="1000" dirty="0" err="1"/>
              <a:t>SelectionPanel</a:t>
            </a:r>
            <a:r>
              <a:rPr lang="en-US" altLang="zh-CN" sz="1000" dirty="0"/>
              <a:t>, </a:t>
            </a:r>
            <a:r>
              <a:rPr lang="en-US" altLang="zh-CN" sz="1000" dirty="0" err="1"/>
              <a:t>SliderGroup</a:t>
            </a:r>
            <a:r>
              <a:rPr lang="en-US" altLang="zh-CN" sz="1000" dirty="0"/>
              <a:t>} from '@</a:t>
            </a:r>
            <a:r>
              <a:rPr lang="en-US" altLang="zh-CN" sz="1000" dirty="0" err="1"/>
              <a:t>babylonjs</a:t>
            </a:r>
            <a:r>
              <a:rPr lang="en-US" altLang="zh-CN" sz="1000" dirty="0"/>
              <a:t>/</a:t>
            </a:r>
            <a:r>
              <a:rPr lang="en-US" altLang="zh-CN" sz="1000" dirty="0" err="1"/>
              <a:t>gui</a:t>
            </a:r>
            <a:r>
              <a:rPr lang="en-US" altLang="zh-CN" sz="1000" dirty="0"/>
              <a:t>';</a:t>
            </a:r>
          </a:p>
          <a:p>
            <a:r>
              <a:rPr lang="en-US" altLang="zh-CN" sz="1000" dirty="0"/>
              <a:t>import * as anu from '@</a:t>
            </a:r>
            <a:r>
              <a:rPr lang="en-US" altLang="zh-CN" sz="1000" dirty="0" err="1"/>
              <a:t>jpmorganchase</a:t>
            </a:r>
            <a:r>
              <a:rPr lang="en-US" altLang="zh-CN" sz="1000" dirty="0"/>
              <a:t>/anu' </a:t>
            </a:r>
          </a:p>
          <a:p>
            <a:r>
              <a:rPr lang="en-US" altLang="zh-CN" sz="1000" dirty="0"/>
              <a:t>//create and export a function that takes a </a:t>
            </a:r>
            <a:r>
              <a:rPr lang="en-US" altLang="zh-CN" sz="1000" dirty="0" err="1"/>
              <a:t>babylon</a:t>
            </a:r>
            <a:r>
              <a:rPr lang="en-US" altLang="zh-CN" sz="1000" dirty="0"/>
              <a:t> engine and returns a scene</a:t>
            </a:r>
          </a:p>
          <a:p>
            <a:r>
              <a:rPr lang="en-US" altLang="zh-CN" sz="1000" dirty="0"/>
              <a:t>export const </a:t>
            </a:r>
            <a:r>
              <a:rPr lang="en-US" altLang="zh-CN" sz="1000" dirty="0" err="1"/>
              <a:t>thinInstanceBench</a:t>
            </a:r>
            <a:r>
              <a:rPr lang="en-US" altLang="zh-CN" sz="1000" dirty="0"/>
              <a:t> = (engine)=&gt;{</a:t>
            </a:r>
          </a:p>
          <a:p>
            <a:r>
              <a:rPr lang="en-US" altLang="zh-CN" sz="1000" dirty="0"/>
              <a:t>  const scene = new Scene(engine);</a:t>
            </a:r>
          </a:p>
          <a:p>
            <a:r>
              <a:rPr lang="en-US" altLang="zh-CN" sz="1000" dirty="0"/>
              <a:t>  new </a:t>
            </a:r>
            <a:r>
              <a:rPr lang="en-US" altLang="zh-CN" sz="1000" dirty="0" err="1"/>
              <a:t>HemisphericLight</a:t>
            </a:r>
            <a:r>
              <a:rPr lang="en-US" altLang="zh-CN" sz="1000" dirty="0"/>
              <a:t>('light1', new Vector3(0, 10, 0), scene);</a:t>
            </a:r>
          </a:p>
          <a:p>
            <a:r>
              <a:rPr lang="en-US" altLang="zh-CN" sz="1000" dirty="0"/>
              <a:t>  const camera = new </a:t>
            </a:r>
            <a:r>
              <a:rPr lang="en-US" altLang="zh-CN" sz="1000" dirty="0" err="1"/>
              <a:t>ArcRotateCamera</a:t>
            </a:r>
            <a:r>
              <a:rPr lang="en-US" altLang="zh-CN" sz="1000" dirty="0"/>
              <a:t>("Camera", -(</a:t>
            </a:r>
            <a:r>
              <a:rPr lang="en-US" altLang="zh-CN" sz="1000" dirty="0" err="1"/>
              <a:t>Math.PI</a:t>
            </a:r>
            <a:r>
              <a:rPr lang="en-US" altLang="zh-CN" sz="1000" dirty="0"/>
              <a:t> / 4) * 3, </a:t>
            </a:r>
            <a:r>
              <a:rPr lang="en-US" altLang="zh-CN" sz="1000" dirty="0" err="1"/>
              <a:t>Math.PI</a:t>
            </a:r>
            <a:r>
              <a:rPr lang="en-US" altLang="zh-CN" sz="1000" dirty="0"/>
              <a:t> / 4, 10, new Vector3(0, 0, 0), scene);</a:t>
            </a:r>
          </a:p>
          <a:p>
            <a:r>
              <a:rPr lang="en-US" altLang="zh-CN" sz="1000" dirty="0"/>
              <a:t>  </a:t>
            </a:r>
            <a:r>
              <a:rPr lang="en-US" altLang="zh-CN" sz="1000" dirty="0" err="1"/>
              <a:t>camera.position</a:t>
            </a:r>
            <a:r>
              <a:rPr lang="en-US" altLang="zh-CN" sz="1000" dirty="0"/>
              <a:t> = new Vector3(-25, 10, -50);</a:t>
            </a:r>
          </a:p>
          <a:p>
            <a:r>
              <a:rPr lang="en-US" altLang="zh-CN" sz="1000" dirty="0"/>
              <a:t>  </a:t>
            </a:r>
            <a:r>
              <a:rPr lang="en-US" altLang="zh-CN" sz="1000" dirty="0" err="1"/>
              <a:t>camera.attachControl</a:t>
            </a:r>
            <a:r>
              <a:rPr lang="en-US" altLang="zh-CN" sz="1000" dirty="0"/>
              <a:t>(true);</a:t>
            </a:r>
          </a:p>
          <a:p>
            <a:r>
              <a:rPr lang="en-US" altLang="zh-CN" sz="1000" dirty="0"/>
              <a:t>  let n = 100</a:t>
            </a:r>
          </a:p>
          <a:p>
            <a:r>
              <a:rPr lang="en-US" altLang="zh-CN" sz="1000" dirty="0"/>
              <a:t>  let box = </a:t>
            </a:r>
            <a:r>
              <a:rPr lang="en-US" altLang="zh-CN" sz="1000" dirty="0" err="1"/>
              <a:t>anu.create</a:t>
            </a:r>
            <a:r>
              <a:rPr lang="en-US" altLang="zh-CN" sz="1000" dirty="0"/>
              <a:t>('box', 'box');</a:t>
            </a:r>
          </a:p>
          <a:p>
            <a:r>
              <a:rPr lang="en-US" altLang="zh-CN" sz="1000" dirty="0"/>
              <a:t>  let boxes = </a:t>
            </a:r>
            <a:r>
              <a:rPr lang="en-US" altLang="zh-CN" sz="1000" dirty="0" err="1"/>
              <a:t>anu.bindThinInstance</a:t>
            </a:r>
            <a:r>
              <a:rPr lang="en-US" altLang="zh-CN" sz="1000" dirty="0"/>
              <a:t>(</a:t>
            </a:r>
            <a:r>
              <a:rPr lang="en-US" altLang="zh-CN" sz="1000" dirty="0" err="1"/>
              <a:t>box.clone</a:t>
            </a:r>
            <a:r>
              <a:rPr lang="en-US" altLang="zh-CN" sz="1000" dirty="0"/>
              <a:t>(), [...Array(n).keys()], scene)</a:t>
            </a:r>
          </a:p>
          <a:p>
            <a:r>
              <a:rPr lang="en-US" altLang="zh-CN" sz="1000" dirty="0"/>
              <a:t>                .</a:t>
            </a:r>
            <a:r>
              <a:rPr lang="en-US" altLang="zh-CN" sz="1000" dirty="0" err="1"/>
              <a:t>thinInstancePosition</a:t>
            </a:r>
            <a:r>
              <a:rPr lang="en-US" altLang="zh-CN" sz="1000" dirty="0"/>
              <a:t>(() =&gt; Vector3.Random(-20,20));</a:t>
            </a:r>
          </a:p>
          <a:p>
            <a:r>
              <a:rPr lang="en-US" altLang="zh-CN" sz="1000" dirty="0"/>
              <a:t>  let </a:t>
            </a:r>
            <a:r>
              <a:rPr lang="en-US" altLang="zh-CN" sz="1000" dirty="0" err="1"/>
              <a:t>createBoxes</a:t>
            </a:r>
            <a:r>
              <a:rPr lang="en-US" altLang="zh-CN" sz="1000" dirty="0"/>
              <a:t> = (num) =&gt; {</a:t>
            </a:r>
          </a:p>
          <a:p>
            <a:r>
              <a:rPr lang="en-US" altLang="zh-CN" sz="1000" dirty="0"/>
              <a:t>    </a:t>
            </a:r>
            <a:r>
              <a:rPr lang="en-US" altLang="zh-CN" sz="1000" dirty="0" err="1"/>
              <a:t>boxes.dispose</a:t>
            </a:r>
            <a:r>
              <a:rPr lang="en-US" altLang="zh-CN" sz="1000" dirty="0"/>
              <a:t>()</a:t>
            </a:r>
          </a:p>
          <a:p>
            <a:r>
              <a:rPr lang="en-US" altLang="zh-CN" sz="1000" dirty="0"/>
              <a:t>    boxes = </a:t>
            </a:r>
            <a:r>
              <a:rPr lang="en-US" altLang="zh-CN" sz="1000" dirty="0" err="1"/>
              <a:t>anu.bindThinInstance</a:t>
            </a:r>
            <a:r>
              <a:rPr lang="en-US" altLang="zh-CN" sz="1000" dirty="0"/>
              <a:t>(</a:t>
            </a:r>
            <a:r>
              <a:rPr lang="en-US" altLang="zh-CN" sz="1000" dirty="0" err="1"/>
              <a:t>box.clone</a:t>
            </a:r>
            <a:r>
              <a:rPr lang="en-US" altLang="zh-CN" sz="1000" dirty="0"/>
              <a:t>(), [...Array(num).keys()], scene)</a:t>
            </a:r>
          </a:p>
          <a:p>
            <a:r>
              <a:rPr lang="en-US" altLang="zh-CN" sz="1000" dirty="0"/>
              <a:t>                .</a:t>
            </a:r>
            <a:r>
              <a:rPr lang="en-US" altLang="zh-CN" sz="1000" dirty="0" err="1"/>
              <a:t>thinInstancePosition</a:t>
            </a:r>
            <a:r>
              <a:rPr lang="en-US" altLang="zh-CN" sz="1000" dirty="0"/>
              <a:t>(() =&gt; Vector3.Random(-20,20));</a:t>
            </a:r>
          </a:p>
          <a:p>
            <a:r>
              <a:rPr lang="en-US" altLang="zh-CN" sz="1000" dirty="0"/>
              <a:t>  }</a:t>
            </a:r>
          </a:p>
          <a:p>
            <a:r>
              <a:rPr lang="en-US" altLang="zh-CN" sz="1000" dirty="0"/>
              <a:t>	var </a:t>
            </a:r>
            <a:r>
              <a:rPr lang="en-US" altLang="zh-CN" sz="1000" dirty="0" err="1"/>
              <a:t>advancedTexture</a:t>
            </a:r>
            <a:r>
              <a:rPr lang="en-US" altLang="zh-CN" sz="1000" dirty="0"/>
              <a:t> = </a:t>
            </a:r>
            <a:r>
              <a:rPr lang="en-US" altLang="zh-CN" sz="1000" dirty="0" err="1"/>
              <a:t>AdvancedDynamicTexture.CreateFullscreenUI</a:t>
            </a:r>
            <a:r>
              <a:rPr lang="en-US" altLang="zh-CN" sz="1000" dirty="0"/>
              <a:t>("instance");</a:t>
            </a:r>
          </a:p>
          <a:p>
            <a:r>
              <a:rPr lang="en-US" altLang="zh-CN" sz="1000" dirty="0"/>
              <a:t>  var </a:t>
            </a:r>
            <a:r>
              <a:rPr lang="en-US" altLang="zh-CN" sz="1000" dirty="0" err="1"/>
              <a:t>selectBox</a:t>
            </a:r>
            <a:r>
              <a:rPr lang="en-US" altLang="zh-CN" sz="1000" dirty="0"/>
              <a:t> = new </a:t>
            </a:r>
            <a:r>
              <a:rPr lang="en-US" altLang="zh-CN" sz="1000" dirty="0" err="1"/>
              <a:t>SelectionPanel</a:t>
            </a:r>
            <a:r>
              <a:rPr lang="en-US" altLang="zh-CN" sz="1000" dirty="0"/>
              <a:t>("instance");</a:t>
            </a:r>
          </a:p>
          <a:p>
            <a:r>
              <a:rPr lang="en-US" altLang="zh-CN" sz="1000" dirty="0"/>
              <a:t>  </a:t>
            </a:r>
            <a:r>
              <a:rPr lang="en-US" altLang="zh-CN" sz="1000" dirty="0" err="1"/>
              <a:t>selectBox.width</a:t>
            </a:r>
            <a:r>
              <a:rPr lang="en-US" altLang="zh-CN" sz="1000" dirty="0"/>
              <a:t> = 0.25;</a:t>
            </a:r>
          </a:p>
          <a:p>
            <a:r>
              <a:rPr lang="en-US" altLang="zh-CN" sz="1000" dirty="0"/>
              <a:t>  </a:t>
            </a:r>
            <a:r>
              <a:rPr lang="en-US" altLang="zh-CN" sz="1000" dirty="0" err="1"/>
              <a:t>selectBox.height</a:t>
            </a:r>
            <a:r>
              <a:rPr lang="en-US" altLang="zh-CN" sz="1000" dirty="0"/>
              <a:t> = 0.25;</a:t>
            </a:r>
          </a:p>
          <a:p>
            <a:r>
              <a:rPr lang="en-US" altLang="zh-CN" sz="1000" dirty="0"/>
              <a:t>  </a:t>
            </a:r>
            <a:r>
              <a:rPr lang="en-US" altLang="zh-CN" sz="1000" dirty="0" err="1"/>
              <a:t>selectBox.horizontalAlignment</a:t>
            </a:r>
            <a:r>
              <a:rPr lang="en-US" altLang="zh-CN" sz="1000" dirty="0"/>
              <a:t> = </a:t>
            </a:r>
            <a:r>
              <a:rPr lang="en-US" altLang="zh-CN" sz="1000" dirty="0" err="1"/>
              <a:t>Control.HORIZONTAL_ALIGNMENT_LEFT</a:t>
            </a:r>
            <a:r>
              <a:rPr lang="en-US" altLang="zh-CN" sz="1000" dirty="0"/>
              <a:t>;</a:t>
            </a:r>
          </a:p>
          <a:p>
            <a:r>
              <a:rPr lang="en-US" altLang="zh-CN" sz="1000" dirty="0"/>
              <a:t>  </a:t>
            </a:r>
            <a:r>
              <a:rPr lang="en-US" altLang="zh-CN" sz="1000" dirty="0" err="1"/>
              <a:t>selectBox.verticalAlignment</a:t>
            </a:r>
            <a:r>
              <a:rPr lang="en-US" altLang="zh-CN" sz="1000" dirty="0"/>
              <a:t> = </a:t>
            </a:r>
            <a:r>
              <a:rPr lang="en-US" altLang="zh-CN" sz="1000" dirty="0" err="1"/>
              <a:t>Control.VERTICAL_ALIGNMENT_BOTTOM</a:t>
            </a:r>
            <a:r>
              <a:rPr lang="en-US" altLang="zh-CN" sz="1000" dirty="0"/>
              <a:t>;</a:t>
            </a:r>
          </a:p>
          <a:p>
            <a:r>
              <a:rPr lang="en-US" altLang="zh-CN" sz="1000" dirty="0"/>
              <a:t>  </a:t>
            </a:r>
            <a:r>
              <a:rPr lang="en-US" altLang="zh-CN" sz="1000" dirty="0" err="1"/>
              <a:t>advancedTexture.addControl</a:t>
            </a:r>
            <a:r>
              <a:rPr lang="en-US" altLang="zh-CN" sz="1000" dirty="0"/>
              <a:t>(</a:t>
            </a:r>
            <a:r>
              <a:rPr lang="en-US" altLang="zh-CN" sz="1000" dirty="0" err="1"/>
              <a:t>selectBox</a:t>
            </a:r>
            <a:r>
              <a:rPr lang="en-US" altLang="zh-CN" sz="1000" dirty="0"/>
              <a:t>);</a:t>
            </a:r>
          </a:p>
          <a:p>
            <a:r>
              <a:rPr lang="en-US" altLang="zh-CN" sz="1000" dirty="0"/>
              <a:t>  var </a:t>
            </a:r>
            <a:r>
              <a:rPr lang="en-US" altLang="zh-CN" sz="1000" dirty="0" err="1"/>
              <a:t>numGroup</a:t>
            </a:r>
            <a:r>
              <a:rPr lang="en-US" altLang="zh-CN" sz="1000" dirty="0"/>
              <a:t> = new </a:t>
            </a:r>
            <a:r>
              <a:rPr lang="en-US" altLang="zh-CN" sz="1000" dirty="0" err="1"/>
              <a:t>SliderGroup</a:t>
            </a:r>
            <a:r>
              <a:rPr lang="en-US" altLang="zh-CN" sz="1000" dirty="0"/>
              <a:t>("2",);</a:t>
            </a:r>
          </a:p>
          <a:p>
            <a:r>
              <a:rPr lang="en-US" altLang="zh-CN" sz="1000" dirty="0"/>
              <a:t>  </a:t>
            </a:r>
            <a:r>
              <a:rPr lang="en-US" altLang="zh-CN" sz="1000" dirty="0" err="1"/>
              <a:t>numGroup.addSlider</a:t>
            </a:r>
            <a:r>
              <a:rPr lang="en-US" altLang="zh-CN" sz="1000" dirty="0"/>
              <a:t>("Boxes", (value) =&gt; </a:t>
            </a:r>
            <a:r>
              <a:rPr lang="en-US" altLang="zh-CN" sz="1000" dirty="0" err="1"/>
              <a:t>createBoxes</a:t>
            </a:r>
            <a:r>
              <a:rPr lang="en-US" altLang="zh-CN" sz="1000" dirty="0"/>
              <a:t>(</a:t>
            </a:r>
            <a:r>
              <a:rPr lang="en-US" altLang="zh-CN" sz="1000" dirty="0" err="1"/>
              <a:t>Math.round</a:t>
            </a:r>
            <a:r>
              <a:rPr lang="en-US" altLang="zh-CN" sz="1000" dirty="0"/>
              <a:t>(value)), "", 100, 1000000, 100, (value) =&gt; </a:t>
            </a:r>
            <a:r>
              <a:rPr lang="en-US" altLang="zh-CN" sz="1000" dirty="0" err="1"/>
              <a:t>Math.round</a:t>
            </a:r>
            <a:r>
              <a:rPr lang="en-US" altLang="zh-CN" sz="1000" dirty="0"/>
              <a:t>(value)) </a:t>
            </a:r>
          </a:p>
          <a:p>
            <a:r>
              <a:rPr lang="en-US" altLang="zh-CN" sz="1000" dirty="0"/>
              <a:t>  </a:t>
            </a:r>
            <a:r>
              <a:rPr lang="en-US" altLang="zh-CN" sz="1000" dirty="0" err="1"/>
              <a:t>selectBox.addGroup</a:t>
            </a:r>
            <a:r>
              <a:rPr lang="en-US" altLang="zh-CN" sz="1000" dirty="0"/>
              <a:t>(</a:t>
            </a:r>
            <a:r>
              <a:rPr lang="en-US" altLang="zh-CN" sz="1000" dirty="0" err="1"/>
              <a:t>numGroup</a:t>
            </a:r>
            <a:r>
              <a:rPr lang="en-US" altLang="zh-CN" sz="1000" dirty="0"/>
              <a:t>);</a:t>
            </a:r>
          </a:p>
          <a:p>
            <a:r>
              <a:rPr lang="en-US" altLang="zh-CN" sz="1000" dirty="0"/>
              <a:t>  </a:t>
            </a:r>
            <a:r>
              <a:rPr lang="en-US" altLang="zh-CN" sz="1000" dirty="0" err="1"/>
              <a:t>scene.onAfterRenderObservable.add</a:t>
            </a:r>
            <a:r>
              <a:rPr lang="en-US" altLang="zh-CN" sz="1000" dirty="0"/>
              <a:t>(() =&gt; {</a:t>
            </a:r>
          </a:p>
          <a:p>
            <a:r>
              <a:rPr lang="en-US" altLang="zh-CN" sz="1000" dirty="0"/>
              <a:t>    </a:t>
            </a:r>
            <a:r>
              <a:rPr lang="en-US" altLang="zh-CN" sz="1000" dirty="0" err="1"/>
              <a:t>numGroup.header</a:t>
            </a:r>
            <a:r>
              <a:rPr lang="en-US" altLang="zh-CN" sz="1000" dirty="0"/>
              <a:t> = "FPS: " + </a:t>
            </a:r>
            <a:r>
              <a:rPr lang="en-US" altLang="zh-CN" sz="1000" dirty="0" err="1"/>
              <a:t>scene.getEngine</a:t>
            </a:r>
            <a:r>
              <a:rPr lang="en-US" altLang="zh-CN" sz="1000" dirty="0"/>
              <a:t>().</a:t>
            </a:r>
            <a:r>
              <a:rPr lang="en-US" altLang="zh-CN" sz="1000" dirty="0" err="1"/>
              <a:t>getFps</a:t>
            </a:r>
            <a:r>
              <a:rPr lang="en-US" altLang="zh-CN" sz="1000" dirty="0"/>
              <a:t>().</a:t>
            </a:r>
            <a:r>
              <a:rPr lang="en-US" altLang="zh-CN" sz="1000" dirty="0" err="1"/>
              <a:t>toFixed</a:t>
            </a:r>
            <a:r>
              <a:rPr lang="en-US" altLang="zh-CN" sz="1000" dirty="0"/>
              <a:t>();</a:t>
            </a:r>
          </a:p>
          <a:p>
            <a:r>
              <a:rPr lang="en-US" altLang="zh-CN" sz="1000" dirty="0"/>
              <a:t>  })</a:t>
            </a:r>
          </a:p>
          <a:p>
            <a:r>
              <a:rPr lang="en-US" altLang="zh-CN" sz="1000" dirty="0"/>
              <a:t>  return scene;</a:t>
            </a:r>
          </a:p>
          <a:p>
            <a:r>
              <a:rPr lang="en-US" altLang="zh-CN" sz="1000" dirty="0"/>
              <a:t>};</a:t>
            </a:r>
          </a:p>
        </p:txBody>
      </p:sp>
      <p:sp>
        <p:nvSpPr>
          <p:cNvPr id="3" name="矩形 2">
            <a:extLst>
              <a:ext uri="{FF2B5EF4-FFF2-40B4-BE49-F238E27FC236}">
                <a16:creationId xmlns:a16="http://schemas.microsoft.com/office/drawing/2014/main" id="{B1FD0706-00EE-11BE-5FE8-D739A236A89C}"/>
              </a:ext>
            </a:extLst>
          </p:cNvPr>
          <p:cNvSpPr/>
          <p:nvPr/>
        </p:nvSpPr>
        <p:spPr>
          <a:xfrm>
            <a:off x="7941376" y="1128451"/>
            <a:ext cx="3338402" cy="1600438"/>
          </a:xfrm>
          <a:prstGeom prst="rect">
            <a:avLst/>
          </a:prstGeom>
          <a:solidFill>
            <a:schemeClr val="bg1">
              <a:lumMod val="85000"/>
            </a:schemeClr>
          </a:solidFill>
        </p:spPr>
        <p:txBody>
          <a:bodyPr wrap="square">
            <a:spAutoFit/>
          </a:bodyPr>
          <a:lstStyle/>
          <a:p>
            <a:r>
              <a:rPr lang="en-US" altLang="zh-CN" sz="1400" dirty="0"/>
              <a:t>// Create engine and scene</a:t>
            </a:r>
          </a:p>
          <a:p>
            <a:r>
              <a:rPr lang="en-US" altLang="zh-CN" sz="1400" dirty="0"/>
              <a:t>const </a:t>
            </a:r>
            <a:r>
              <a:rPr lang="en-US" altLang="zh-CN" sz="1400" dirty="0" err="1"/>
              <a:t>babylonEngine</a:t>
            </a:r>
            <a:r>
              <a:rPr lang="en-US" altLang="zh-CN" sz="1400" dirty="0"/>
              <a:t> = new Engine(canvas, true)</a:t>
            </a:r>
          </a:p>
          <a:p>
            <a:r>
              <a:rPr lang="en-US" altLang="zh-CN" sz="1400" dirty="0"/>
              <a:t>const scene = </a:t>
            </a:r>
            <a:r>
              <a:rPr lang="en-US" altLang="zh-CN" sz="1400" dirty="0" err="1"/>
              <a:t>thinInstanceBench</a:t>
            </a:r>
            <a:r>
              <a:rPr lang="en-US" altLang="zh-CN" sz="1400" dirty="0"/>
              <a:t> (</a:t>
            </a:r>
            <a:r>
              <a:rPr lang="en-US" altLang="zh-CN" sz="1400" dirty="0" err="1"/>
              <a:t>babylonEngine</a:t>
            </a:r>
            <a:r>
              <a:rPr lang="en-US" altLang="zh-CN" sz="1400" dirty="0"/>
              <a:t>);</a:t>
            </a:r>
          </a:p>
          <a:p>
            <a:r>
              <a:rPr lang="en-US" altLang="zh-CN" sz="1400" dirty="0"/>
              <a:t>const engine = new Engine(canvas, true);</a:t>
            </a:r>
          </a:p>
          <a:p>
            <a:r>
              <a:rPr lang="en-US" altLang="zh-CN" sz="1400" dirty="0" err="1"/>
              <a:t>thinInstanceBench</a:t>
            </a:r>
            <a:r>
              <a:rPr lang="en-US" altLang="zh-CN" sz="1400" dirty="0"/>
              <a:t>(engine)</a:t>
            </a:r>
          </a:p>
        </p:txBody>
      </p:sp>
      <p:sp>
        <p:nvSpPr>
          <p:cNvPr id="6" name="内容占位符 2">
            <a:extLst>
              <a:ext uri="{FF2B5EF4-FFF2-40B4-BE49-F238E27FC236}">
                <a16:creationId xmlns:a16="http://schemas.microsoft.com/office/drawing/2014/main" id="{70EF3FDB-137C-19DA-014D-2705BBB2D022}"/>
              </a:ext>
            </a:extLst>
          </p:cNvPr>
          <p:cNvSpPr>
            <a:spLocks noGrp="1" noChangeArrowheads="1"/>
          </p:cNvSpPr>
          <p:nvPr>
            <p:ph idx="1"/>
          </p:nvPr>
        </p:nvSpPr>
        <p:spPr>
          <a:xfrm>
            <a:off x="7941376" y="675412"/>
            <a:ext cx="4557601" cy="453039"/>
          </a:xfrm>
        </p:spPr>
        <p:txBody>
          <a:bodyPr/>
          <a:lstStyle/>
          <a:p>
            <a:pPr marL="0" indent="0">
              <a:buNone/>
            </a:pPr>
            <a:r>
              <a:rPr lang="en-US" altLang="zh-CN" b="1" dirty="0"/>
              <a:t>Main.js</a:t>
            </a:r>
            <a:r>
              <a:rPr lang="zh-CN" altLang="en-US" b="1" dirty="0"/>
              <a:t>部分代码</a:t>
            </a:r>
            <a:endParaRPr lang="zh-CN" altLang="en-US" sz="1800" dirty="0"/>
          </a:p>
        </p:txBody>
      </p:sp>
    </p:spTree>
    <p:extLst>
      <p:ext uri="{BB962C8B-B14F-4D97-AF65-F5344CB8AC3E}">
        <p14:creationId xmlns:p14="http://schemas.microsoft.com/office/powerpoint/2010/main" val="28670231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AE5A0-3B38-929D-0000-0F8A0212633A}"/>
            </a:ext>
          </a:extLst>
        </p:cNvPr>
        <p:cNvGrpSpPr/>
        <p:nvPr/>
      </p:nvGrpSpPr>
      <p:grpSpPr>
        <a:xfrm>
          <a:off x="0" y="0"/>
          <a:ext cx="0" cy="0"/>
          <a:chOff x="0" y="0"/>
          <a:chExt cx="0" cy="0"/>
        </a:xfrm>
      </p:grpSpPr>
      <p:sp>
        <p:nvSpPr>
          <p:cNvPr id="12290" name="标题 1">
            <a:extLst>
              <a:ext uri="{FF2B5EF4-FFF2-40B4-BE49-F238E27FC236}">
                <a16:creationId xmlns:a16="http://schemas.microsoft.com/office/drawing/2014/main" id="{7C0A9993-71C9-073F-4B9F-CF771499E3D6}"/>
              </a:ext>
            </a:extLst>
          </p:cNvPr>
          <p:cNvSpPr>
            <a:spLocks noGrp="1" noChangeArrowheads="1"/>
          </p:cNvSpPr>
          <p:nvPr>
            <p:ph type="title"/>
          </p:nvPr>
        </p:nvSpPr>
        <p:spPr>
          <a:xfrm>
            <a:off x="1251678" y="382385"/>
            <a:ext cx="10178322" cy="674890"/>
          </a:xfrm>
        </p:spPr>
        <p:txBody>
          <a:bodyPr>
            <a:normAutofit/>
          </a:bodyPr>
          <a:lstStyle/>
          <a:p>
            <a:r>
              <a:rPr lang="zh-CN" altLang="en-US" sz="4000" dirty="0">
                <a:latin typeface="+mn-ea"/>
                <a:ea typeface="+mn-ea"/>
              </a:rPr>
              <a:t>过渡</a:t>
            </a:r>
            <a:endParaRPr lang="en-US" altLang="zh-CN" sz="4000" dirty="0"/>
          </a:p>
        </p:txBody>
      </p:sp>
      <p:sp>
        <p:nvSpPr>
          <p:cNvPr id="6" name="内容占位符 2">
            <a:extLst>
              <a:ext uri="{FF2B5EF4-FFF2-40B4-BE49-F238E27FC236}">
                <a16:creationId xmlns:a16="http://schemas.microsoft.com/office/drawing/2014/main" id="{5FF0E072-D468-3829-F6F9-99303BA7FAE2}"/>
              </a:ext>
            </a:extLst>
          </p:cNvPr>
          <p:cNvSpPr>
            <a:spLocks noGrp="1" noChangeArrowheads="1"/>
          </p:cNvSpPr>
          <p:nvPr>
            <p:ph idx="1"/>
          </p:nvPr>
        </p:nvSpPr>
        <p:spPr>
          <a:xfrm>
            <a:off x="1116695" y="1456382"/>
            <a:ext cx="10178322" cy="2696518"/>
          </a:xfrm>
        </p:spPr>
        <p:txBody>
          <a:bodyPr>
            <a:normAutofit/>
          </a:bodyPr>
          <a:lstStyle/>
          <a:p>
            <a:pPr marL="0" indent="0">
              <a:buNone/>
            </a:pPr>
            <a:r>
              <a:rPr lang="zh-CN" altLang="en-US" b="1" dirty="0"/>
              <a:t>过渡（</a:t>
            </a:r>
            <a:r>
              <a:rPr lang="en-US" altLang="zh-CN" b="1" dirty="0"/>
              <a:t>Transitions</a:t>
            </a:r>
            <a:r>
              <a:rPr lang="zh-CN" altLang="en-US" b="1" dirty="0"/>
              <a:t>）</a:t>
            </a:r>
            <a:br>
              <a:rPr lang="zh-CN" altLang="en-US" dirty="0"/>
            </a:br>
            <a:r>
              <a:rPr lang="zh-CN" altLang="en-US" dirty="0"/>
              <a:t>使用 </a:t>
            </a:r>
            <a:r>
              <a:rPr lang="en-US" altLang="zh-CN" dirty="0"/>
              <a:t>Anu</a:t>
            </a:r>
            <a:r>
              <a:rPr lang="zh-CN" altLang="en-US" dirty="0"/>
              <a:t>，我们可以非常轻松地为可视化添加过渡和动画，只需调用几个方法。</a:t>
            </a:r>
            <a:r>
              <a:rPr lang="en-US" altLang="zh-CN" dirty="0"/>
              <a:t>Anu </a:t>
            </a:r>
            <a:r>
              <a:rPr lang="zh-CN" altLang="en-US" dirty="0"/>
              <a:t>的过渡系统基于 </a:t>
            </a:r>
            <a:r>
              <a:rPr lang="en-US" altLang="zh-CN" dirty="0"/>
              <a:t>Babylon </a:t>
            </a:r>
            <a:r>
              <a:rPr lang="zh-CN" altLang="en-US" dirty="0"/>
              <a:t>的动画系统，并遵循 </a:t>
            </a:r>
            <a:r>
              <a:rPr lang="en-US" altLang="zh-CN" dirty="0"/>
              <a:t>D3 </a:t>
            </a:r>
            <a:r>
              <a:rPr lang="zh-CN" altLang="en-US" dirty="0"/>
              <a:t>的 </a:t>
            </a:r>
            <a:r>
              <a:rPr lang="en-US" altLang="zh-CN" dirty="0"/>
              <a:t>transition </a:t>
            </a:r>
            <a:r>
              <a:rPr lang="zh-CN" altLang="en-US" dirty="0"/>
              <a:t>方法的熟悉模式。</a:t>
            </a:r>
            <a:endParaRPr lang="en-US" altLang="zh-CN" dirty="0"/>
          </a:p>
          <a:p>
            <a:pPr marL="0" indent="0">
              <a:buNone/>
            </a:pPr>
            <a:r>
              <a:rPr lang="zh-CN" altLang="en-US" b="1" dirty="0"/>
              <a:t>基本过渡</a:t>
            </a:r>
            <a:br>
              <a:rPr lang="zh-CN" altLang="en-US" sz="1800" dirty="0"/>
            </a:br>
            <a:r>
              <a:rPr lang="zh-CN" altLang="en-US" sz="1800" dirty="0"/>
              <a:t>创建过渡非常简单，只需在已有的 </a:t>
            </a:r>
            <a:r>
              <a:rPr lang="en-US" altLang="zh-CN" sz="1800" dirty="0"/>
              <a:t>Selection </a:t>
            </a:r>
            <a:r>
              <a:rPr lang="zh-CN" altLang="en-US" sz="1800" dirty="0"/>
              <a:t>上调用 </a:t>
            </a:r>
            <a:r>
              <a:rPr lang="en-US" altLang="zh-CN" dirty="0"/>
              <a:t>transition()</a:t>
            </a:r>
            <a:r>
              <a:rPr lang="en-US" altLang="zh-CN" sz="1800" dirty="0"/>
              <a:t> </a:t>
            </a:r>
            <a:r>
              <a:rPr lang="zh-CN" altLang="en-US" sz="1800" dirty="0"/>
              <a:t>方法。这会返回一个新的 </a:t>
            </a:r>
            <a:r>
              <a:rPr lang="en-US" altLang="zh-CN" sz="1800" dirty="0"/>
              <a:t>Selection </a:t>
            </a:r>
            <a:r>
              <a:rPr lang="zh-CN" altLang="en-US" sz="1800" dirty="0"/>
              <a:t>实例，用于执行过渡动画。然后可以链式调用 </a:t>
            </a:r>
            <a:r>
              <a:rPr lang="en-US" altLang="zh-CN" dirty="0"/>
              <a:t>wrapper</a:t>
            </a:r>
            <a:r>
              <a:rPr lang="zh-CN" altLang="en-US" sz="1800" dirty="0"/>
              <a:t> 函数、</a:t>
            </a:r>
            <a:r>
              <a:rPr lang="en-US" altLang="zh-CN" dirty="0"/>
              <a:t>prop()</a:t>
            </a:r>
            <a:r>
              <a:rPr lang="zh-CN" altLang="en-US" sz="1800" dirty="0"/>
              <a:t> 或 </a:t>
            </a:r>
            <a:r>
              <a:rPr lang="en-US" altLang="zh-CN" dirty="0"/>
              <a:t>props()</a:t>
            </a:r>
            <a:r>
              <a:rPr lang="zh-CN" altLang="en-US" sz="1800" dirty="0"/>
              <a:t> 方法</a:t>
            </a:r>
          </a:p>
        </p:txBody>
      </p:sp>
      <p:sp>
        <p:nvSpPr>
          <p:cNvPr id="9" name="矩形 8">
            <a:extLst>
              <a:ext uri="{FF2B5EF4-FFF2-40B4-BE49-F238E27FC236}">
                <a16:creationId xmlns:a16="http://schemas.microsoft.com/office/drawing/2014/main" id="{D05689F9-6627-2514-ACE4-F8127A317A00}"/>
              </a:ext>
            </a:extLst>
          </p:cNvPr>
          <p:cNvSpPr/>
          <p:nvPr/>
        </p:nvSpPr>
        <p:spPr>
          <a:xfrm>
            <a:off x="1902526" y="3890701"/>
            <a:ext cx="7508174" cy="1815882"/>
          </a:xfrm>
          <a:prstGeom prst="rect">
            <a:avLst/>
          </a:prstGeom>
          <a:solidFill>
            <a:schemeClr val="bg1">
              <a:lumMod val="85000"/>
            </a:schemeClr>
          </a:solidFill>
        </p:spPr>
        <p:txBody>
          <a:bodyPr wrap="square">
            <a:spAutoFit/>
          </a:bodyPr>
          <a:lstStyle/>
          <a:p>
            <a:r>
              <a:rPr lang="en-US" altLang="zh-CN" sz="1400" dirty="0"/>
              <a:t>let box = </a:t>
            </a:r>
            <a:r>
              <a:rPr lang="en-US" altLang="zh-CN" sz="1400" dirty="0" err="1"/>
              <a:t>anu.bind</a:t>
            </a:r>
            <a:r>
              <a:rPr lang="en-US" altLang="zh-CN" sz="1400" dirty="0"/>
              <a:t>('box', {}, [...Array(10).keys()]);</a:t>
            </a:r>
          </a:p>
          <a:p>
            <a:endParaRPr lang="en-US" altLang="zh-CN" sz="1400" dirty="0"/>
          </a:p>
          <a:p>
            <a:r>
              <a:rPr lang="en-US" altLang="zh-CN" sz="1400" dirty="0"/>
              <a:t>// Click the scene to transition</a:t>
            </a:r>
          </a:p>
          <a:p>
            <a:r>
              <a:rPr lang="en-US" altLang="zh-CN" sz="1400" dirty="0" err="1"/>
              <a:t>scene.onPointerDown</a:t>
            </a:r>
            <a:r>
              <a:rPr lang="en-US" altLang="zh-CN" sz="1400" dirty="0"/>
              <a:t> = (pointer) =&gt; {</a:t>
            </a:r>
          </a:p>
          <a:p>
            <a:r>
              <a:rPr lang="en-US" altLang="zh-CN" sz="1400" dirty="0"/>
              <a:t>  let </a:t>
            </a:r>
            <a:r>
              <a:rPr lang="en-US" altLang="zh-CN" sz="1400" dirty="0" err="1"/>
              <a:t>boxTransition</a:t>
            </a:r>
            <a:r>
              <a:rPr lang="en-US" altLang="zh-CN" sz="1400" dirty="0"/>
              <a:t> = </a:t>
            </a:r>
            <a:r>
              <a:rPr lang="en-US" altLang="zh-CN" sz="1400" dirty="0" err="1"/>
              <a:t>box.transition</a:t>
            </a:r>
            <a:r>
              <a:rPr lang="en-US" altLang="zh-CN" sz="1400" dirty="0"/>
              <a:t>()</a:t>
            </a:r>
          </a:p>
          <a:p>
            <a:r>
              <a:rPr lang="en-US" altLang="zh-CN" sz="1400" dirty="0"/>
              <a:t>                         .position(() =&gt; Vector3.Random(-5, 5))</a:t>
            </a:r>
          </a:p>
          <a:p>
            <a:r>
              <a:rPr lang="en-US" altLang="zh-CN" sz="1400" dirty="0"/>
              <a:t>                         .rotation(() =&gt; </a:t>
            </a:r>
            <a:r>
              <a:rPr lang="en-US" altLang="zh-CN" sz="1400" dirty="0" err="1"/>
              <a:t>Quaternion.Random</a:t>
            </a:r>
            <a:r>
              <a:rPr lang="en-US" altLang="zh-CN" sz="1400" dirty="0"/>
              <a:t>());</a:t>
            </a:r>
          </a:p>
          <a:p>
            <a:r>
              <a:rPr lang="en-US" altLang="zh-CN" sz="1400" dirty="0"/>
              <a:t>}</a:t>
            </a:r>
          </a:p>
        </p:txBody>
      </p:sp>
    </p:spTree>
    <p:extLst>
      <p:ext uri="{BB962C8B-B14F-4D97-AF65-F5344CB8AC3E}">
        <p14:creationId xmlns:p14="http://schemas.microsoft.com/office/powerpoint/2010/main" val="3104928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3C39D-B124-8B2C-92EC-E75947F64200}"/>
            </a:ext>
          </a:extLst>
        </p:cNvPr>
        <p:cNvGrpSpPr/>
        <p:nvPr/>
      </p:nvGrpSpPr>
      <p:grpSpPr>
        <a:xfrm>
          <a:off x="0" y="0"/>
          <a:ext cx="0" cy="0"/>
          <a:chOff x="0" y="0"/>
          <a:chExt cx="0" cy="0"/>
        </a:xfrm>
      </p:grpSpPr>
      <p:sp>
        <p:nvSpPr>
          <p:cNvPr id="12291" name="内容占位符 2">
            <a:extLst>
              <a:ext uri="{FF2B5EF4-FFF2-40B4-BE49-F238E27FC236}">
                <a16:creationId xmlns:a16="http://schemas.microsoft.com/office/drawing/2014/main" id="{33FAE6D3-81E8-5EFD-5E64-95101EBC608A}"/>
              </a:ext>
            </a:extLst>
          </p:cNvPr>
          <p:cNvSpPr>
            <a:spLocks noGrp="1" noChangeArrowheads="1"/>
          </p:cNvSpPr>
          <p:nvPr>
            <p:ph idx="1"/>
          </p:nvPr>
        </p:nvSpPr>
        <p:spPr>
          <a:xfrm>
            <a:off x="1251678" y="1389894"/>
            <a:ext cx="8616222" cy="943731"/>
          </a:xfrm>
        </p:spPr>
        <p:txBody>
          <a:bodyPr>
            <a:normAutofit/>
          </a:bodyPr>
          <a:lstStyle/>
          <a:p>
            <a:r>
              <a:rPr lang="zh-CN" altLang="en-US" b="1" dirty="0"/>
              <a:t>过渡选项（</a:t>
            </a:r>
            <a:r>
              <a:rPr lang="en-US" altLang="zh-CN" b="1" dirty="0"/>
              <a:t>Transition Options</a:t>
            </a:r>
            <a:r>
              <a:rPr lang="zh-CN" altLang="en-US" b="1" dirty="0"/>
              <a:t>）</a:t>
            </a:r>
            <a:br>
              <a:rPr lang="en-US" altLang="zh-CN" dirty="0"/>
            </a:br>
            <a:r>
              <a:rPr lang="zh-CN" altLang="en-US" dirty="0"/>
              <a:t>可以通过向 </a:t>
            </a:r>
            <a:r>
              <a:rPr lang="en-US" altLang="zh-CN" dirty="0"/>
              <a:t>transition() </a:t>
            </a:r>
            <a:r>
              <a:rPr lang="zh-CN" altLang="en-US" dirty="0"/>
              <a:t>方法传入一个 </a:t>
            </a:r>
            <a:r>
              <a:rPr lang="en-US" altLang="zh-CN" dirty="0"/>
              <a:t>options </a:t>
            </a:r>
            <a:r>
              <a:rPr lang="zh-CN" altLang="en-US" dirty="0"/>
              <a:t>对象来自定义过渡。</a:t>
            </a:r>
            <a:endParaRPr lang="en-US" altLang="zh-CN" b="1" dirty="0"/>
          </a:p>
        </p:txBody>
      </p:sp>
      <p:graphicFrame>
        <p:nvGraphicFramePr>
          <p:cNvPr id="2" name="表格 1">
            <a:extLst>
              <a:ext uri="{FF2B5EF4-FFF2-40B4-BE49-F238E27FC236}">
                <a16:creationId xmlns:a16="http://schemas.microsoft.com/office/drawing/2014/main" id="{43FEB8FC-3DD0-D35E-B390-BCB495F96805}"/>
              </a:ext>
            </a:extLst>
          </p:cNvPr>
          <p:cNvGraphicFramePr>
            <a:graphicFrameLocks noGrp="1"/>
          </p:cNvGraphicFramePr>
          <p:nvPr>
            <p:extLst>
              <p:ext uri="{D42A27DB-BD31-4B8C-83A1-F6EECF244321}">
                <p14:modId xmlns:p14="http://schemas.microsoft.com/office/powerpoint/2010/main" val="3511343691"/>
              </p:ext>
            </p:extLst>
          </p:nvPr>
        </p:nvGraphicFramePr>
        <p:xfrm>
          <a:off x="1250950" y="2345690"/>
          <a:ext cx="10179051" cy="3474720"/>
        </p:xfrm>
        <a:graphic>
          <a:graphicData uri="http://schemas.openxmlformats.org/drawingml/2006/table">
            <a:tbl>
              <a:tblPr/>
              <a:tblGrid>
                <a:gridCol w="3393017">
                  <a:extLst>
                    <a:ext uri="{9D8B030D-6E8A-4147-A177-3AD203B41FA5}">
                      <a16:colId xmlns:a16="http://schemas.microsoft.com/office/drawing/2014/main" val="1456158747"/>
                    </a:ext>
                  </a:extLst>
                </a:gridCol>
                <a:gridCol w="4442883">
                  <a:extLst>
                    <a:ext uri="{9D8B030D-6E8A-4147-A177-3AD203B41FA5}">
                      <a16:colId xmlns:a16="http://schemas.microsoft.com/office/drawing/2014/main" val="3376337755"/>
                    </a:ext>
                  </a:extLst>
                </a:gridCol>
                <a:gridCol w="2343151">
                  <a:extLst>
                    <a:ext uri="{9D8B030D-6E8A-4147-A177-3AD203B41FA5}">
                      <a16:colId xmlns:a16="http://schemas.microsoft.com/office/drawing/2014/main" val="3326622265"/>
                    </a:ext>
                  </a:extLst>
                </a:gridCol>
              </a:tblGrid>
              <a:tr h="365760">
                <a:tc>
                  <a:txBody>
                    <a:bodyPr/>
                    <a:lstStyle/>
                    <a:p>
                      <a:pPr>
                        <a:buNone/>
                      </a:pPr>
                      <a:r>
                        <a:rPr lang="zh-CN" altLang="en-US" sz="1800" dirty="0"/>
                        <a:t>变量 </a:t>
                      </a:r>
                      <a:r>
                        <a:rPr lang="en-US" altLang="zh-CN" sz="1800" dirty="0"/>
                        <a:t>&amp; </a:t>
                      </a:r>
                      <a:r>
                        <a:rPr lang="zh-CN" altLang="en-US" sz="1800" dirty="0"/>
                        <a:t>类型</a:t>
                      </a:r>
                    </a:p>
                  </a:txBody>
                  <a:tcPr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buNone/>
                      </a:pPr>
                      <a:r>
                        <a:rPr lang="zh-CN" altLang="en-US" sz="1800"/>
                        <a:t>描述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buNone/>
                      </a:pPr>
                      <a:r>
                        <a:rPr lang="zh-CN" altLang="en-US" sz="1800"/>
                        <a:t>默认值</a:t>
                      </a:r>
                    </a:p>
                  </a:txBody>
                  <a:tcPr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2109955"/>
                  </a:ext>
                </a:extLst>
              </a:tr>
              <a:tr h="365760">
                <a:tc>
                  <a:txBody>
                    <a:bodyPr/>
                    <a:lstStyle/>
                    <a:p>
                      <a:pPr>
                        <a:buNone/>
                      </a:pPr>
                      <a:r>
                        <a:rPr lang="en-US" sz="1800" dirty="0" err="1">
                          <a:latin typeface="Courier New" panose="02070309020205020404" pitchFamily="49" charset="0"/>
                        </a:rPr>
                        <a:t>duration</a:t>
                      </a:r>
                      <a:r>
                        <a:rPr lang="en-US" sz="1800" dirty="0" err="1"/>
                        <a:t>（</a:t>
                      </a:r>
                      <a:r>
                        <a:rPr lang="en-US" altLang="zh-CN" sz="1800" dirty="0" err="1"/>
                        <a:t>number</a:t>
                      </a:r>
                      <a:r>
                        <a:rPr lang="zh-CN" altLang="en-US" sz="1800" dirty="0"/>
                        <a:t>）</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800"/>
                        <a:t>过渡动画的持续时间（毫秒）</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tLang="zh-CN" sz="1800"/>
                        <a:t>250</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6323536"/>
                  </a:ext>
                </a:extLst>
              </a:tr>
              <a:tr h="640080">
                <a:tc>
                  <a:txBody>
                    <a:bodyPr/>
                    <a:lstStyle/>
                    <a:p>
                      <a:pPr>
                        <a:buNone/>
                      </a:pPr>
                      <a:r>
                        <a:rPr lang="en-US" sz="1800" dirty="0" err="1">
                          <a:latin typeface="Courier New" panose="02070309020205020404" pitchFamily="49" charset="0"/>
                        </a:rPr>
                        <a:t>delay</a:t>
                      </a:r>
                      <a:r>
                        <a:rPr lang="en-US" sz="1800" dirty="0" err="1"/>
                        <a:t>（</a:t>
                      </a:r>
                      <a:r>
                        <a:rPr lang="en-US" altLang="zh-CN" sz="1800" dirty="0" err="1"/>
                        <a:t>number</a:t>
                      </a:r>
                      <a:r>
                        <a:rPr lang="zh-CN" altLang="en-US" sz="1800" dirty="0"/>
                        <a:t>）</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800" dirty="0"/>
                        <a:t>过渡动画开始前的延迟时间（毫秒）</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tLang="zh-CN" sz="1800"/>
                        <a:t>0</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5958846"/>
                  </a:ext>
                </a:extLst>
              </a:tr>
              <a:tr h="365760">
                <a:tc>
                  <a:txBody>
                    <a:bodyPr/>
                    <a:lstStyle/>
                    <a:p>
                      <a:pPr>
                        <a:buNone/>
                      </a:pPr>
                      <a:r>
                        <a:rPr lang="en-US" sz="1800" dirty="0" err="1">
                          <a:latin typeface="Courier New" panose="02070309020205020404" pitchFamily="49" charset="0"/>
                        </a:rPr>
                        <a:t>framePerSecond</a:t>
                      </a:r>
                      <a:r>
                        <a:rPr lang="en-US" sz="1800" dirty="0" err="1"/>
                        <a:t>（</a:t>
                      </a:r>
                      <a:r>
                        <a:rPr lang="en-US" altLang="zh-CN" sz="1800" dirty="0" err="1"/>
                        <a:t>number</a:t>
                      </a:r>
                      <a:r>
                        <a:rPr lang="zh-CN" altLang="en-US" sz="1800" dirty="0"/>
                        <a:t>）</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800"/>
                        <a:t>过渡动画的帧率（每秒帧数）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tLang="zh-CN" sz="1800"/>
                        <a:t>30</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0996838"/>
                  </a:ext>
                </a:extLst>
              </a:tr>
              <a:tr h="365760">
                <a:tc>
                  <a:txBody>
                    <a:bodyPr/>
                    <a:lstStyle/>
                    <a:p>
                      <a:pPr>
                        <a:buNone/>
                      </a:pPr>
                      <a:r>
                        <a:rPr lang="en-US" sz="1800" dirty="0">
                          <a:latin typeface="Courier New" panose="02070309020205020404" pitchFamily="49" charset="0"/>
                        </a:rPr>
                        <a:t>sequence</a:t>
                      </a:r>
                      <a:r>
                        <a:rPr lang="en-US" sz="1800" dirty="0"/>
                        <a:t>（</a:t>
                      </a:r>
                      <a:r>
                        <a:rPr lang="zh-CN" altLang="en-US" sz="1800" dirty="0"/>
                        <a:t>布尔值）</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800"/>
                        <a:t>指示过渡是否按序列执行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true</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84647575"/>
                  </a:ext>
                </a:extLst>
              </a:tr>
              <a:tr h="640080">
                <a:tc>
                  <a:txBody>
                    <a:bodyPr/>
                    <a:lstStyle/>
                    <a:p>
                      <a:pPr>
                        <a:buNone/>
                      </a:pPr>
                      <a:r>
                        <a:rPr lang="en-US" sz="1800" dirty="0" err="1">
                          <a:latin typeface="Courier New" panose="02070309020205020404" pitchFamily="49" charset="0"/>
                        </a:rPr>
                        <a:t>easingFunction</a:t>
                      </a:r>
                      <a:r>
                        <a:rPr lang="en-US" sz="1800" dirty="0"/>
                        <a:t>（</a:t>
                      </a:r>
                      <a:r>
                        <a:rPr lang="zh-CN" altLang="en-US" sz="1800" dirty="0"/>
                        <a:t>函数）</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Babylon easing </a:t>
                      </a:r>
                      <a:r>
                        <a:rPr lang="zh-CN" altLang="en-US" sz="1800"/>
                        <a:t>函数，用于控制动画变化速率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undefined</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8998794"/>
                  </a:ext>
                </a:extLst>
              </a:tr>
              <a:tr h="365760">
                <a:tc>
                  <a:txBody>
                    <a:bodyPr/>
                    <a:lstStyle/>
                    <a:p>
                      <a:pPr>
                        <a:buNone/>
                      </a:pPr>
                      <a:r>
                        <a:rPr lang="en-US" sz="1800" dirty="0" err="1">
                          <a:latin typeface="Courier New" panose="02070309020205020404" pitchFamily="49" charset="0"/>
                        </a:rPr>
                        <a:t>loopMode</a:t>
                      </a:r>
                      <a:r>
                        <a:rPr lang="en-US" sz="1800" dirty="0" err="1"/>
                        <a:t>（</a:t>
                      </a:r>
                      <a:r>
                        <a:rPr lang="en-US" altLang="zh-CN" sz="1800" b="0" i="0" kern="1200" dirty="0" err="1">
                          <a:solidFill>
                            <a:schemeClr val="tx1"/>
                          </a:solidFill>
                          <a:effectLst/>
                          <a:latin typeface="+mn-lt"/>
                          <a:ea typeface="+mn-ea"/>
                          <a:cs typeface="+mn-cs"/>
                        </a:rPr>
                        <a:t>number</a:t>
                      </a:r>
                      <a:r>
                        <a:rPr lang="en-US" altLang="zh-CN" sz="1800" b="0" i="0" kern="1200" dirty="0">
                          <a:solidFill>
                            <a:schemeClr val="tx1"/>
                          </a:solidFill>
                          <a:effectLst/>
                          <a:latin typeface="+mn-lt"/>
                          <a:ea typeface="+mn-ea"/>
                          <a:cs typeface="+mn-cs"/>
                        </a:rPr>
                        <a:t> </a:t>
                      </a:r>
                      <a:r>
                        <a:rPr lang="zh-CN" altLang="en-US" sz="1800" dirty="0"/>
                        <a:t> </a:t>
                      </a:r>
                      <a:r>
                        <a:rPr lang="en-US" altLang="zh-CN" sz="1800" dirty="0"/>
                        <a:t>0~4</a:t>
                      </a:r>
                      <a:r>
                        <a:rPr lang="zh-CN" altLang="en-US" sz="1800" dirty="0"/>
                        <a:t>）</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tLang="zh-CN" sz="1800"/>
                        <a:t>Babylon </a:t>
                      </a:r>
                      <a:r>
                        <a:rPr lang="zh-CN" altLang="en-US" sz="1800"/>
                        <a:t>循环模式编号</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tLang="zh-CN" sz="1800"/>
                        <a:t>0</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2172371"/>
                  </a:ext>
                </a:extLst>
              </a:tr>
              <a:tr h="365760">
                <a:tc>
                  <a:txBody>
                    <a:bodyPr/>
                    <a:lstStyle/>
                    <a:p>
                      <a:pPr>
                        <a:buNone/>
                      </a:pPr>
                      <a:r>
                        <a:rPr lang="en-US" sz="1800">
                          <a:latin typeface="Courier New" panose="02070309020205020404" pitchFamily="49" charset="0"/>
                        </a:rPr>
                        <a:t>onAnimationEnd</a:t>
                      </a:r>
                      <a:r>
                        <a:rPr lang="en-US" sz="1800"/>
                        <a:t>（</a:t>
                      </a:r>
                      <a:r>
                        <a:rPr lang="zh-CN" altLang="en-US" sz="1800"/>
                        <a:t>函数）</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buNone/>
                      </a:pPr>
                      <a:r>
                        <a:rPr lang="zh-CN" altLang="en-US" sz="1800"/>
                        <a:t>过渡结束时的回调函数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buNone/>
                      </a:pPr>
                      <a:r>
                        <a:rPr lang="en-US" sz="1800" dirty="0"/>
                        <a:t>undefined</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96663093"/>
                  </a:ext>
                </a:extLst>
              </a:tr>
            </a:tbl>
          </a:graphicData>
        </a:graphic>
      </p:graphicFrame>
      <p:sp>
        <p:nvSpPr>
          <p:cNvPr id="12" name="标题 1">
            <a:extLst>
              <a:ext uri="{FF2B5EF4-FFF2-40B4-BE49-F238E27FC236}">
                <a16:creationId xmlns:a16="http://schemas.microsoft.com/office/drawing/2014/main" id="{71456636-8599-D52A-096E-1DB25003C625}"/>
              </a:ext>
            </a:extLst>
          </p:cNvPr>
          <p:cNvSpPr>
            <a:spLocks noGrp="1" noChangeArrowheads="1"/>
          </p:cNvSpPr>
          <p:nvPr>
            <p:ph type="title"/>
          </p:nvPr>
        </p:nvSpPr>
        <p:spPr>
          <a:xfrm>
            <a:off x="1251678" y="382385"/>
            <a:ext cx="10178322" cy="674890"/>
          </a:xfrm>
        </p:spPr>
        <p:txBody>
          <a:bodyPr>
            <a:normAutofit/>
          </a:bodyPr>
          <a:lstStyle/>
          <a:p>
            <a:r>
              <a:rPr lang="zh-CN" altLang="en-US" sz="3200" b="1" dirty="0">
                <a:solidFill>
                  <a:schemeClr val="tx1">
                    <a:lumMod val="65000"/>
                    <a:lumOff val="35000"/>
                  </a:schemeClr>
                </a:solidFill>
                <a:latin typeface="+mn-lt"/>
                <a:ea typeface="+mn-ea"/>
                <a:cs typeface="+mn-cs"/>
              </a:rPr>
              <a:t>过渡选项</a:t>
            </a:r>
            <a:endParaRPr lang="en-US" altLang="zh-CN" sz="3200" b="1" dirty="0">
              <a:solidFill>
                <a:schemeClr val="tx1">
                  <a:lumMod val="65000"/>
                  <a:lumOff val="35000"/>
                </a:schemeClr>
              </a:solidFill>
              <a:latin typeface="+mn-lt"/>
              <a:ea typeface="+mn-ea"/>
              <a:cs typeface="+mn-cs"/>
            </a:endParaRPr>
          </a:p>
        </p:txBody>
      </p:sp>
    </p:spTree>
    <p:extLst>
      <p:ext uri="{BB962C8B-B14F-4D97-AF65-F5344CB8AC3E}">
        <p14:creationId xmlns:p14="http://schemas.microsoft.com/office/powerpoint/2010/main" val="7265431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B9B64-8888-42AD-641E-C9A6644A51EF}"/>
            </a:ext>
          </a:extLst>
        </p:cNvPr>
        <p:cNvGrpSpPr/>
        <p:nvPr/>
      </p:nvGrpSpPr>
      <p:grpSpPr>
        <a:xfrm>
          <a:off x="0" y="0"/>
          <a:ext cx="0" cy="0"/>
          <a:chOff x="0" y="0"/>
          <a:chExt cx="0" cy="0"/>
        </a:xfrm>
      </p:grpSpPr>
      <p:sp>
        <p:nvSpPr>
          <p:cNvPr id="12290" name="标题 1">
            <a:extLst>
              <a:ext uri="{FF2B5EF4-FFF2-40B4-BE49-F238E27FC236}">
                <a16:creationId xmlns:a16="http://schemas.microsoft.com/office/drawing/2014/main" id="{AA74B33B-98B6-8DF1-E947-EE88472AAB8D}"/>
              </a:ext>
            </a:extLst>
          </p:cNvPr>
          <p:cNvSpPr>
            <a:spLocks noGrp="1" noChangeArrowheads="1"/>
          </p:cNvSpPr>
          <p:nvPr>
            <p:ph type="title"/>
          </p:nvPr>
        </p:nvSpPr>
        <p:spPr>
          <a:xfrm>
            <a:off x="1251678" y="382385"/>
            <a:ext cx="10178322" cy="674890"/>
          </a:xfrm>
        </p:spPr>
        <p:txBody>
          <a:bodyPr>
            <a:normAutofit/>
          </a:bodyPr>
          <a:lstStyle/>
          <a:p>
            <a:r>
              <a:rPr lang="zh-CN" altLang="en-US" sz="3200" b="1" dirty="0">
                <a:solidFill>
                  <a:schemeClr val="tx1">
                    <a:lumMod val="65000"/>
                    <a:lumOff val="35000"/>
                  </a:schemeClr>
                </a:solidFill>
                <a:latin typeface="+mn-lt"/>
                <a:ea typeface="+mn-ea"/>
                <a:cs typeface="+mn-cs"/>
              </a:rPr>
              <a:t>动态过渡选项</a:t>
            </a:r>
          </a:p>
        </p:txBody>
      </p:sp>
      <p:sp>
        <p:nvSpPr>
          <p:cNvPr id="6" name="内容占位符 2">
            <a:extLst>
              <a:ext uri="{FF2B5EF4-FFF2-40B4-BE49-F238E27FC236}">
                <a16:creationId xmlns:a16="http://schemas.microsoft.com/office/drawing/2014/main" id="{B142076D-1234-CC8D-DEDC-7F54ADBBE4A8}"/>
              </a:ext>
            </a:extLst>
          </p:cNvPr>
          <p:cNvSpPr>
            <a:spLocks noGrp="1" noChangeArrowheads="1"/>
          </p:cNvSpPr>
          <p:nvPr>
            <p:ph idx="1"/>
          </p:nvPr>
        </p:nvSpPr>
        <p:spPr>
          <a:xfrm>
            <a:off x="1116695" y="1456382"/>
            <a:ext cx="10178322" cy="2696518"/>
          </a:xfrm>
        </p:spPr>
        <p:txBody>
          <a:bodyPr>
            <a:normAutofit/>
          </a:bodyPr>
          <a:lstStyle/>
          <a:p>
            <a:pPr marL="0" indent="0">
              <a:buNone/>
            </a:pPr>
            <a:r>
              <a:rPr lang="zh-CN" altLang="en-US" dirty="0"/>
              <a:t>我们还可以使用匿名函数为选择中的每个网格体返回唯一的过渡选项。这允许我们根据“</a:t>
            </a:r>
            <a:r>
              <a:rPr lang="en-US" altLang="zh-CN" dirty="0"/>
              <a:t>d”</a:t>
            </a:r>
            <a:r>
              <a:rPr lang="zh-CN" altLang="en-US" dirty="0"/>
              <a:t>和“</a:t>
            </a:r>
            <a:r>
              <a:rPr lang="en-US" altLang="zh-CN" dirty="0" err="1"/>
              <a:t>i</a:t>
            </a:r>
            <a:r>
              <a:rPr lang="en-US" altLang="zh-CN" dirty="0"/>
              <a:t>”</a:t>
            </a:r>
            <a:r>
              <a:rPr lang="zh-CN" altLang="en-US" dirty="0"/>
              <a:t>值执行交错动画之类的事情。</a:t>
            </a:r>
            <a:endParaRPr lang="zh-CN" altLang="en-US" sz="1800" dirty="0"/>
          </a:p>
        </p:txBody>
      </p:sp>
      <p:sp>
        <p:nvSpPr>
          <p:cNvPr id="9" name="矩形 8">
            <a:extLst>
              <a:ext uri="{FF2B5EF4-FFF2-40B4-BE49-F238E27FC236}">
                <a16:creationId xmlns:a16="http://schemas.microsoft.com/office/drawing/2014/main" id="{53B2FC32-A695-8AF6-9888-9C76D413D4E0}"/>
              </a:ext>
            </a:extLst>
          </p:cNvPr>
          <p:cNvSpPr/>
          <p:nvPr/>
        </p:nvSpPr>
        <p:spPr>
          <a:xfrm>
            <a:off x="1251678" y="2481001"/>
            <a:ext cx="4949097" cy="2462213"/>
          </a:xfrm>
          <a:prstGeom prst="rect">
            <a:avLst/>
          </a:prstGeom>
          <a:solidFill>
            <a:schemeClr val="bg1">
              <a:lumMod val="85000"/>
            </a:schemeClr>
          </a:solidFill>
        </p:spPr>
        <p:txBody>
          <a:bodyPr wrap="square">
            <a:spAutoFit/>
          </a:bodyPr>
          <a:lstStyle/>
          <a:p>
            <a:r>
              <a:rPr lang="en-US" altLang="zh-CN" sz="1400" dirty="0"/>
              <a:t>let box = </a:t>
            </a:r>
            <a:r>
              <a:rPr lang="en-US" altLang="zh-CN" sz="1400" dirty="0" err="1"/>
              <a:t>anu.bind</a:t>
            </a:r>
            <a:r>
              <a:rPr lang="en-US" altLang="zh-CN" sz="1400" dirty="0"/>
              <a:t>('box', {}, [1, 2, 3, 4, 5, 6, 7, 8, 9, 10]);</a:t>
            </a:r>
          </a:p>
          <a:p>
            <a:endParaRPr lang="en-US" altLang="zh-CN" sz="1400" dirty="0"/>
          </a:p>
          <a:p>
            <a:r>
              <a:rPr lang="en-US" altLang="zh-CN" sz="1400" dirty="0"/>
              <a:t>// Click the scene to transition</a:t>
            </a:r>
          </a:p>
          <a:p>
            <a:r>
              <a:rPr lang="en-US" altLang="zh-CN" sz="1400" dirty="0" err="1"/>
              <a:t>scene.onPointerDown</a:t>
            </a:r>
            <a:r>
              <a:rPr lang="en-US" altLang="zh-CN" sz="1400" dirty="0"/>
              <a:t> = (pointer) =&gt; {</a:t>
            </a:r>
          </a:p>
          <a:p>
            <a:r>
              <a:rPr lang="en-US" altLang="zh-CN" sz="1400" dirty="0"/>
              <a:t>  let </a:t>
            </a:r>
            <a:r>
              <a:rPr lang="en-US" altLang="zh-CN" sz="1400" dirty="0" err="1"/>
              <a:t>boxTransition</a:t>
            </a:r>
            <a:r>
              <a:rPr lang="en-US" altLang="zh-CN" sz="1400" dirty="0"/>
              <a:t> = </a:t>
            </a:r>
            <a:r>
              <a:rPr lang="en-US" altLang="zh-CN" sz="1400" dirty="0" err="1"/>
              <a:t>box.transition</a:t>
            </a:r>
            <a:r>
              <a:rPr lang="en-US" altLang="zh-CN" sz="1400" dirty="0"/>
              <a:t>((</a:t>
            </a:r>
            <a:r>
              <a:rPr lang="en-US" altLang="zh-CN" sz="1400" dirty="0" err="1"/>
              <a:t>d,n,i</a:t>
            </a:r>
            <a:r>
              <a:rPr lang="en-US" altLang="zh-CN" sz="1400" dirty="0"/>
              <a:t>) =&gt; ({</a:t>
            </a:r>
          </a:p>
          <a:p>
            <a:r>
              <a:rPr lang="en-US" altLang="zh-CN" sz="1400" dirty="0"/>
              <a:t>                              duration: d * 100,</a:t>
            </a:r>
          </a:p>
          <a:p>
            <a:r>
              <a:rPr lang="en-US" altLang="zh-CN" sz="1400" dirty="0"/>
              <a:t>                              delay: (10 - d) * 100</a:t>
            </a:r>
          </a:p>
          <a:p>
            <a:r>
              <a:rPr lang="en-US" altLang="zh-CN" sz="1400" dirty="0"/>
              <a:t>                          }))</a:t>
            </a:r>
          </a:p>
          <a:p>
            <a:r>
              <a:rPr lang="en-US" altLang="zh-CN" sz="1400" dirty="0"/>
              <a:t>                         .position(() =&gt; Vector3.Random(-5, 5))</a:t>
            </a:r>
          </a:p>
          <a:p>
            <a:r>
              <a:rPr lang="en-US" altLang="zh-CN" sz="1400" dirty="0"/>
              <a:t>                         .rotation(() =&gt; </a:t>
            </a:r>
            <a:r>
              <a:rPr lang="en-US" altLang="zh-CN" sz="1400" dirty="0" err="1"/>
              <a:t>Quaternion.Random</a:t>
            </a:r>
            <a:r>
              <a:rPr lang="en-US" altLang="zh-CN" sz="1400" dirty="0"/>
              <a:t>());</a:t>
            </a:r>
          </a:p>
          <a:p>
            <a:r>
              <a:rPr lang="en-US" altLang="zh-CN" sz="1400" dirty="0"/>
              <a:t>}</a:t>
            </a:r>
          </a:p>
        </p:txBody>
      </p:sp>
      <p:pic>
        <p:nvPicPr>
          <p:cNvPr id="3" name="图片 2">
            <a:extLst>
              <a:ext uri="{FF2B5EF4-FFF2-40B4-BE49-F238E27FC236}">
                <a16:creationId xmlns:a16="http://schemas.microsoft.com/office/drawing/2014/main" id="{EDFCEBCC-AE5B-4B61-693F-60EFF070A72E}"/>
              </a:ext>
            </a:extLst>
          </p:cNvPr>
          <p:cNvPicPr>
            <a:picLocks noChangeAspect="1"/>
          </p:cNvPicPr>
          <p:nvPr/>
        </p:nvPicPr>
        <p:blipFill>
          <a:blip r:embed="rId2"/>
          <a:stretch>
            <a:fillRect/>
          </a:stretch>
        </p:blipFill>
        <p:spPr>
          <a:xfrm>
            <a:off x="6892198" y="2447206"/>
            <a:ext cx="3423378" cy="2925837"/>
          </a:xfrm>
          <a:prstGeom prst="rect">
            <a:avLst/>
          </a:prstGeom>
        </p:spPr>
      </p:pic>
    </p:spTree>
    <p:extLst>
      <p:ext uri="{BB962C8B-B14F-4D97-AF65-F5344CB8AC3E}">
        <p14:creationId xmlns:p14="http://schemas.microsoft.com/office/powerpoint/2010/main" val="40884069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0CEB8-A5B8-A44B-F709-F157A2F629B1}"/>
            </a:ext>
          </a:extLst>
        </p:cNvPr>
        <p:cNvGrpSpPr/>
        <p:nvPr/>
      </p:nvGrpSpPr>
      <p:grpSpPr>
        <a:xfrm>
          <a:off x="0" y="0"/>
          <a:ext cx="0" cy="0"/>
          <a:chOff x="0" y="0"/>
          <a:chExt cx="0" cy="0"/>
        </a:xfrm>
      </p:grpSpPr>
      <p:sp>
        <p:nvSpPr>
          <p:cNvPr id="12290" name="标题 1">
            <a:extLst>
              <a:ext uri="{FF2B5EF4-FFF2-40B4-BE49-F238E27FC236}">
                <a16:creationId xmlns:a16="http://schemas.microsoft.com/office/drawing/2014/main" id="{DE863E2E-CDFB-4572-5848-D1C3C98DFDD6}"/>
              </a:ext>
            </a:extLst>
          </p:cNvPr>
          <p:cNvSpPr>
            <a:spLocks noGrp="1" noChangeArrowheads="1"/>
          </p:cNvSpPr>
          <p:nvPr>
            <p:ph type="title"/>
          </p:nvPr>
        </p:nvSpPr>
        <p:spPr>
          <a:xfrm>
            <a:off x="1251678" y="382385"/>
            <a:ext cx="10178322" cy="674890"/>
          </a:xfrm>
        </p:spPr>
        <p:txBody>
          <a:bodyPr>
            <a:normAutofit/>
          </a:bodyPr>
          <a:lstStyle/>
          <a:p>
            <a:r>
              <a:rPr lang="zh-CN" altLang="en-US" sz="3200" b="1" dirty="0">
                <a:solidFill>
                  <a:schemeClr val="tx1">
                    <a:lumMod val="65000"/>
                    <a:lumOff val="35000"/>
                  </a:schemeClr>
                </a:solidFill>
                <a:latin typeface="+mn-lt"/>
                <a:ea typeface="+mn-ea"/>
                <a:cs typeface="+mn-cs"/>
              </a:rPr>
              <a:t>排序转换</a:t>
            </a:r>
          </a:p>
        </p:txBody>
      </p:sp>
      <p:sp>
        <p:nvSpPr>
          <p:cNvPr id="6" name="内容占位符 2">
            <a:extLst>
              <a:ext uri="{FF2B5EF4-FFF2-40B4-BE49-F238E27FC236}">
                <a16:creationId xmlns:a16="http://schemas.microsoft.com/office/drawing/2014/main" id="{E97F5D8B-9ADF-4EAC-A2B9-50EAACE9054F}"/>
              </a:ext>
            </a:extLst>
          </p:cNvPr>
          <p:cNvSpPr>
            <a:spLocks noGrp="1" noChangeArrowheads="1"/>
          </p:cNvSpPr>
          <p:nvPr>
            <p:ph idx="1"/>
          </p:nvPr>
        </p:nvSpPr>
        <p:spPr>
          <a:xfrm>
            <a:off x="1116695" y="1456382"/>
            <a:ext cx="10178322" cy="2696518"/>
          </a:xfrm>
        </p:spPr>
        <p:txBody>
          <a:bodyPr>
            <a:normAutofit/>
          </a:bodyPr>
          <a:lstStyle/>
          <a:p>
            <a:pPr marL="0" indent="0">
              <a:buNone/>
            </a:pPr>
            <a:r>
              <a:rPr lang="zh-CN" altLang="en-US" dirty="0"/>
              <a:t>默认情况下，如果我们想要对一系列过渡（即暂存）进行排序，我们所要做的就是在过渡选择上再次调用 </a:t>
            </a:r>
            <a:r>
              <a:rPr lang="en-US" altLang="zh-CN" dirty="0"/>
              <a:t>transition</a:t>
            </a:r>
            <a:r>
              <a:rPr lang="zh-CN" altLang="en-US" dirty="0"/>
              <a:t>（），每个过渡将按顺序播放选择中的每个网格体。这是由默认情况下为 </a:t>
            </a:r>
            <a:r>
              <a:rPr lang="en-US" altLang="zh-CN" dirty="0"/>
              <a:t>true </a:t>
            </a:r>
            <a:r>
              <a:rPr lang="zh-CN" altLang="en-US" dirty="0"/>
              <a:t>的“序列”选项控制的。如果您想为不同的过渡提供单独的选项，但又想同时播放，只需将“</a:t>
            </a:r>
            <a:r>
              <a:rPr lang="en-US" altLang="zh-CN" dirty="0"/>
              <a:t>sequence”</a:t>
            </a:r>
            <a:r>
              <a:rPr lang="zh-CN" altLang="en-US" dirty="0"/>
              <a:t>设置为 </a:t>
            </a:r>
            <a:r>
              <a:rPr lang="en-US" altLang="zh-CN" dirty="0"/>
              <a:t>false</a:t>
            </a:r>
            <a:r>
              <a:rPr lang="zh-CN" altLang="en-US" dirty="0"/>
              <a:t>。</a:t>
            </a:r>
            <a:endParaRPr lang="zh-CN" altLang="en-US" sz="1800" dirty="0"/>
          </a:p>
        </p:txBody>
      </p:sp>
      <p:sp>
        <p:nvSpPr>
          <p:cNvPr id="9" name="矩形 8">
            <a:extLst>
              <a:ext uri="{FF2B5EF4-FFF2-40B4-BE49-F238E27FC236}">
                <a16:creationId xmlns:a16="http://schemas.microsoft.com/office/drawing/2014/main" id="{96636EA5-A6B9-DDF3-15BD-5C58A481F5ED}"/>
              </a:ext>
            </a:extLst>
          </p:cNvPr>
          <p:cNvSpPr/>
          <p:nvPr/>
        </p:nvSpPr>
        <p:spPr>
          <a:xfrm>
            <a:off x="1251678" y="3320900"/>
            <a:ext cx="4949097" cy="2677656"/>
          </a:xfrm>
          <a:prstGeom prst="rect">
            <a:avLst/>
          </a:prstGeom>
          <a:solidFill>
            <a:schemeClr val="bg1">
              <a:lumMod val="85000"/>
            </a:schemeClr>
          </a:solidFill>
        </p:spPr>
        <p:txBody>
          <a:bodyPr wrap="square">
            <a:spAutoFit/>
          </a:bodyPr>
          <a:lstStyle/>
          <a:p>
            <a:r>
              <a:rPr lang="en-US" altLang="zh-CN" sz="1400" dirty="0"/>
              <a:t>let box = </a:t>
            </a:r>
            <a:r>
              <a:rPr lang="en-US" altLang="zh-CN" sz="1400" dirty="0" err="1"/>
              <a:t>anu.bind</a:t>
            </a:r>
            <a:r>
              <a:rPr lang="en-US" altLang="zh-CN" sz="1400" dirty="0"/>
              <a:t>('box', {}, [...Array(10).keys()])</a:t>
            </a:r>
          </a:p>
          <a:p>
            <a:r>
              <a:rPr lang="en-US" altLang="zh-CN" sz="1400" dirty="0"/>
              <a:t>              .material(() =&gt; new </a:t>
            </a:r>
            <a:r>
              <a:rPr lang="en-US" altLang="zh-CN" sz="1400" dirty="0" err="1"/>
              <a:t>StandardMaterial</a:t>
            </a:r>
            <a:r>
              <a:rPr lang="en-US" altLang="zh-CN" sz="1400" dirty="0"/>
              <a:t>());</a:t>
            </a:r>
          </a:p>
          <a:p>
            <a:endParaRPr lang="en-US" altLang="zh-CN" sz="1400" dirty="0"/>
          </a:p>
          <a:p>
            <a:r>
              <a:rPr lang="en-US" altLang="zh-CN" sz="1400" dirty="0"/>
              <a:t>// Click the scene to transition</a:t>
            </a:r>
          </a:p>
          <a:p>
            <a:r>
              <a:rPr lang="en-US" altLang="zh-CN" sz="1400" dirty="0" err="1"/>
              <a:t>scene.onPointerDown</a:t>
            </a:r>
            <a:r>
              <a:rPr lang="en-US" altLang="zh-CN" sz="1400" dirty="0"/>
              <a:t> = (pointer) =&gt; {</a:t>
            </a:r>
          </a:p>
          <a:p>
            <a:r>
              <a:rPr lang="en-US" altLang="zh-CN" sz="1400" dirty="0"/>
              <a:t>  let </a:t>
            </a:r>
            <a:r>
              <a:rPr lang="en-US" altLang="zh-CN" sz="1400" dirty="0" err="1"/>
              <a:t>boxTransition</a:t>
            </a:r>
            <a:r>
              <a:rPr lang="en-US" altLang="zh-CN" sz="1400" dirty="0"/>
              <a:t> = </a:t>
            </a:r>
            <a:r>
              <a:rPr lang="en-US" altLang="zh-CN" sz="1400" dirty="0" err="1"/>
              <a:t>box.transition</a:t>
            </a:r>
            <a:r>
              <a:rPr lang="en-US" altLang="zh-CN" sz="1400" dirty="0"/>
              <a:t>({ duration: 1000 })</a:t>
            </a:r>
          </a:p>
          <a:p>
            <a:r>
              <a:rPr lang="en-US" altLang="zh-CN" sz="1400" dirty="0"/>
              <a:t>                         .position(() =&gt; Vector3.Random(-5, 5))</a:t>
            </a:r>
          </a:p>
          <a:p>
            <a:r>
              <a:rPr lang="en-US" altLang="zh-CN" sz="1400" dirty="0"/>
              <a:t>                         .transition({ duration: 1000 })</a:t>
            </a:r>
          </a:p>
          <a:p>
            <a:r>
              <a:rPr lang="en-US" altLang="zh-CN" sz="1400" dirty="0"/>
              <a:t>                         .rotation(() =&gt; </a:t>
            </a:r>
            <a:r>
              <a:rPr lang="en-US" altLang="zh-CN" sz="1400" dirty="0" err="1"/>
              <a:t>Quaternion.Random</a:t>
            </a:r>
            <a:r>
              <a:rPr lang="en-US" altLang="zh-CN" sz="1400" dirty="0"/>
              <a:t>())</a:t>
            </a:r>
          </a:p>
          <a:p>
            <a:r>
              <a:rPr lang="en-US" altLang="zh-CN" sz="1400" dirty="0"/>
              <a:t>                         .transition({duration: 2000, sequence: false })</a:t>
            </a:r>
          </a:p>
          <a:p>
            <a:r>
              <a:rPr lang="en-US" altLang="zh-CN" sz="1400" dirty="0"/>
              <a:t>                         .</a:t>
            </a:r>
            <a:r>
              <a:rPr lang="en-US" altLang="zh-CN" sz="1400" dirty="0" err="1"/>
              <a:t>diffuseColor</a:t>
            </a:r>
            <a:r>
              <a:rPr lang="en-US" altLang="zh-CN" sz="1400" dirty="0"/>
              <a:t>(() =&gt; Color3.Random())</a:t>
            </a:r>
          </a:p>
          <a:p>
            <a:r>
              <a:rPr lang="en-US" altLang="zh-CN" sz="1400" dirty="0"/>
              <a:t>}</a:t>
            </a:r>
          </a:p>
        </p:txBody>
      </p:sp>
      <p:pic>
        <p:nvPicPr>
          <p:cNvPr id="4" name="图片 3">
            <a:extLst>
              <a:ext uri="{FF2B5EF4-FFF2-40B4-BE49-F238E27FC236}">
                <a16:creationId xmlns:a16="http://schemas.microsoft.com/office/drawing/2014/main" id="{6340597E-FC1C-EB22-9875-C764DE23595B}"/>
              </a:ext>
            </a:extLst>
          </p:cNvPr>
          <p:cNvPicPr>
            <a:picLocks noChangeAspect="1"/>
          </p:cNvPicPr>
          <p:nvPr/>
        </p:nvPicPr>
        <p:blipFill>
          <a:blip r:embed="rId2"/>
          <a:stretch>
            <a:fillRect/>
          </a:stretch>
        </p:blipFill>
        <p:spPr>
          <a:xfrm>
            <a:off x="6993662" y="3181023"/>
            <a:ext cx="3506833" cy="2741968"/>
          </a:xfrm>
          <a:prstGeom prst="rect">
            <a:avLst/>
          </a:prstGeom>
        </p:spPr>
      </p:pic>
    </p:spTree>
    <p:extLst>
      <p:ext uri="{BB962C8B-B14F-4D97-AF65-F5344CB8AC3E}">
        <p14:creationId xmlns:p14="http://schemas.microsoft.com/office/powerpoint/2010/main" val="11918492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6819C-143C-5955-5385-42B2071DFF62}"/>
            </a:ext>
          </a:extLst>
        </p:cNvPr>
        <p:cNvGrpSpPr/>
        <p:nvPr/>
      </p:nvGrpSpPr>
      <p:grpSpPr>
        <a:xfrm>
          <a:off x="0" y="0"/>
          <a:ext cx="0" cy="0"/>
          <a:chOff x="0" y="0"/>
          <a:chExt cx="0" cy="0"/>
        </a:xfrm>
      </p:grpSpPr>
      <p:sp>
        <p:nvSpPr>
          <p:cNvPr id="12290" name="标题 1">
            <a:extLst>
              <a:ext uri="{FF2B5EF4-FFF2-40B4-BE49-F238E27FC236}">
                <a16:creationId xmlns:a16="http://schemas.microsoft.com/office/drawing/2014/main" id="{54620BA3-3EAF-CE0D-F775-E3754CD0007E}"/>
              </a:ext>
            </a:extLst>
          </p:cNvPr>
          <p:cNvSpPr>
            <a:spLocks noGrp="1" noChangeArrowheads="1"/>
          </p:cNvSpPr>
          <p:nvPr>
            <p:ph type="title"/>
          </p:nvPr>
        </p:nvSpPr>
        <p:spPr>
          <a:xfrm>
            <a:off x="1251678" y="382385"/>
            <a:ext cx="10178322" cy="674890"/>
          </a:xfrm>
        </p:spPr>
        <p:txBody>
          <a:bodyPr>
            <a:normAutofit/>
          </a:bodyPr>
          <a:lstStyle/>
          <a:p>
            <a:r>
              <a:rPr lang="en-US" altLang="zh-CN" sz="3200" b="1" dirty="0">
                <a:solidFill>
                  <a:schemeClr val="tx1">
                    <a:lumMod val="65000"/>
                    <a:lumOff val="35000"/>
                  </a:schemeClr>
                </a:solidFill>
                <a:latin typeface="+mn-lt"/>
                <a:ea typeface="+mn-ea"/>
                <a:cs typeface="+mn-cs"/>
              </a:rPr>
              <a:t>Tween</a:t>
            </a:r>
            <a:r>
              <a:rPr lang="zh-CN" altLang="en-US" sz="3200" b="1" dirty="0">
                <a:solidFill>
                  <a:schemeClr val="tx1">
                    <a:lumMod val="65000"/>
                    <a:lumOff val="35000"/>
                  </a:schemeClr>
                </a:solidFill>
                <a:latin typeface="+mn-lt"/>
                <a:ea typeface="+mn-ea"/>
                <a:cs typeface="+mn-cs"/>
              </a:rPr>
              <a:t>（补间动画）</a:t>
            </a:r>
          </a:p>
        </p:txBody>
      </p:sp>
      <p:sp>
        <p:nvSpPr>
          <p:cNvPr id="6" name="内容占位符 2">
            <a:extLst>
              <a:ext uri="{FF2B5EF4-FFF2-40B4-BE49-F238E27FC236}">
                <a16:creationId xmlns:a16="http://schemas.microsoft.com/office/drawing/2014/main" id="{F4EF95DB-ECC0-DE17-D792-A985416B3D1F}"/>
              </a:ext>
            </a:extLst>
          </p:cNvPr>
          <p:cNvSpPr>
            <a:spLocks noGrp="1" noChangeArrowheads="1"/>
          </p:cNvSpPr>
          <p:nvPr>
            <p:ph idx="1"/>
          </p:nvPr>
        </p:nvSpPr>
        <p:spPr>
          <a:xfrm>
            <a:off x="1116695" y="1227782"/>
            <a:ext cx="10178322" cy="2696518"/>
          </a:xfrm>
        </p:spPr>
        <p:txBody>
          <a:bodyPr>
            <a:normAutofit/>
          </a:bodyPr>
          <a:lstStyle/>
          <a:p>
            <a:pPr marL="0" indent="0">
              <a:buNone/>
            </a:pPr>
            <a:r>
              <a:rPr lang="zh-CN" altLang="en-US" dirty="0"/>
              <a:t>有时我们希望对过渡动画有更精细的控制，或者想以一种原有 </a:t>
            </a:r>
            <a:r>
              <a:rPr lang="en-US" altLang="zh-CN" dirty="0"/>
              <a:t>wrapper </a:t>
            </a:r>
            <a:r>
              <a:rPr lang="zh-CN" altLang="en-US" dirty="0"/>
              <a:t>或 </a:t>
            </a:r>
            <a:r>
              <a:rPr lang="en-US" altLang="zh-CN" dirty="0"/>
              <a:t>prop() </a:t>
            </a:r>
            <a:r>
              <a:rPr lang="zh-CN" altLang="en-US" dirty="0"/>
              <a:t>方法不支持的方式来动画化某个属性。这种情况下，我们可以使用 </a:t>
            </a:r>
            <a:r>
              <a:rPr lang="en-US" altLang="zh-CN" dirty="0"/>
              <a:t>tween() </a:t>
            </a:r>
            <a:r>
              <a:rPr lang="zh-CN" altLang="en-US" dirty="0"/>
              <a:t>方法。</a:t>
            </a:r>
            <a:endParaRPr lang="en-US" altLang="zh-CN" dirty="0"/>
          </a:p>
          <a:p>
            <a:pPr marL="0" indent="0">
              <a:buNone/>
            </a:pPr>
            <a:r>
              <a:rPr lang="en-US" altLang="zh-CN" dirty="0"/>
              <a:t>tween() </a:t>
            </a:r>
            <a:r>
              <a:rPr lang="zh-CN" altLang="en-US" dirty="0"/>
              <a:t>需要一个函数作为参数，该函数接受一个名为 </a:t>
            </a:r>
            <a:r>
              <a:rPr lang="en-US" altLang="zh-CN" dirty="0"/>
              <a:t>t </a:t>
            </a:r>
            <a:r>
              <a:rPr lang="zh-CN" altLang="en-US" dirty="0"/>
              <a:t>的时间变量，范围从 </a:t>
            </a:r>
            <a:r>
              <a:rPr lang="en-US" altLang="zh-CN" dirty="0"/>
              <a:t>0 </a:t>
            </a:r>
            <a:r>
              <a:rPr lang="zh-CN" altLang="en-US" dirty="0"/>
              <a:t>到 </a:t>
            </a:r>
            <a:r>
              <a:rPr lang="en-US" altLang="zh-CN" dirty="0"/>
              <a:t>1</a:t>
            </a:r>
            <a:r>
              <a:rPr lang="zh-CN" altLang="en-US" dirty="0"/>
              <a:t>。在每一次过渡“</a:t>
            </a:r>
            <a:r>
              <a:rPr lang="en-US" altLang="zh-CN" dirty="0"/>
              <a:t>tick”</a:t>
            </a:r>
            <a:r>
              <a:rPr lang="zh-CN" altLang="en-US" dirty="0"/>
              <a:t>时，这个函数都会被调用，</a:t>
            </a:r>
            <a:r>
              <a:rPr lang="en-US" altLang="zh-CN" dirty="0"/>
              <a:t>t </a:t>
            </a:r>
            <a:r>
              <a:rPr lang="zh-CN" altLang="en-US" dirty="0"/>
              <a:t>表示当前 </a:t>
            </a:r>
            <a:r>
              <a:rPr lang="en-US" altLang="zh-CN" dirty="0"/>
              <a:t>tick </a:t>
            </a:r>
            <a:r>
              <a:rPr lang="zh-CN" altLang="en-US" dirty="0"/>
              <a:t>的时间进度。我们可以使用 </a:t>
            </a:r>
            <a:r>
              <a:rPr lang="en-US" altLang="zh-CN" dirty="0"/>
              <a:t>D3 </a:t>
            </a:r>
            <a:r>
              <a:rPr lang="zh-CN" altLang="en-US" dirty="0"/>
              <a:t>的 </a:t>
            </a:r>
            <a:r>
              <a:rPr lang="en-US" altLang="zh-CN" dirty="0"/>
              <a:t>interpolate </a:t>
            </a:r>
            <a:r>
              <a:rPr lang="zh-CN" altLang="en-US" dirty="0"/>
              <a:t>方法或其他方法（如 </a:t>
            </a:r>
            <a:r>
              <a:rPr lang="en-US" altLang="zh-CN" dirty="0"/>
              <a:t>Vector3.Lerp()</a:t>
            </a:r>
            <a:r>
              <a:rPr lang="zh-CN" altLang="en-US" dirty="0"/>
              <a:t>）来计算在当前 </a:t>
            </a:r>
            <a:r>
              <a:rPr lang="en-US" altLang="zh-CN" dirty="0"/>
              <a:t>tick </a:t>
            </a:r>
            <a:r>
              <a:rPr lang="zh-CN" altLang="en-US" dirty="0"/>
              <a:t>时属性应该设置的值。</a:t>
            </a:r>
            <a:endParaRPr lang="zh-CN" altLang="en-US" sz="1800" dirty="0"/>
          </a:p>
        </p:txBody>
      </p:sp>
      <p:sp>
        <p:nvSpPr>
          <p:cNvPr id="9" name="矩形 8">
            <a:extLst>
              <a:ext uri="{FF2B5EF4-FFF2-40B4-BE49-F238E27FC236}">
                <a16:creationId xmlns:a16="http://schemas.microsoft.com/office/drawing/2014/main" id="{02E067CC-B067-A4EA-92A6-4219D6761E64}"/>
              </a:ext>
            </a:extLst>
          </p:cNvPr>
          <p:cNvSpPr/>
          <p:nvPr/>
        </p:nvSpPr>
        <p:spPr>
          <a:xfrm>
            <a:off x="2335895" y="3228975"/>
            <a:ext cx="7739922" cy="3323987"/>
          </a:xfrm>
          <a:prstGeom prst="rect">
            <a:avLst/>
          </a:prstGeom>
          <a:solidFill>
            <a:schemeClr val="bg1">
              <a:lumMod val="85000"/>
            </a:schemeClr>
          </a:solidFill>
        </p:spPr>
        <p:txBody>
          <a:bodyPr wrap="square">
            <a:spAutoFit/>
          </a:bodyPr>
          <a:lstStyle/>
          <a:p>
            <a:r>
              <a:rPr lang="en-US" altLang="zh-CN" sz="1400" dirty="0"/>
              <a:t>let box = </a:t>
            </a:r>
            <a:r>
              <a:rPr lang="en-US" altLang="zh-CN" sz="1400" dirty="0" err="1"/>
              <a:t>anu.bind</a:t>
            </a:r>
            <a:r>
              <a:rPr lang="en-US" altLang="zh-CN" sz="1400" dirty="0"/>
              <a:t>('box', {}, [...Array(10).keys()])</a:t>
            </a:r>
          </a:p>
          <a:p>
            <a:r>
              <a:rPr lang="en-US" altLang="zh-CN" sz="1400" dirty="0"/>
              <a:t>             .material(() =&gt; new </a:t>
            </a:r>
            <a:r>
              <a:rPr lang="en-US" altLang="zh-CN" sz="1400" dirty="0" err="1"/>
              <a:t>StandardMaterial</a:t>
            </a:r>
            <a:r>
              <a:rPr lang="en-US" altLang="zh-CN" sz="1400" dirty="0"/>
              <a:t>());</a:t>
            </a:r>
          </a:p>
          <a:p>
            <a:r>
              <a:rPr lang="en-US" altLang="zh-CN" sz="1400" dirty="0" err="1"/>
              <a:t>scene.onPointerDown</a:t>
            </a:r>
            <a:r>
              <a:rPr lang="en-US" altLang="zh-CN" sz="1400" dirty="0"/>
              <a:t> = (pointer) =&gt; {</a:t>
            </a:r>
          </a:p>
          <a:p>
            <a:r>
              <a:rPr lang="en-US" altLang="zh-CN" sz="1400" dirty="0"/>
              <a:t>  let </a:t>
            </a:r>
            <a:r>
              <a:rPr lang="en-US" altLang="zh-CN" sz="1400" dirty="0" err="1"/>
              <a:t>boxTransition</a:t>
            </a:r>
            <a:r>
              <a:rPr lang="en-US" altLang="zh-CN" sz="1400" dirty="0"/>
              <a:t> = </a:t>
            </a:r>
            <a:r>
              <a:rPr lang="en-US" altLang="zh-CN" sz="1400" dirty="0" err="1"/>
              <a:t>box.transition</a:t>
            </a:r>
            <a:r>
              <a:rPr lang="en-US" altLang="zh-CN" sz="1400" dirty="0"/>
              <a:t>().tween((</a:t>
            </a:r>
            <a:r>
              <a:rPr lang="en-US" altLang="zh-CN" sz="1400" dirty="0" err="1"/>
              <a:t>d,n,i</a:t>
            </a:r>
            <a:r>
              <a:rPr lang="en-US" altLang="zh-CN" sz="1400" dirty="0"/>
              <a:t>) =&gt; {</a:t>
            </a:r>
          </a:p>
          <a:p>
            <a:r>
              <a:rPr lang="en-US" altLang="zh-CN" sz="1400" dirty="0"/>
              <a:t>    // Initialize interpolating variables</a:t>
            </a:r>
          </a:p>
          <a:p>
            <a:r>
              <a:rPr lang="en-US" altLang="zh-CN" sz="1400" dirty="0"/>
              <a:t>    let interpolator = d3.interpolate(</a:t>
            </a:r>
            <a:r>
              <a:rPr lang="en-US" altLang="zh-CN" sz="1400" dirty="0" err="1"/>
              <a:t>n.position.x</a:t>
            </a:r>
            <a:r>
              <a:rPr lang="en-US" altLang="zh-CN" sz="1400" dirty="0"/>
              <a:t>, (</a:t>
            </a:r>
            <a:r>
              <a:rPr lang="en-US" altLang="zh-CN" sz="1400" dirty="0" err="1"/>
              <a:t>Math.random</a:t>
            </a:r>
            <a:r>
              <a:rPr lang="en-US" altLang="zh-CN" sz="1400" dirty="0"/>
              <a:t>() - 0.5) * 10)</a:t>
            </a:r>
          </a:p>
          <a:p>
            <a:r>
              <a:rPr lang="en-US" altLang="zh-CN" sz="1400" dirty="0"/>
              <a:t>    let </a:t>
            </a:r>
            <a:r>
              <a:rPr lang="en-US" altLang="zh-CN" sz="1400" dirty="0" err="1"/>
              <a:t>startColor</a:t>
            </a:r>
            <a:r>
              <a:rPr lang="en-US" altLang="zh-CN" sz="1400" dirty="0"/>
              <a:t> = </a:t>
            </a:r>
            <a:r>
              <a:rPr lang="en-US" altLang="zh-CN" sz="1400" dirty="0" err="1"/>
              <a:t>n.material.diffuseColor</a:t>
            </a:r>
            <a:r>
              <a:rPr lang="en-US" altLang="zh-CN" sz="1400" dirty="0"/>
              <a:t>;</a:t>
            </a:r>
          </a:p>
          <a:p>
            <a:r>
              <a:rPr lang="en-US" altLang="zh-CN" sz="1400" dirty="0"/>
              <a:t>    let </a:t>
            </a:r>
            <a:r>
              <a:rPr lang="en-US" altLang="zh-CN" sz="1400" dirty="0" err="1"/>
              <a:t>endColor</a:t>
            </a:r>
            <a:r>
              <a:rPr lang="en-US" altLang="zh-CN" sz="1400" dirty="0"/>
              <a:t> = Color3.Random();</a:t>
            </a:r>
          </a:p>
          <a:p>
            <a:r>
              <a:rPr lang="en-US" altLang="zh-CN" sz="1400" dirty="0"/>
              <a:t>    // Return a function which will set Mesh properties every tick using our interpolating variables</a:t>
            </a:r>
          </a:p>
          <a:p>
            <a:r>
              <a:rPr lang="en-US" altLang="zh-CN" sz="1400" dirty="0"/>
              <a:t>    return (t) =&gt; {</a:t>
            </a:r>
          </a:p>
          <a:p>
            <a:r>
              <a:rPr lang="en-US" altLang="zh-CN" sz="1400" dirty="0"/>
              <a:t>      </a:t>
            </a:r>
            <a:r>
              <a:rPr lang="en-US" altLang="zh-CN" sz="1400" dirty="0" err="1"/>
              <a:t>n.position.x</a:t>
            </a:r>
            <a:r>
              <a:rPr lang="en-US" altLang="zh-CN" sz="1400" dirty="0"/>
              <a:t> = interpolator(t);</a:t>
            </a:r>
          </a:p>
          <a:p>
            <a:r>
              <a:rPr lang="en-US" altLang="zh-CN" sz="1400" dirty="0"/>
              <a:t>      </a:t>
            </a:r>
            <a:r>
              <a:rPr lang="en-US" altLang="zh-CN" sz="1400" dirty="0" err="1"/>
              <a:t>n.material.diffuseColor</a:t>
            </a:r>
            <a:r>
              <a:rPr lang="en-US" altLang="zh-CN" sz="1400" dirty="0"/>
              <a:t> = Color3.Lerp(</a:t>
            </a:r>
            <a:r>
              <a:rPr lang="en-US" altLang="zh-CN" sz="1400" dirty="0" err="1"/>
              <a:t>startColor</a:t>
            </a:r>
            <a:r>
              <a:rPr lang="en-US" altLang="zh-CN" sz="1400" dirty="0"/>
              <a:t>, </a:t>
            </a:r>
            <a:r>
              <a:rPr lang="en-US" altLang="zh-CN" sz="1400" dirty="0" err="1"/>
              <a:t>endColor</a:t>
            </a:r>
            <a:r>
              <a:rPr lang="en-US" altLang="zh-CN" sz="1400" dirty="0"/>
              <a:t>, t);</a:t>
            </a:r>
          </a:p>
          <a:p>
            <a:r>
              <a:rPr lang="en-US" altLang="zh-CN" sz="1400" dirty="0"/>
              <a:t>    };</a:t>
            </a:r>
          </a:p>
          <a:p>
            <a:r>
              <a:rPr lang="en-US" altLang="zh-CN" sz="1400" dirty="0"/>
              <a:t>  });</a:t>
            </a:r>
          </a:p>
          <a:p>
            <a:r>
              <a:rPr lang="en-US" altLang="zh-CN" sz="1400" dirty="0"/>
              <a:t>}</a:t>
            </a:r>
          </a:p>
        </p:txBody>
      </p:sp>
    </p:spTree>
    <p:extLst>
      <p:ext uri="{BB962C8B-B14F-4D97-AF65-F5344CB8AC3E}">
        <p14:creationId xmlns:p14="http://schemas.microsoft.com/office/powerpoint/2010/main" val="19842080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8B349-4604-A6C3-195A-D2B8D670900B}"/>
            </a:ext>
          </a:extLst>
        </p:cNvPr>
        <p:cNvGrpSpPr/>
        <p:nvPr/>
      </p:nvGrpSpPr>
      <p:grpSpPr>
        <a:xfrm>
          <a:off x="0" y="0"/>
          <a:ext cx="0" cy="0"/>
          <a:chOff x="0" y="0"/>
          <a:chExt cx="0" cy="0"/>
        </a:xfrm>
      </p:grpSpPr>
      <p:sp>
        <p:nvSpPr>
          <p:cNvPr id="12290" name="标题 1">
            <a:extLst>
              <a:ext uri="{FF2B5EF4-FFF2-40B4-BE49-F238E27FC236}">
                <a16:creationId xmlns:a16="http://schemas.microsoft.com/office/drawing/2014/main" id="{B417E10D-F89F-FB63-F497-A429F9611602}"/>
              </a:ext>
            </a:extLst>
          </p:cNvPr>
          <p:cNvSpPr>
            <a:spLocks noGrp="1" noChangeArrowheads="1"/>
          </p:cNvSpPr>
          <p:nvPr>
            <p:ph type="title"/>
          </p:nvPr>
        </p:nvSpPr>
        <p:spPr>
          <a:xfrm>
            <a:off x="1251678" y="382385"/>
            <a:ext cx="10178322" cy="674890"/>
          </a:xfrm>
        </p:spPr>
        <p:txBody>
          <a:bodyPr>
            <a:normAutofit/>
          </a:bodyPr>
          <a:lstStyle/>
          <a:p>
            <a:r>
              <a:rPr lang="zh-CN" altLang="en-US" sz="3200" b="1" dirty="0">
                <a:solidFill>
                  <a:schemeClr val="tx1">
                    <a:lumMod val="65000"/>
                    <a:lumOff val="35000"/>
                  </a:schemeClr>
                </a:solidFill>
                <a:latin typeface="+mn-lt"/>
                <a:ea typeface="+mn-ea"/>
                <a:cs typeface="+mn-cs"/>
              </a:rPr>
              <a:t>用于</a:t>
            </a:r>
            <a:r>
              <a:rPr lang="en-US" altLang="zh-CN" sz="3200" b="1" dirty="0">
                <a:solidFill>
                  <a:schemeClr val="tx1">
                    <a:lumMod val="65000"/>
                    <a:lumOff val="35000"/>
                  </a:schemeClr>
                </a:solidFill>
                <a:latin typeface="+mn-lt"/>
                <a:ea typeface="+mn-ea"/>
                <a:cs typeface="+mn-cs"/>
              </a:rPr>
              <a:t>Mesh</a:t>
            </a:r>
            <a:r>
              <a:rPr lang="zh-CN" altLang="en-US" sz="3200" b="1" dirty="0">
                <a:solidFill>
                  <a:schemeClr val="tx1">
                    <a:lumMod val="65000"/>
                    <a:lumOff val="35000"/>
                  </a:schemeClr>
                </a:solidFill>
                <a:latin typeface="+mn-lt"/>
                <a:ea typeface="+mn-ea"/>
                <a:cs typeface="+mn-cs"/>
              </a:rPr>
              <a:t>更新的</a:t>
            </a:r>
            <a:r>
              <a:rPr lang="en-US" altLang="zh-CN" sz="3200" b="1" dirty="0">
                <a:solidFill>
                  <a:schemeClr val="tx1">
                    <a:lumMod val="65000"/>
                    <a:lumOff val="35000"/>
                  </a:schemeClr>
                </a:solidFill>
                <a:latin typeface="+mn-lt"/>
                <a:ea typeface="+mn-ea"/>
                <a:cs typeface="+mn-cs"/>
              </a:rPr>
              <a:t>Tween</a:t>
            </a:r>
            <a:endParaRPr lang="zh-CN" altLang="en-US" sz="3200" b="1" dirty="0">
              <a:solidFill>
                <a:schemeClr val="tx1">
                  <a:lumMod val="65000"/>
                  <a:lumOff val="35000"/>
                </a:schemeClr>
              </a:solidFill>
              <a:latin typeface="+mn-lt"/>
              <a:ea typeface="+mn-ea"/>
              <a:cs typeface="+mn-cs"/>
            </a:endParaRPr>
          </a:p>
        </p:txBody>
      </p:sp>
      <p:sp>
        <p:nvSpPr>
          <p:cNvPr id="6" name="内容占位符 2">
            <a:extLst>
              <a:ext uri="{FF2B5EF4-FFF2-40B4-BE49-F238E27FC236}">
                <a16:creationId xmlns:a16="http://schemas.microsoft.com/office/drawing/2014/main" id="{A81F0A3F-B232-BEC9-2104-EBD6E900AA82}"/>
              </a:ext>
            </a:extLst>
          </p:cNvPr>
          <p:cNvSpPr>
            <a:spLocks noGrp="1" noChangeArrowheads="1"/>
          </p:cNvSpPr>
          <p:nvPr>
            <p:ph idx="1"/>
          </p:nvPr>
        </p:nvSpPr>
        <p:spPr>
          <a:xfrm>
            <a:off x="1183370" y="1237307"/>
            <a:ext cx="10178322" cy="877243"/>
          </a:xfrm>
        </p:spPr>
        <p:txBody>
          <a:bodyPr>
            <a:normAutofit/>
          </a:bodyPr>
          <a:lstStyle/>
          <a:p>
            <a:pPr marL="0" indent="0">
              <a:buNone/>
            </a:pPr>
            <a:r>
              <a:rPr lang="en-US" altLang="zh-CN" dirty="0"/>
              <a:t>Tween </a:t>
            </a:r>
            <a:r>
              <a:rPr lang="zh-CN" altLang="en-US" dirty="0"/>
              <a:t>特别适用于更新参数化 </a:t>
            </a:r>
            <a:r>
              <a:rPr lang="en-US" altLang="zh-CN" dirty="0"/>
              <a:t>Mesh </a:t>
            </a:r>
            <a:r>
              <a:rPr lang="zh-CN" altLang="en-US" dirty="0"/>
              <a:t>类型（如线条 </a:t>
            </a:r>
            <a:r>
              <a:rPr lang="en-US" altLang="zh-CN" dirty="0"/>
              <a:t>Mesh</a:t>
            </a:r>
            <a:r>
              <a:rPr lang="zh-CN" altLang="en-US" dirty="0"/>
              <a:t>）。这些 </a:t>
            </a:r>
            <a:r>
              <a:rPr lang="en-US" altLang="zh-CN" dirty="0"/>
              <a:t>Mesh </a:t>
            </a:r>
            <a:r>
              <a:rPr lang="zh-CN" altLang="en-US" dirty="0"/>
              <a:t>类型需要生成一个新的 </a:t>
            </a:r>
            <a:r>
              <a:rPr lang="en-US" altLang="zh-CN" dirty="0"/>
              <a:t>Mesh</a:t>
            </a:r>
            <a:r>
              <a:rPr lang="zh-CN" altLang="en-US" dirty="0"/>
              <a:t>，并将之前的 </a:t>
            </a:r>
            <a:r>
              <a:rPr lang="en-US" altLang="zh-CN" dirty="0"/>
              <a:t>Mesh </a:t>
            </a:r>
            <a:r>
              <a:rPr lang="zh-CN" altLang="en-US" dirty="0"/>
              <a:t>传入以进行替换。一个典型例子是线条 </a:t>
            </a:r>
            <a:r>
              <a:rPr lang="en-US" altLang="zh-CN" dirty="0"/>
              <a:t>Mesh</a:t>
            </a:r>
            <a:r>
              <a:rPr lang="zh-CN" altLang="en-US" dirty="0"/>
              <a:t>。</a:t>
            </a:r>
            <a:endParaRPr lang="zh-CN" altLang="en-US" sz="1800" dirty="0"/>
          </a:p>
        </p:txBody>
      </p:sp>
      <p:sp>
        <p:nvSpPr>
          <p:cNvPr id="9" name="矩形 8">
            <a:extLst>
              <a:ext uri="{FF2B5EF4-FFF2-40B4-BE49-F238E27FC236}">
                <a16:creationId xmlns:a16="http://schemas.microsoft.com/office/drawing/2014/main" id="{5F4BC71F-087A-8C3C-C174-6C7559C3EAD7}"/>
              </a:ext>
            </a:extLst>
          </p:cNvPr>
          <p:cNvSpPr/>
          <p:nvPr/>
        </p:nvSpPr>
        <p:spPr>
          <a:xfrm>
            <a:off x="1146903" y="2114550"/>
            <a:ext cx="4949097" cy="4401205"/>
          </a:xfrm>
          <a:prstGeom prst="rect">
            <a:avLst/>
          </a:prstGeom>
          <a:solidFill>
            <a:schemeClr val="bg1">
              <a:lumMod val="85000"/>
            </a:schemeClr>
          </a:solidFill>
        </p:spPr>
        <p:txBody>
          <a:bodyPr wrap="square">
            <a:spAutoFit/>
          </a:bodyPr>
          <a:lstStyle/>
          <a:p>
            <a:r>
              <a:rPr lang="en-US" altLang="zh-CN" sz="1400" dirty="0"/>
              <a:t>// Create initial lines</a:t>
            </a:r>
          </a:p>
          <a:p>
            <a:r>
              <a:rPr lang="en-US" altLang="zh-CN" sz="1400" dirty="0"/>
              <a:t>let </a:t>
            </a:r>
            <a:r>
              <a:rPr lang="en-US" altLang="zh-CN" sz="1400" dirty="0" err="1"/>
              <a:t>startPoints</a:t>
            </a:r>
            <a:r>
              <a:rPr lang="en-US" altLang="zh-CN" sz="1400" dirty="0"/>
              <a:t> = [</a:t>
            </a:r>
          </a:p>
          <a:p>
            <a:r>
              <a:rPr lang="en-US" altLang="zh-CN" sz="1400" dirty="0"/>
              <a:t>  Vector3.Random(-5, 5),Vector3.Random(-5, 5),</a:t>
            </a:r>
          </a:p>
          <a:p>
            <a:r>
              <a:rPr lang="en-US" altLang="zh-CN" sz="1400" dirty="0"/>
              <a:t>  Vector3.Random(-5, 5),Vector3.Random(-5, 5),</a:t>
            </a:r>
          </a:p>
          <a:p>
            <a:r>
              <a:rPr lang="en-US" altLang="zh-CN" sz="1400" dirty="0"/>
              <a:t>  Vector3.Random(-5, 5),</a:t>
            </a:r>
          </a:p>
          <a:p>
            <a:r>
              <a:rPr lang="en-US" altLang="zh-CN" sz="1400" dirty="0"/>
              <a:t>]</a:t>
            </a:r>
          </a:p>
          <a:p>
            <a:endParaRPr lang="en-US" altLang="zh-CN" sz="1400" dirty="0"/>
          </a:p>
          <a:p>
            <a:r>
              <a:rPr lang="en-US" altLang="zh-CN" sz="1400" dirty="0"/>
              <a:t>let line = </a:t>
            </a:r>
            <a:r>
              <a:rPr lang="en-US" altLang="zh-CN" sz="1400" dirty="0" err="1"/>
              <a:t>anu.bind</a:t>
            </a:r>
            <a:r>
              <a:rPr lang="en-US" altLang="zh-CN" sz="1400" dirty="0"/>
              <a:t>('lines', {points: </a:t>
            </a:r>
            <a:r>
              <a:rPr lang="en-US" altLang="zh-CN" sz="1400" dirty="0" err="1"/>
              <a:t>startPoints</a:t>
            </a:r>
            <a:r>
              <a:rPr lang="en-US" altLang="zh-CN" sz="1400" dirty="0"/>
              <a:t>, updatable: true}, [</a:t>
            </a:r>
            <a:r>
              <a:rPr lang="en-US" altLang="zh-CN" sz="1400" dirty="0" err="1"/>
              <a:t>startPoints</a:t>
            </a:r>
            <a:r>
              <a:rPr lang="en-US" altLang="zh-CN" sz="1400" dirty="0"/>
              <a:t>], scene)</a:t>
            </a:r>
          </a:p>
          <a:p>
            <a:endParaRPr lang="en-US" altLang="zh-CN" sz="1400" dirty="0"/>
          </a:p>
          <a:p>
            <a:r>
              <a:rPr lang="en-US" altLang="zh-CN" sz="1400" dirty="0" err="1"/>
              <a:t>scene.onPointerDown</a:t>
            </a:r>
            <a:r>
              <a:rPr lang="en-US" altLang="zh-CN" sz="1400" dirty="0"/>
              <a:t> = (pointer) =&gt; {</a:t>
            </a:r>
          </a:p>
          <a:p>
            <a:r>
              <a:rPr lang="en-US" altLang="zh-CN" sz="1400" dirty="0"/>
              <a:t>  var </a:t>
            </a:r>
            <a:r>
              <a:rPr lang="en-US" altLang="zh-CN" sz="1400" dirty="0" err="1"/>
              <a:t>line_transition</a:t>
            </a:r>
            <a:r>
              <a:rPr lang="en-US" altLang="zh-CN" sz="1400" dirty="0"/>
              <a:t> = </a:t>
            </a:r>
            <a:r>
              <a:rPr lang="en-US" altLang="zh-CN" sz="1400" dirty="0" err="1"/>
              <a:t>line.transition</a:t>
            </a:r>
            <a:r>
              <a:rPr lang="en-US" altLang="zh-CN" sz="1400" dirty="0"/>
              <a:t>({ duration: 500 }).tween((</a:t>
            </a:r>
            <a:r>
              <a:rPr lang="en-US" altLang="zh-CN" sz="1400" dirty="0" err="1"/>
              <a:t>d,n,i</a:t>
            </a:r>
            <a:r>
              <a:rPr lang="en-US" altLang="zh-CN" sz="1400" dirty="0"/>
              <a:t>) =&gt; {</a:t>
            </a:r>
          </a:p>
          <a:p>
            <a:r>
              <a:rPr lang="en-US" altLang="zh-CN" sz="1400" dirty="0"/>
              <a:t>    // Generate end points for the animation</a:t>
            </a:r>
          </a:p>
          <a:p>
            <a:r>
              <a:rPr lang="en-US" altLang="zh-CN" sz="1400" dirty="0"/>
              <a:t>    let </a:t>
            </a:r>
            <a:r>
              <a:rPr lang="en-US" altLang="zh-CN" sz="1400" dirty="0" err="1"/>
              <a:t>endPoints</a:t>
            </a:r>
            <a:r>
              <a:rPr lang="en-US" altLang="zh-CN" sz="1400" dirty="0"/>
              <a:t> = [</a:t>
            </a:r>
          </a:p>
          <a:p>
            <a:r>
              <a:rPr lang="en-US" altLang="zh-CN" sz="1400" dirty="0"/>
              <a:t>      Vector3.Random(-5, 5), Vector3.Random(-5, 5),</a:t>
            </a:r>
          </a:p>
          <a:p>
            <a:r>
              <a:rPr lang="en-US" altLang="zh-CN" sz="1400" dirty="0"/>
              <a:t>      Vector3.Random(-5, 5),Vector3.Random(-5, 5),</a:t>
            </a:r>
          </a:p>
          <a:p>
            <a:r>
              <a:rPr lang="en-US" altLang="zh-CN" sz="1400" dirty="0"/>
              <a:t>      Vector3.Random(-5, 5),</a:t>
            </a:r>
          </a:p>
          <a:p>
            <a:r>
              <a:rPr lang="en-US" altLang="zh-CN" sz="1400" dirty="0"/>
              <a:t>    ];</a:t>
            </a:r>
          </a:p>
          <a:p>
            <a:r>
              <a:rPr lang="en-US" altLang="zh-CN" sz="1400" dirty="0"/>
              <a:t>//</a:t>
            </a:r>
            <a:r>
              <a:rPr lang="zh-CN" altLang="en-US" sz="1400" dirty="0"/>
              <a:t>续右边代码</a:t>
            </a:r>
            <a:endParaRPr lang="en-US" altLang="zh-CN" sz="1400" dirty="0"/>
          </a:p>
        </p:txBody>
      </p:sp>
      <p:sp>
        <p:nvSpPr>
          <p:cNvPr id="2" name="矩形 1">
            <a:extLst>
              <a:ext uri="{FF2B5EF4-FFF2-40B4-BE49-F238E27FC236}">
                <a16:creationId xmlns:a16="http://schemas.microsoft.com/office/drawing/2014/main" id="{4B195A40-EFA9-3FB1-8FAB-DE9E199EC1E7}"/>
              </a:ext>
            </a:extLst>
          </p:cNvPr>
          <p:cNvSpPr/>
          <p:nvPr/>
        </p:nvSpPr>
        <p:spPr>
          <a:xfrm>
            <a:off x="6412595" y="2114550"/>
            <a:ext cx="4949097" cy="3108543"/>
          </a:xfrm>
          <a:prstGeom prst="rect">
            <a:avLst/>
          </a:prstGeom>
          <a:solidFill>
            <a:schemeClr val="bg1">
              <a:lumMod val="85000"/>
            </a:schemeClr>
          </a:solidFill>
        </p:spPr>
        <p:txBody>
          <a:bodyPr wrap="square">
            <a:spAutoFit/>
          </a:bodyPr>
          <a:lstStyle/>
          <a:p>
            <a:r>
              <a:rPr lang="en-US" altLang="zh-CN" sz="1400" dirty="0"/>
              <a:t>let interpolator = </a:t>
            </a:r>
            <a:r>
              <a:rPr lang="en-US" altLang="zh-CN" sz="1400" dirty="0" err="1"/>
              <a:t>interpolateArray</a:t>
            </a:r>
            <a:r>
              <a:rPr lang="en-US" altLang="zh-CN" sz="1400" dirty="0"/>
              <a:t>(</a:t>
            </a:r>
            <a:r>
              <a:rPr lang="en-US" altLang="zh-CN" sz="1400" dirty="0" err="1"/>
              <a:t>startPoints</a:t>
            </a:r>
            <a:r>
              <a:rPr lang="en-US" altLang="zh-CN" sz="1400" dirty="0"/>
              <a:t>, </a:t>
            </a:r>
            <a:r>
              <a:rPr lang="en-US" altLang="zh-CN" sz="1400" dirty="0" err="1"/>
              <a:t>endPoints</a:t>
            </a:r>
            <a:r>
              <a:rPr lang="en-US" altLang="zh-CN" sz="1400" dirty="0"/>
              <a:t>);</a:t>
            </a:r>
          </a:p>
          <a:p>
            <a:r>
              <a:rPr lang="en-US" altLang="zh-CN" sz="1400" dirty="0"/>
              <a:t>    </a:t>
            </a:r>
          </a:p>
          <a:p>
            <a:r>
              <a:rPr lang="en-US" altLang="zh-CN" sz="1400" dirty="0"/>
              <a:t>    // Update reference so that next transition we have the proper start points</a:t>
            </a:r>
          </a:p>
          <a:p>
            <a:r>
              <a:rPr lang="en-US" altLang="zh-CN" sz="1400" dirty="0"/>
              <a:t>    </a:t>
            </a:r>
            <a:r>
              <a:rPr lang="en-US" altLang="zh-CN" sz="1400" dirty="0" err="1"/>
              <a:t>startPoints</a:t>
            </a:r>
            <a:r>
              <a:rPr lang="en-US" altLang="zh-CN" sz="1400" dirty="0"/>
              <a:t> = </a:t>
            </a:r>
            <a:r>
              <a:rPr lang="en-US" altLang="zh-CN" sz="1400" dirty="0" err="1"/>
              <a:t>endPoints</a:t>
            </a:r>
            <a:r>
              <a:rPr lang="en-US" altLang="zh-CN" sz="1400" dirty="0"/>
              <a:t>;</a:t>
            </a:r>
          </a:p>
          <a:p>
            <a:endParaRPr lang="en-US" altLang="zh-CN" sz="1400" dirty="0"/>
          </a:p>
          <a:p>
            <a:r>
              <a:rPr lang="en-US" altLang="zh-CN" sz="1400" dirty="0"/>
              <a:t>    return (t) =&gt; {</a:t>
            </a:r>
          </a:p>
          <a:p>
            <a:r>
              <a:rPr lang="en-US" altLang="zh-CN" sz="1400" dirty="0"/>
              <a:t>      let points = interpolator(t).map((v) =&gt; new Vector3(</a:t>
            </a:r>
            <a:r>
              <a:rPr lang="en-US" altLang="zh-CN" sz="1400" dirty="0" err="1"/>
              <a:t>v._x</a:t>
            </a:r>
            <a:r>
              <a:rPr lang="en-US" altLang="zh-CN" sz="1400" dirty="0"/>
              <a:t>, </a:t>
            </a:r>
            <a:r>
              <a:rPr lang="en-US" altLang="zh-CN" sz="1400" dirty="0" err="1"/>
              <a:t>v._y</a:t>
            </a:r>
            <a:r>
              <a:rPr lang="en-US" altLang="zh-CN" sz="1400" dirty="0"/>
              <a:t>, </a:t>
            </a:r>
            <a:r>
              <a:rPr lang="en-US" altLang="zh-CN" sz="1400" dirty="0" err="1"/>
              <a:t>v._z</a:t>
            </a:r>
            <a:r>
              <a:rPr lang="en-US" altLang="zh-CN" sz="1400" dirty="0"/>
              <a:t>));</a:t>
            </a:r>
          </a:p>
          <a:p>
            <a:r>
              <a:rPr lang="en-US" altLang="zh-CN" sz="1400" dirty="0"/>
              <a:t>      </a:t>
            </a:r>
            <a:r>
              <a:rPr lang="en-US" altLang="zh-CN" sz="1400" dirty="0" err="1"/>
              <a:t>anu.create</a:t>
            </a:r>
            <a:r>
              <a:rPr lang="en-US" altLang="zh-CN" sz="1400" dirty="0"/>
              <a:t>("lines", "lines", { points: points, updatable: true, instance: n }, [points], scene);  // Pass in instance: n</a:t>
            </a:r>
          </a:p>
          <a:p>
            <a:r>
              <a:rPr lang="en-US" altLang="zh-CN" sz="1400" dirty="0"/>
              <a:t>    };</a:t>
            </a:r>
          </a:p>
          <a:p>
            <a:r>
              <a:rPr lang="en-US" altLang="zh-CN" sz="1400" dirty="0"/>
              <a:t>  })</a:t>
            </a:r>
          </a:p>
          <a:p>
            <a:r>
              <a:rPr lang="en-US" altLang="zh-CN" sz="1400" dirty="0"/>
              <a:t>}</a:t>
            </a:r>
          </a:p>
        </p:txBody>
      </p:sp>
      <p:pic>
        <p:nvPicPr>
          <p:cNvPr id="5" name="图片 4">
            <a:extLst>
              <a:ext uri="{FF2B5EF4-FFF2-40B4-BE49-F238E27FC236}">
                <a16:creationId xmlns:a16="http://schemas.microsoft.com/office/drawing/2014/main" id="{A8476BEE-F222-C88C-35C4-E0E95C2BC75B}"/>
              </a:ext>
            </a:extLst>
          </p:cNvPr>
          <p:cNvPicPr>
            <a:picLocks noChangeAspect="1"/>
          </p:cNvPicPr>
          <p:nvPr/>
        </p:nvPicPr>
        <p:blipFill>
          <a:blip r:embed="rId2"/>
          <a:stretch>
            <a:fillRect/>
          </a:stretch>
        </p:blipFill>
        <p:spPr>
          <a:xfrm>
            <a:off x="7658100" y="5001280"/>
            <a:ext cx="1870047" cy="1514475"/>
          </a:xfrm>
          <a:prstGeom prst="rect">
            <a:avLst/>
          </a:prstGeom>
        </p:spPr>
      </p:pic>
    </p:spTree>
    <p:extLst>
      <p:ext uri="{BB962C8B-B14F-4D97-AF65-F5344CB8AC3E}">
        <p14:creationId xmlns:p14="http://schemas.microsoft.com/office/powerpoint/2010/main" val="4531462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0FED9-FB4D-17AF-66F9-74D72B35BB05}"/>
            </a:ext>
          </a:extLst>
        </p:cNvPr>
        <p:cNvGrpSpPr/>
        <p:nvPr/>
      </p:nvGrpSpPr>
      <p:grpSpPr>
        <a:xfrm>
          <a:off x="0" y="0"/>
          <a:ext cx="0" cy="0"/>
          <a:chOff x="0" y="0"/>
          <a:chExt cx="0" cy="0"/>
        </a:xfrm>
      </p:grpSpPr>
      <p:sp>
        <p:nvSpPr>
          <p:cNvPr id="12290" name="标题 1">
            <a:extLst>
              <a:ext uri="{FF2B5EF4-FFF2-40B4-BE49-F238E27FC236}">
                <a16:creationId xmlns:a16="http://schemas.microsoft.com/office/drawing/2014/main" id="{8E565A61-7477-590D-2376-00745AEFE87A}"/>
              </a:ext>
            </a:extLst>
          </p:cNvPr>
          <p:cNvSpPr>
            <a:spLocks noGrp="1" noChangeArrowheads="1"/>
          </p:cNvSpPr>
          <p:nvPr>
            <p:ph type="title"/>
          </p:nvPr>
        </p:nvSpPr>
        <p:spPr>
          <a:xfrm>
            <a:off x="1251678" y="382385"/>
            <a:ext cx="10178322" cy="674890"/>
          </a:xfrm>
        </p:spPr>
        <p:txBody>
          <a:bodyPr>
            <a:normAutofit fontScale="90000"/>
          </a:bodyPr>
          <a:lstStyle/>
          <a:p>
            <a:r>
              <a:rPr lang="zh-CN" altLang="en-US" dirty="0">
                <a:latin typeface="华文中宋" panose="02010600040101010101" pitchFamily="2" charset="-122"/>
                <a:ea typeface="华文中宋" panose="02010600040101010101" pitchFamily="2" charset="-122"/>
              </a:rPr>
              <a:t>交互（</a:t>
            </a:r>
            <a:r>
              <a:rPr lang="en-US" altLang="zh-CN" dirty="0">
                <a:latin typeface="华文中宋" panose="02010600040101010101" pitchFamily="2" charset="-122"/>
                <a:ea typeface="华文中宋" panose="02010600040101010101" pitchFamily="2" charset="-122"/>
              </a:rPr>
              <a:t>Interactions</a:t>
            </a:r>
            <a:r>
              <a:rPr lang="zh-CN" altLang="en-US" dirty="0">
                <a:latin typeface="华文中宋" panose="02010600040101010101" pitchFamily="2" charset="-122"/>
                <a:ea typeface="华文中宋" panose="02010600040101010101" pitchFamily="2" charset="-122"/>
              </a:rPr>
              <a:t>）</a:t>
            </a:r>
            <a:endParaRPr lang="zh-CN" altLang="en-US" b="1" dirty="0">
              <a:latin typeface="华文中宋" panose="02010600040101010101" pitchFamily="2" charset="-122"/>
              <a:ea typeface="华文中宋" panose="02010600040101010101" pitchFamily="2" charset="-122"/>
            </a:endParaRPr>
          </a:p>
        </p:txBody>
      </p:sp>
      <p:sp>
        <p:nvSpPr>
          <p:cNvPr id="6" name="内容占位符 2">
            <a:extLst>
              <a:ext uri="{FF2B5EF4-FFF2-40B4-BE49-F238E27FC236}">
                <a16:creationId xmlns:a16="http://schemas.microsoft.com/office/drawing/2014/main" id="{B724BA85-C538-3465-0CC9-77DCEC16A388}"/>
              </a:ext>
            </a:extLst>
          </p:cNvPr>
          <p:cNvSpPr>
            <a:spLocks noGrp="1" noChangeArrowheads="1"/>
          </p:cNvSpPr>
          <p:nvPr>
            <p:ph idx="1"/>
          </p:nvPr>
        </p:nvSpPr>
        <p:spPr>
          <a:xfrm>
            <a:off x="1116695" y="1456382"/>
            <a:ext cx="10178322" cy="1210618"/>
          </a:xfrm>
        </p:spPr>
        <p:txBody>
          <a:bodyPr>
            <a:normAutofit/>
          </a:bodyPr>
          <a:lstStyle/>
          <a:p>
            <a:pPr marL="0" indent="0">
              <a:buNone/>
            </a:pPr>
            <a:r>
              <a:rPr lang="zh-CN" altLang="en-US" dirty="0"/>
              <a:t>在 </a:t>
            </a:r>
            <a:r>
              <a:rPr lang="en-US" altLang="zh-CN" dirty="0"/>
              <a:t>Babylon.js </a:t>
            </a:r>
            <a:r>
              <a:rPr lang="zh-CN" altLang="en-US" dirty="0"/>
              <a:t>中，为场景添加交互主要有三种技术：</a:t>
            </a:r>
            <a:r>
              <a:rPr lang="en-US" altLang="zh-CN" b="1" dirty="0"/>
              <a:t>Scene Pointer Observables</a:t>
            </a:r>
            <a:r>
              <a:rPr lang="zh-CN" altLang="en-US" dirty="0"/>
              <a:t>（场景指针可观察对象）、</a:t>
            </a:r>
            <a:r>
              <a:rPr lang="en-US" altLang="zh-CN" b="1" dirty="0"/>
              <a:t>Actions</a:t>
            </a:r>
            <a:r>
              <a:rPr lang="zh-CN" altLang="en-US" dirty="0"/>
              <a:t>（动作）、和 </a:t>
            </a:r>
            <a:r>
              <a:rPr lang="en-US" altLang="zh-CN" b="1" dirty="0"/>
              <a:t>Behaviors</a:t>
            </a:r>
            <a:r>
              <a:rPr lang="zh-CN" altLang="en-US" dirty="0"/>
              <a:t>（行为）。使用 </a:t>
            </a:r>
            <a:r>
              <a:rPr lang="en-US" altLang="zh-CN" dirty="0"/>
              <a:t>Anu.js </a:t>
            </a:r>
            <a:r>
              <a:rPr lang="zh-CN" altLang="en-US" dirty="0"/>
              <a:t>时，我们可以用这些技术实现基本交互。</a:t>
            </a:r>
            <a:endParaRPr lang="zh-CN" altLang="en-US" sz="1800" dirty="0"/>
          </a:p>
        </p:txBody>
      </p:sp>
      <p:sp>
        <p:nvSpPr>
          <p:cNvPr id="3" name="文本框 2">
            <a:extLst>
              <a:ext uri="{FF2B5EF4-FFF2-40B4-BE49-F238E27FC236}">
                <a16:creationId xmlns:a16="http://schemas.microsoft.com/office/drawing/2014/main" id="{BE272BC8-CA98-46CA-1FFF-FFB67516D166}"/>
              </a:ext>
            </a:extLst>
          </p:cNvPr>
          <p:cNvSpPr txBox="1"/>
          <p:nvPr/>
        </p:nvSpPr>
        <p:spPr>
          <a:xfrm>
            <a:off x="1251678" y="2881441"/>
            <a:ext cx="6096000" cy="2031325"/>
          </a:xfrm>
          <a:prstGeom prst="rect">
            <a:avLst/>
          </a:prstGeom>
          <a:noFill/>
        </p:spPr>
        <p:txBody>
          <a:bodyPr wrap="square">
            <a:spAutoFit/>
          </a:bodyPr>
          <a:lstStyle/>
          <a:p>
            <a:r>
              <a:rPr lang="en-US" altLang="zh-CN" dirty="0"/>
              <a:t>1.</a:t>
            </a:r>
            <a:r>
              <a:rPr lang="zh-CN" altLang="en-US" dirty="0"/>
              <a:t>场景可观察对象（</a:t>
            </a:r>
            <a:r>
              <a:rPr lang="en-US" altLang="zh-CN" dirty="0"/>
              <a:t>Scene Observables</a:t>
            </a:r>
            <a:r>
              <a:rPr lang="zh-CN" altLang="en-US" dirty="0"/>
              <a:t>）</a:t>
            </a:r>
            <a:endParaRPr lang="en-US" altLang="zh-CN" dirty="0"/>
          </a:p>
          <a:p>
            <a:pPr marL="342900" indent="-342900">
              <a:buAutoNum type="arabicPeriod"/>
            </a:pPr>
            <a:endParaRPr lang="en-US" altLang="zh-CN" dirty="0"/>
          </a:p>
          <a:p>
            <a:r>
              <a:rPr lang="en-US" altLang="zh-CN" dirty="0"/>
              <a:t>2. </a:t>
            </a:r>
            <a:r>
              <a:rPr lang="zh-CN" altLang="en-US" dirty="0"/>
              <a:t>动作（</a:t>
            </a:r>
            <a:r>
              <a:rPr lang="en-US" altLang="zh-CN" dirty="0"/>
              <a:t>Actions</a:t>
            </a:r>
            <a:r>
              <a:rPr lang="zh-CN" altLang="en-US" dirty="0"/>
              <a:t>）</a:t>
            </a:r>
            <a:endParaRPr lang="en-US" altLang="zh-CN" dirty="0"/>
          </a:p>
          <a:p>
            <a:endParaRPr lang="en-US" altLang="zh-CN" dirty="0"/>
          </a:p>
          <a:p>
            <a:r>
              <a:rPr lang="en-US" altLang="zh-CN" dirty="0"/>
              <a:t>3. </a:t>
            </a:r>
            <a:r>
              <a:rPr lang="zh-CN" altLang="en-US" dirty="0"/>
              <a:t>行为（</a:t>
            </a:r>
            <a:r>
              <a:rPr lang="en-US" altLang="zh-CN" dirty="0"/>
              <a:t>Behaviors</a:t>
            </a:r>
            <a:r>
              <a:rPr lang="zh-CN" altLang="en-US" dirty="0"/>
              <a:t>）</a:t>
            </a:r>
            <a:endParaRPr lang="en-US" altLang="zh-CN" dirty="0"/>
          </a:p>
          <a:p>
            <a:endParaRPr lang="en-US" altLang="zh-CN" dirty="0"/>
          </a:p>
          <a:p>
            <a:r>
              <a:rPr lang="en-US" altLang="zh-CN" dirty="0"/>
              <a:t>4. </a:t>
            </a:r>
            <a:r>
              <a:rPr lang="en-US" altLang="zh-CN" dirty="0" err="1"/>
              <a:t>WebXR</a:t>
            </a:r>
            <a:r>
              <a:rPr lang="en-US" altLang="zh-CN" dirty="0"/>
              <a:t> </a:t>
            </a:r>
            <a:r>
              <a:rPr lang="zh-CN" altLang="en-US" dirty="0"/>
              <a:t>控制器（了解）</a:t>
            </a:r>
          </a:p>
        </p:txBody>
      </p:sp>
    </p:spTree>
    <p:extLst>
      <p:ext uri="{BB962C8B-B14F-4D97-AF65-F5344CB8AC3E}">
        <p14:creationId xmlns:p14="http://schemas.microsoft.com/office/powerpoint/2010/main" val="4693142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3BCAC-D4EE-7939-DD48-E4BA56EC3A7E}"/>
            </a:ext>
          </a:extLst>
        </p:cNvPr>
        <p:cNvGrpSpPr/>
        <p:nvPr/>
      </p:nvGrpSpPr>
      <p:grpSpPr>
        <a:xfrm>
          <a:off x="0" y="0"/>
          <a:ext cx="0" cy="0"/>
          <a:chOff x="0" y="0"/>
          <a:chExt cx="0" cy="0"/>
        </a:xfrm>
      </p:grpSpPr>
      <p:sp>
        <p:nvSpPr>
          <p:cNvPr id="12291" name="内容占位符 2">
            <a:extLst>
              <a:ext uri="{FF2B5EF4-FFF2-40B4-BE49-F238E27FC236}">
                <a16:creationId xmlns:a16="http://schemas.microsoft.com/office/drawing/2014/main" id="{6A493ECD-F4BB-4F40-DFCD-0A9ABA176087}"/>
              </a:ext>
            </a:extLst>
          </p:cNvPr>
          <p:cNvSpPr>
            <a:spLocks noGrp="1" noChangeArrowheads="1"/>
          </p:cNvSpPr>
          <p:nvPr>
            <p:ph idx="1"/>
          </p:nvPr>
        </p:nvSpPr>
        <p:spPr>
          <a:xfrm>
            <a:off x="1089752" y="484643"/>
            <a:ext cx="10473597" cy="3734932"/>
          </a:xfrm>
        </p:spPr>
        <p:txBody>
          <a:bodyPr>
            <a:normAutofit/>
          </a:bodyPr>
          <a:lstStyle/>
          <a:p>
            <a:pPr marL="0" indent="0">
              <a:buNone/>
            </a:pPr>
            <a:r>
              <a:rPr lang="zh-CN" altLang="en-US" sz="3200" b="1" dirty="0"/>
              <a:t>场景可观察对象（</a:t>
            </a:r>
            <a:r>
              <a:rPr lang="en-US" altLang="zh-CN" sz="3200" b="1" dirty="0"/>
              <a:t>Scene Observables</a:t>
            </a:r>
            <a:r>
              <a:rPr lang="zh-CN" altLang="en-US" sz="3200" b="1" dirty="0"/>
              <a:t>）</a:t>
            </a:r>
          </a:p>
          <a:p>
            <a:r>
              <a:rPr lang="zh-CN" altLang="en-US" dirty="0"/>
              <a:t>当我们希望监听整个场景的输入（如鼠标指针、键盘或控制器）时，可以使用 </a:t>
            </a:r>
            <a:r>
              <a:rPr lang="en-US" altLang="zh-CN" dirty="0"/>
              <a:t>Babylon </a:t>
            </a:r>
            <a:r>
              <a:rPr lang="zh-CN" altLang="en-US" dirty="0"/>
              <a:t>的场景输入可观察对象。</a:t>
            </a:r>
          </a:p>
          <a:p>
            <a:r>
              <a:rPr lang="zh-CN" altLang="en-US" dirty="0"/>
              <a:t>可用于简单交互，例如切换状态。</a:t>
            </a:r>
          </a:p>
          <a:p>
            <a:r>
              <a:rPr lang="zh-CN" altLang="en-US" dirty="0"/>
              <a:t>也可用于复杂交互，通过事件传递的信息实现自定义逻辑。</a:t>
            </a:r>
          </a:p>
          <a:p>
            <a:r>
              <a:rPr lang="zh-CN" altLang="en-US" dirty="0"/>
              <a:t>可以选择监听特定类型的事件。</a:t>
            </a:r>
          </a:p>
        </p:txBody>
      </p:sp>
      <p:sp>
        <p:nvSpPr>
          <p:cNvPr id="8" name="矩形 7">
            <a:extLst>
              <a:ext uri="{FF2B5EF4-FFF2-40B4-BE49-F238E27FC236}">
                <a16:creationId xmlns:a16="http://schemas.microsoft.com/office/drawing/2014/main" id="{031F7C72-A372-A08C-538B-A9AD52B00FF9}"/>
              </a:ext>
            </a:extLst>
          </p:cNvPr>
          <p:cNvSpPr/>
          <p:nvPr/>
        </p:nvSpPr>
        <p:spPr>
          <a:xfrm>
            <a:off x="1293018" y="3346656"/>
            <a:ext cx="5593557" cy="2246769"/>
          </a:xfrm>
          <a:prstGeom prst="rect">
            <a:avLst/>
          </a:prstGeom>
          <a:solidFill>
            <a:schemeClr val="bg1">
              <a:lumMod val="85000"/>
            </a:schemeClr>
          </a:solidFill>
        </p:spPr>
        <p:txBody>
          <a:bodyPr wrap="square">
            <a:spAutoFit/>
          </a:bodyPr>
          <a:lstStyle/>
          <a:p>
            <a:r>
              <a:rPr lang="en-US" altLang="zh-CN" sz="1400" dirty="0"/>
              <a:t>let box = </a:t>
            </a:r>
            <a:r>
              <a:rPr lang="en-US" altLang="zh-CN" sz="1400" dirty="0" err="1"/>
              <a:t>anu.create</a:t>
            </a:r>
            <a:r>
              <a:rPr lang="en-US" altLang="zh-CN" sz="1400" dirty="0"/>
              <a:t>('box', '</a:t>
            </a:r>
            <a:r>
              <a:rPr lang="en-US" altLang="zh-CN" sz="1400" dirty="0" err="1"/>
              <a:t>ourBox</a:t>
            </a:r>
            <a:r>
              <a:rPr lang="en-US" altLang="zh-CN" sz="1400" dirty="0"/>
              <a:t>', {size: 2}, [{count: 2}]);</a:t>
            </a:r>
          </a:p>
          <a:p>
            <a:r>
              <a:rPr lang="en-US" altLang="zh-CN" sz="1400" dirty="0" err="1"/>
              <a:t>box.renderOutline</a:t>
            </a:r>
            <a:r>
              <a:rPr lang="en-US" altLang="zh-CN" sz="1400" dirty="0"/>
              <a:t> = true;</a:t>
            </a:r>
          </a:p>
          <a:p>
            <a:endParaRPr lang="en-US" altLang="zh-CN" sz="1400" dirty="0"/>
          </a:p>
          <a:p>
            <a:r>
              <a:rPr lang="en-US" altLang="zh-CN" sz="1400" dirty="0" err="1"/>
              <a:t>scene.onPointerObservable.add</a:t>
            </a:r>
            <a:r>
              <a:rPr lang="en-US" altLang="zh-CN" sz="1400" dirty="0"/>
              <a:t>((info) =&gt; {</a:t>
            </a:r>
          </a:p>
          <a:p>
            <a:r>
              <a:rPr lang="en-US" altLang="zh-CN" sz="1400" dirty="0"/>
              <a:t>  switch (</a:t>
            </a:r>
            <a:r>
              <a:rPr lang="en-US" altLang="zh-CN" sz="1400" dirty="0" err="1"/>
              <a:t>info.type</a:t>
            </a:r>
            <a:r>
              <a:rPr lang="en-US" altLang="zh-CN" sz="1400" dirty="0"/>
              <a:t>) {</a:t>
            </a:r>
          </a:p>
          <a:p>
            <a:r>
              <a:rPr lang="en-US" altLang="zh-CN" sz="1400" dirty="0"/>
              <a:t>    case </a:t>
            </a:r>
            <a:r>
              <a:rPr lang="en-US" altLang="zh-CN" sz="1400" dirty="0" err="1"/>
              <a:t>PointerEventTypes.POINTERPICK</a:t>
            </a:r>
            <a:r>
              <a:rPr lang="en-US" altLang="zh-CN" sz="1400" dirty="0"/>
              <a:t>:</a:t>
            </a:r>
          </a:p>
          <a:p>
            <a:r>
              <a:rPr lang="en-US" altLang="zh-CN" sz="1400" dirty="0"/>
              <a:t>      </a:t>
            </a:r>
            <a:r>
              <a:rPr lang="en-US" altLang="zh-CN" sz="1400" dirty="0" err="1"/>
              <a:t>info.pickInfo.pickedMesh.outlineColor</a:t>
            </a:r>
            <a:r>
              <a:rPr lang="en-US" altLang="zh-CN" sz="1400" dirty="0"/>
              <a:t> = Color3.Random();</a:t>
            </a:r>
          </a:p>
          <a:p>
            <a:r>
              <a:rPr lang="en-US" altLang="zh-CN" sz="1400" dirty="0"/>
              <a:t>      break</a:t>
            </a:r>
          </a:p>
          <a:p>
            <a:r>
              <a:rPr lang="en-US" altLang="zh-CN" sz="1400" dirty="0"/>
              <a:t>  }</a:t>
            </a:r>
          </a:p>
          <a:p>
            <a:r>
              <a:rPr lang="en-US" altLang="zh-CN" sz="1400" dirty="0"/>
              <a:t>})</a:t>
            </a:r>
          </a:p>
        </p:txBody>
      </p:sp>
    </p:spTree>
    <p:extLst>
      <p:ext uri="{BB962C8B-B14F-4D97-AF65-F5344CB8AC3E}">
        <p14:creationId xmlns:p14="http://schemas.microsoft.com/office/powerpoint/2010/main" val="22843450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52C7C-AB08-0A47-A80E-38F97E44DD70}"/>
            </a:ext>
          </a:extLst>
        </p:cNvPr>
        <p:cNvGrpSpPr/>
        <p:nvPr/>
      </p:nvGrpSpPr>
      <p:grpSpPr>
        <a:xfrm>
          <a:off x="0" y="0"/>
          <a:ext cx="0" cy="0"/>
          <a:chOff x="0" y="0"/>
          <a:chExt cx="0" cy="0"/>
        </a:xfrm>
      </p:grpSpPr>
      <p:sp>
        <p:nvSpPr>
          <p:cNvPr id="12291" name="内容占位符 2">
            <a:extLst>
              <a:ext uri="{FF2B5EF4-FFF2-40B4-BE49-F238E27FC236}">
                <a16:creationId xmlns:a16="http://schemas.microsoft.com/office/drawing/2014/main" id="{7C34FC2F-82D0-295E-92BA-A8CFAD565565}"/>
              </a:ext>
            </a:extLst>
          </p:cNvPr>
          <p:cNvSpPr>
            <a:spLocks noGrp="1" noChangeArrowheads="1"/>
          </p:cNvSpPr>
          <p:nvPr>
            <p:ph idx="1"/>
          </p:nvPr>
        </p:nvSpPr>
        <p:spPr>
          <a:xfrm>
            <a:off x="1089752" y="484643"/>
            <a:ext cx="10473597" cy="2900113"/>
          </a:xfrm>
        </p:spPr>
        <p:txBody>
          <a:bodyPr>
            <a:normAutofit fontScale="92500" lnSpcReduction="10000"/>
          </a:bodyPr>
          <a:lstStyle/>
          <a:p>
            <a:pPr marL="0" indent="0">
              <a:lnSpc>
                <a:spcPct val="120000"/>
              </a:lnSpc>
              <a:buNone/>
            </a:pPr>
            <a:r>
              <a:rPr lang="zh-CN" altLang="en-US" sz="3200" b="1" dirty="0"/>
              <a:t>动作（</a:t>
            </a:r>
            <a:r>
              <a:rPr lang="en-US" altLang="zh-CN" sz="3200" b="1" dirty="0"/>
              <a:t>Actions</a:t>
            </a:r>
            <a:r>
              <a:rPr lang="zh-CN" altLang="en-US" sz="3200" b="1" dirty="0"/>
              <a:t>）</a:t>
            </a:r>
          </a:p>
          <a:p>
            <a:r>
              <a:rPr lang="zh-CN" altLang="en-US" dirty="0"/>
              <a:t>动作系统用于为 </a:t>
            </a:r>
            <a:r>
              <a:rPr lang="en-US" altLang="zh-CN" dirty="0"/>
              <a:t>Mesh </a:t>
            </a:r>
            <a:r>
              <a:rPr lang="zh-CN" altLang="en-US" dirty="0"/>
              <a:t>创建事件，类似于 </a:t>
            </a:r>
            <a:r>
              <a:rPr lang="en-US" altLang="zh-CN" dirty="0"/>
              <a:t>DOM </a:t>
            </a:r>
            <a:r>
              <a:rPr lang="zh-CN" altLang="en-US" dirty="0"/>
              <a:t>对象的事件机制：</a:t>
            </a:r>
          </a:p>
          <a:p>
            <a:r>
              <a:rPr lang="zh-CN" altLang="en-US" dirty="0"/>
              <a:t>需要为 </a:t>
            </a:r>
            <a:r>
              <a:rPr lang="en-US" altLang="zh-CN" dirty="0"/>
              <a:t>Mesh </a:t>
            </a:r>
            <a:r>
              <a:rPr lang="zh-CN" altLang="en-US" dirty="0"/>
              <a:t>注册一个 </a:t>
            </a:r>
            <a:r>
              <a:rPr lang="en-US" altLang="zh-CN" b="1" dirty="0"/>
              <a:t>Action Manager</a:t>
            </a:r>
            <a:r>
              <a:rPr lang="zh-CN" altLang="en-US" dirty="0"/>
              <a:t>，使用 </a:t>
            </a:r>
            <a:r>
              <a:rPr lang="en-US" altLang="zh-CN" dirty="0"/>
              <a:t>Anu </a:t>
            </a:r>
            <a:r>
              <a:rPr lang="zh-CN" altLang="en-US" dirty="0"/>
              <a:t>的 </a:t>
            </a:r>
            <a:r>
              <a:rPr lang="en-US" altLang="zh-CN" dirty="0"/>
              <a:t>create() </a:t>
            </a:r>
            <a:r>
              <a:rPr lang="zh-CN" altLang="en-US" dirty="0"/>
              <a:t>或 </a:t>
            </a:r>
            <a:r>
              <a:rPr lang="en-US" altLang="zh-CN" dirty="0"/>
              <a:t>bind() </a:t>
            </a:r>
            <a:r>
              <a:rPr lang="zh-CN" altLang="en-US" dirty="0"/>
              <a:t>时会自动完成。</a:t>
            </a:r>
          </a:p>
          <a:p>
            <a:r>
              <a:rPr lang="zh-CN" altLang="en-US" dirty="0"/>
              <a:t>使用 </a:t>
            </a:r>
            <a:r>
              <a:rPr lang="en-US" altLang="zh-CN" dirty="0"/>
              <a:t>action() </a:t>
            </a:r>
            <a:r>
              <a:rPr lang="zh-CN" altLang="en-US" dirty="0"/>
              <a:t>方法，可以将动作附加到 </a:t>
            </a:r>
            <a:r>
              <a:rPr lang="en-US" altLang="zh-CN" dirty="0"/>
              <a:t>Selection </a:t>
            </a:r>
            <a:r>
              <a:rPr lang="zh-CN" altLang="en-US" dirty="0"/>
              <a:t>中的每个 </a:t>
            </a:r>
            <a:r>
              <a:rPr lang="en-US" altLang="zh-CN" dirty="0"/>
              <a:t>Mesh</a:t>
            </a:r>
            <a:r>
              <a:rPr lang="zh-CN" altLang="en-US" dirty="0"/>
              <a:t>。</a:t>
            </a:r>
          </a:p>
          <a:p>
            <a:r>
              <a:rPr lang="en-US" altLang="zh-CN" dirty="0"/>
              <a:t>Babylon </a:t>
            </a:r>
            <a:r>
              <a:rPr lang="zh-CN" altLang="en-US" dirty="0"/>
              <a:t>提供多种动作类型，如 </a:t>
            </a:r>
            <a:r>
              <a:rPr lang="en-US" altLang="zh-CN" dirty="0" err="1"/>
              <a:t>ExecuteCodeAction</a:t>
            </a:r>
            <a:r>
              <a:rPr lang="zh-CN" altLang="en-US" dirty="0"/>
              <a:t>、</a:t>
            </a:r>
            <a:r>
              <a:rPr lang="en-US" altLang="zh-CN" dirty="0" err="1"/>
              <a:t>InterpolateValueAction</a:t>
            </a:r>
            <a:r>
              <a:rPr lang="zh-CN" altLang="en-US" dirty="0"/>
              <a:t>。</a:t>
            </a:r>
          </a:p>
          <a:p>
            <a:r>
              <a:rPr lang="zh-CN" altLang="en-US" dirty="0"/>
              <a:t>提供 </a:t>
            </a:r>
            <a:r>
              <a:rPr lang="en-US" altLang="zh-CN" dirty="0"/>
              <a:t>14 </a:t>
            </a:r>
            <a:r>
              <a:rPr lang="zh-CN" altLang="en-US" dirty="0"/>
              <a:t>种触发类型，如 </a:t>
            </a:r>
            <a:r>
              <a:rPr lang="en-US" altLang="zh-CN" dirty="0" err="1"/>
              <a:t>OnPickTrigger</a:t>
            </a:r>
            <a:r>
              <a:rPr lang="zh-CN" altLang="en-US" dirty="0"/>
              <a:t>、</a:t>
            </a:r>
            <a:r>
              <a:rPr lang="en-US" altLang="zh-CN" dirty="0" err="1"/>
              <a:t>OnPointerOverTrigger</a:t>
            </a:r>
            <a:r>
              <a:rPr lang="zh-CN" altLang="en-US" dirty="0"/>
              <a:t>。</a:t>
            </a:r>
          </a:p>
          <a:p>
            <a:r>
              <a:rPr lang="zh-CN" altLang="en-US" dirty="0"/>
              <a:t>更多详情可参考 </a:t>
            </a:r>
            <a:r>
              <a:rPr lang="en-US" altLang="zh-CN" dirty="0"/>
              <a:t>Babylon </a:t>
            </a:r>
            <a:r>
              <a:rPr lang="zh-CN" altLang="en-US" dirty="0"/>
              <a:t>官方文档。</a:t>
            </a:r>
          </a:p>
        </p:txBody>
      </p:sp>
      <p:sp>
        <p:nvSpPr>
          <p:cNvPr id="8" name="矩形 7">
            <a:extLst>
              <a:ext uri="{FF2B5EF4-FFF2-40B4-BE49-F238E27FC236}">
                <a16:creationId xmlns:a16="http://schemas.microsoft.com/office/drawing/2014/main" id="{AEC8CC46-D3C9-E9A8-B502-38365EBF8190}"/>
              </a:ext>
            </a:extLst>
          </p:cNvPr>
          <p:cNvSpPr/>
          <p:nvPr/>
        </p:nvSpPr>
        <p:spPr>
          <a:xfrm>
            <a:off x="1293018" y="3429000"/>
            <a:ext cx="5593557" cy="2031325"/>
          </a:xfrm>
          <a:prstGeom prst="rect">
            <a:avLst/>
          </a:prstGeom>
          <a:solidFill>
            <a:schemeClr val="bg1">
              <a:lumMod val="85000"/>
            </a:schemeClr>
          </a:solidFill>
        </p:spPr>
        <p:txBody>
          <a:bodyPr wrap="square">
            <a:spAutoFit/>
          </a:bodyPr>
          <a:lstStyle/>
          <a:p>
            <a:r>
              <a:rPr lang="en-US" altLang="zh-CN" sz="1400" dirty="0"/>
              <a:t>let boxes = </a:t>
            </a:r>
            <a:r>
              <a:rPr lang="en-US" altLang="zh-CN" sz="1400" dirty="0" err="1"/>
              <a:t>anu.bind</a:t>
            </a:r>
            <a:r>
              <a:rPr lang="en-US" altLang="zh-CN" sz="1400" dirty="0"/>
              <a:t>('box', {size: 1}, [1,2,3]);</a:t>
            </a:r>
          </a:p>
          <a:p>
            <a:endParaRPr lang="en-US" altLang="zh-CN" sz="1400" dirty="0"/>
          </a:p>
          <a:p>
            <a:r>
              <a:rPr lang="en-US" altLang="zh-CN" sz="1400" dirty="0" err="1"/>
              <a:t>boxes.position</a:t>
            </a:r>
            <a:r>
              <a:rPr lang="en-US" altLang="zh-CN" sz="1400" dirty="0"/>
              <a:t>(() =&gt; Vector3.Random(-2,2))</a:t>
            </a:r>
          </a:p>
          <a:p>
            <a:r>
              <a:rPr lang="en-US" altLang="zh-CN" sz="1400" dirty="0"/>
              <a:t>      .action((</a:t>
            </a:r>
            <a:r>
              <a:rPr lang="en-US" altLang="zh-CN" sz="1400" dirty="0" err="1"/>
              <a:t>d,n,i</a:t>
            </a:r>
            <a:r>
              <a:rPr lang="en-US" altLang="zh-CN" sz="1400" dirty="0"/>
              <a:t>) =&gt; new </a:t>
            </a:r>
            <a:r>
              <a:rPr lang="en-US" altLang="zh-CN" sz="1400" dirty="0" err="1"/>
              <a:t>ExecuteCodeAction</a:t>
            </a:r>
            <a:r>
              <a:rPr lang="en-US" altLang="zh-CN" sz="1400" dirty="0"/>
              <a:t>(</a:t>
            </a:r>
            <a:r>
              <a:rPr lang="en-US" altLang="zh-CN" sz="1400" dirty="0" err="1"/>
              <a:t>ActionManager.OnPointerOverTrigger</a:t>
            </a:r>
            <a:r>
              <a:rPr lang="en-US" altLang="zh-CN" sz="1400" dirty="0"/>
              <a:t>, </a:t>
            </a:r>
          </a:p>
          <a:p>
            <a:r>
              <a:rPr lang="en-US" altLang="zh-CN" sz="1400" dirty="0"/>
              <a:t>        (</a:t>
            </a:r>
            <a:r>
              <a:rPr lang="en-US" altLang="zh-CN" sz="1400" dirty="0" err="1"/>
              <a:t>evt</a:t>
            </a:r>
            <a:r>
              <a:rPr lang="en-US" altLang="zh-CN" sz="1400" dirty="0"/>
              <a:t>) =&gt; {</a:t>
            </a:r>
          </a:p>
          <a:p>
            <a:r>
              <a:rPr lang="en-US" altLang="zh-CN" sz="1400" dirty="0"/>
              <a:t>          </a:t>
            </a:r>
            <a:r>
              <a:rPr lang="en-US" altLang="zh-CN" sz="1400" dirty="0" err="1"/>
              <a:t>n.scaling</a:t>
            </a:r>
            <a:r>
              <a:rPr lang="en-US" altLang="zh-CN" sz="1400" dirty="0"/>
              <a:t> = Vector3.Random(1.5,2);</a:t>
            </a:r>
          </a:p>
          <a:p>
            <a:r>
              <a:rPr lang="en-US" altLang="zh-CN" sz="1400" dirty="0"/>
              <a:t>        }</a:t>
            </a:r>
          </a:p>
          <a:p>
            <a:r>
              <a:rPr lang="en-US" altLang="zh-CN" sz="1400" dirty="0"/>
              <a:t>      ))</a:t>
            </a:r>
          </a:p>
        </p:txBody>
      </p:sp>
      <p:pic>
        <p:nvPicPr>
          <p:cNvPr id="3" name="图片 2">
            <a:extLst>
              <a:ext uri="{FF2B5EF4-FFF2-40B4-BE49-F238E27FC236}">
                <a16:creationId xmlns:a16="http://schemas.microsoft.com/office/drawing/2014/main" id="{8B48E9D3-B7C5-46DC-F95A-1D7625F3DA2E}"/>
              </a:ext>
            </a:extLst>
          </p:cNvPr>
          <p:cNvPicPr>
            <a:picLocks noChangeAspect="1"/>
          </p:cNvPicPr>
          <p:nvPr/>
        </p:nvPicPr>
        <p:blipFill>
          <a:blip r:embed="rId2"/>
          <a:stretch>
            <a:fillRect/>
          </a:stretch>
        </p:blipFill>
        <p:spPr>
          <a:xfrm>
            <a:off x="7510463" y="3267075"/>
            <a:ext cx="3176588" cy="2420956"/>
          </a:xfrm>
          <a:prstGeom prst="rect">
            <a:avLst/>
          </a:prstGeom>
        </p:spPr>
      </p:pic>
    </p:spTree>
    <p:extLst>
      <p:ext uri="{BB962C8B-B14F-4D97-AF65-F5344CB8AC3E}">
        <p14:creationId xmlns:p14="http://schemas.microsoft.com/office/powerpoint/2010/main" val="30649412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B19DF-FFFE-A475-663B-8785D857D427}"/>
            </a:ext>
          </a:extLst>
        </p:cNvPr>
        <p:cNvGrpSpPr/>
        <p:nvPr/>
      </p:nvGrpSpPr>
      <p:grpSpPr>
        <a:xfrm>
          <a:off x="0" y="0"/>
          <a:ext cx="0" cy="0"/>
          <a:chOff x="0" y="0"/>
          <a:chExt cx="0" cy="0"/>
        </a:xfrm>
      </p:grpSpPr>
      <p:sp>
        <p:nvSpPr>
          <p:cNvPr id="12291" name="内容占位符 2">
            <a:extLst>
              <a:ext uri="{FF2B5EF4-FFF2-40B4-BE49-F238E27FC236}">
                <a16:creationId xmlns:a16="http://schemas.microsoft.com/office/drawing/2014/main" id="{381249FC-4CB9-4154-E52B-2FD2A3A4B063}"/>
              </a:ext>
            </a:extLst>
          </p:cNvPr>
          <p:cNvSpPr>
            <a:spLocks noGrp="1" noChangeArrowheads="1"/>
          </p:cNvSpPr>
          <p:nvPr>
            <p:ph idx="1"/>
          </p:nvPr>
        </p:nvSpPr>
        <p:spPr>
          <a:xfrm>
            <a:off x="1089752" y="484643"/>
            <a:ext cx="10473597" cy="2900113"/>
          </a:xfrm>
        </p:spPr>
        <p:txBody>
          <a:bodyPr>
            <a:normAutofit/>
          </a:bodyPr>
          <a:lstStyle/>
          <a:p>
            <a:pPr marL="0" indent="0">
              <a:buNone/>
            </a:pPr>
            <a:r>
              <a:rPr lang="zh-CN" altLang="en-US" sz="3200" b="1" dirty="0"/>
              <a:t>行为（</a:t>
            </a:r>
            <a:r>
              <a:rPr lang="en-US" altLang="zh-CN" sz="3200" b="1" dirty="0"/>
              <a:t>Behaviors</a:t>
            </a:r>
            <a:r>
              <a:rPr lang="zh-CN" altLang="en-US" sz="3200" b="1" dirty="0"/>
              <a:t>）</a:t>
            </a:r>
          </a:p>
          <a:p>
            <a:pPr marL="0" indent="0">
              <a:buNone/>
            </a:pPr>
            <a:r>
              <a:rPr lang="zh-CN" altLang="en-US" dirty="0"/>
              <a:t>行为接口用于实现更复杂的交互，例如拖拽：</a:t>
            </a:r>
          </a:p>
          <a:p>
            <a:r>
              <a:rPr lang="zh-CN" altLang="en-US" dirty="0"/>
              <a:t>可以将行为附加到 </a:t>
            </a:r>
            <a:r>
              <a:rPr lang="en-US" altLang="zh-CN" dirty="0"/>
              <a:t>Selection </a:t>
            </a:r>
            <a:r>
              <a:rPr lang="zh-CN" altLang="en-US" dirty="0"/>
              <a:t>中的所有 </a:t>
            </a:r>
            <a:r>
              <a:rPr lang="en-US" altLang="zh-CN" dirty="0"/>
              <a:t>Mesh</a:t>
            </a:r>
            <a:r>
              <a:rPr lang="zh-CN" altLang="en-US" dirty="0"/>
              <a:t>，通过 </a:t>
            </a:r>
            <a:r>
              <a:rPr lang="en-US" altLang="zh-CN" dirty="0"/>
              <a:t>behavior()</a:t>
            </a:r>
            <a:r>
              <a:rPr lang="zh-CN" altLang="en-US" dirty="0"/>
              <a:t> 方法实现。</a:t>
            </a:r>
          </a:p>
          <a:p>
            <a:r>
              <a:rPr lang="zh-CN" altLang="en-US" dirty="0"/>
              <a:t>有些行为包含可配置属性，可通过扩展函数修改，以实现自定义交互。</a:t>
            </a:r>
          </a:p>
        </p:txBody>
      </p:sp>
      <p:sp>
        <p:nvSpPr>
          <p:cNvPr id="8" name="矩形 7">
            <a:extLst>
              <a:ext uri="{FF2B5EF4-FFF2-40B4-BE49-F238E27FC236}">
                <a16:creationId xmlns:a16="http://schemas.microsoft.com/office/drawing/2014/main" id="{BDBDB406-1D86-DC8F-75CD-3D21F04BB183}"/>
              </a:ext>
            </a:extLst>
          </p:cNvPr>
          <p:cNvSpPr/>
          <p:nvPr/>
        </p:nvSpPr>
        <p:spPr>
          <a:xfrm>
            <a:off x="1235868" y="2441781"/>
            <a:ext cx="5593557" cy="738664"/>
          </a:xfrm>
          <a:prstGeom prst="rect">
            <a:avLst/>
          </a:prstGeom>
          <a:solidFill>
            <a:schemeClr val="bg1">
              <a:lumMod val="85000"/>
            </a:schemeClr>
          </a:solidFill>
        </p:spPr>
        <p:txBody>
          <a:bodyPr wrap="square">
            <a:spAutoFit/>
          </a:bodyPr>
          <a:lstStyle/>
          <a:p>
            <a:r>
              <a:rPr lang="en-US" altLang="zh-CN" sz="1400" dirty="0" err="1"/>
              <a:t>boxes.position</a:t>
            </a:r>
            <a:r>
              <a:rPr lang="en-US" altLang="zh-CN" sz="1400" dirty="0"/>
              <a:t>(() =&gt; Vector3.Random(-2,2))</a:t>
            </a:r>
          </a:p>
          <a:p>
            <a:r>
              <a:rPr lang="en-US" altLang="zh-CN" sz="1400" dirty="0"/>
              <a:t>      .behavior(() =&gt; new </a:t>
            </a:r>
            <a:r>
              <a:rPr lang="en-US" altLang="zh-CN" sz="1400" dirty="0" err="1"/>
              <a:t>PointerDragBehavior</a:t>
            </a:r>
            <a:r>
              <a:rPr lang="en-US" altLang="zh-CN" sz="1400" dirty="0"/>
              <a:t>({ </a:t>
            </a:r>
            <a:r>
              <a:rPr lang="en-US" altLang="zh-CN" sz="1400" dirty="0" err="1"/>
              <a:t>dragAxis</a:t>
            </a:r>
            <a:r>
              <a:rPr lang="en-US" altLang="zh-CN" sz="1400" dirty="0"/>
              <a:t>: new Vector3(1, 0, 0) }))</a:t>
            </a:r>
          </a:p>
        </p:txBody>
      </p:sp>
      <p:sp>
        <p:nvSpPr>
          <p:cNvPr id="2" name="矩形 1">
            <a:extLst>
              <a:ext uri="{FF2B5EF4-FFF2-40B4-BE49-F238E27FC236}">
                <a16:creationId xmlns:a16="http://schemas.microsoft.com/office/drawing/2014/main" id="{35B97BBD-CD09-DA68-73C3-90AA6AED685D}"/>
              </a:ext>
            </a:extLst>
          </p:cNvPr>
          <p:cNvSpPr/>
          <p:nvPr/>
        </p:nvSpPr>
        <p:spPr>
          <a:xfrm>
            <a:off x="1235867" y="3670506"/>
            <a:ext cx="5593557" cy="2246769"/>
          </a:xfrm>
          <a:prstGeom prst="rect">
            <a:avLst/>
          </a:prstGeom>
          <a:solidFill>
            <a:schemeClr val="bg1">
              <a:lumMod val="85000"/>
            </a:schemeClr>
          </a:solidFill>
        </p:spPr>
        <p:txBody>
          <a:bodyPr wrap="square">
            <a:spAutoFit/>
          </a:bodyPr>
          <a:lstStyle/>
          <a:p>
            <a:r>
              <a:rPr lang="en-US" altLang="zh-CN" sz="1400" dirty="0" err="1"/>
              <a:t>boxes.position</a:t>
            </a:r>
            <a:r>
              <a:rPr lang="en-US" altLang="zh-CN" sz="1400" dirty="0"/>
              <a:t>(() =&gt; Vector3.Random(-2,2))</a:t>
            </a:r>
          </a:p>
          <a:p>
            <a:r>
              <a:rPr lang="en-US" altLang="zh-CN" sz="1400" dirty="0"/>
              <a:t>      .behavior(() =&gt; {</a:t>
            </a:r>
          </a:p>
          <a:p>
            <a:r>
              <a:rPr lang="en-US" altLang="zh-CN" sz="1400" dirty="0"/>
              <a:t>        let behavior = new </a:t>
            </a:r>
            <a:r>
              <a:rPr lang="en-US" altLang="zh-CN" sz="1400" dirty="0" err="1"/>
              <a:t>SixDofDragBehavior</a:t>
            </a:r>
            <a:r>
              <a:rPr lang="en-US" altLang="zh-CN" sz="1400" dirty="0"/>
              <a:t>();</a:t>
            </a:r>
          </a:p>
          <a:p>
            <a:r>
              <a:rPr lang="en-US" altLang="zh-CN" sz="1400" dirty="0"/>
              <a:t>        </a:t>
            </a:r>
            <a:r>
              <a:rPr lang="en-US" altLang="zh-CN" sz="1400" dirty="0" err="1"/>
              <a:t>behavior.allowMultiPointer</a:t>
            </a:r>
            <a:r>
              <a:rPr lang="en-US" altLang="zh-CN" sz="1400" dirty="0"/>
              <a:t> = true;</a:t>
            </a:r>
          </a:p>
          <a:p>
            <a:r>
              <a:rPr lang="en-US" altLang="zh-CN" sz="1400" dirty="0"/>
              <a:t>        </a:t>
            </a:r>
            <a:r>
              <a:rPr lang="en-US" altLang="zh-CN" sz="1400" dirty="0" err="1"/>
              <a:t>behavior.faceCameraOnDragStart</a:t>
            </a:r>
            <a:r>
              <a:rPr lang="en-US" altLang="zh-CN" sz="1400" dirty="0"/>
              <a:t> = true;</a:t>
            </a:r>
          </a:p>
          <a:p>
            <a:r>
              <a:rPr lang="en-US" altLang="zh-CN" sz="1400" dirty="0"/>
              <a:t>        </a:t>
            </a:r>
            <a:r>
              <a:rPr lang="en-US" altLang="zh-CN" sz="1400" dirty="0" err="1"/>
              <a:t>behavior.rotateDraggedObject</a:t>
            </a:r>
            <a:r>
              <a:rPr lang="en-US" altLang="zh-CN" sz="1400" dirty="0"/>
              <a:t> = false;</a:t>
            </a:r>
          </a:p>
          <a:p>
            <a:r>
              <a:rPr lang="en-US" altLang="zh-CN" sz="1400" dirty="0"/>
              <a:t>        </a:t>
            </a:r>
            <a:r>
              <a:rPr lang="en-US" altLang="zh-CN" sz="1400" dirty="0" err="1"/>
              <a:t>behavior.rotateWithMotionController</a:t>
            </a:r>
            <a:r>
              <a:rPr lang="en-US" altLang="zh-CN" sz="1400" dirty="0"/>
              <a:t> = false;</a:t>
            </a:r>
          </a:p>
          <a:p>
            <a:endParaRPr lang="en-US" altLang="zh-CN" sz="1400" dirty="0"/>
          </a:p>
          <a:p>
            <a:r>
              <a:rPr lang="en-US" altLang="zh-CN" sz="1400" dirty="0"/>
              <a:t>        return behavior;</a:t>
            </a:r>
          </a:p>
          <a:p>
            <a:r>
              <a:rPr lang="en-US" altLang="zh-CN" sz="1400" dirty="0"/>
              <a:t>      })</a:t>
            </a:r>
          </a:p>
        </p:txBody>
      </p:sp>
    </p:spTree>
    <p:extLst>
      <p:ext uri="{BB962C8B-B14F-4D97-AF65-F5344CB8AC3E}">
        <p14:creationId xmlns:p14="http://schemas.microsoft.com/office/powerpoint/2010/main" val="3741360824"/>
      </p:ext>
    </p:extLst>
  </p:cSld>
  <p:clrMapOvr>
    <a:masterClrMapping/>
  </p:clrMapOvr>
</p:sld>
</file>

<file path=ppt/theme/theme1.xml><?xml version="1.0" encoding="utf-8"?>
<a:theme xmlns:a="http://schemas.openxmlformats.org/drawingml/2006/main" name="徽章">
  <a:themeElements>
    <a:clrScheme name="徽章">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徽章">
      <a:majorFont>
        <a:latin typeface="Impact"/>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徽章">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TM10001106[[fn=徽章]]</Template>
  <TotalTime>1271</TotalTime>
  <Words>4552</Words>
  <Application>Microsoft Office PowerPoint</Application>
  <PresentationFormat>宽屏</PresentationFormat>
  <Paragraphs>425</Paragraphs>
  <Slides>22</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22</vt:i4>
      </vt:variant>
    </vt:vector>
  </HeadingPairs>
  <TitlesOfParts>
    <vt:vector size="30" baseType="lpstr">
      <vt:lpstr>Times New Roman Regular</vt:lpstr>
      <vt:lpstr>等线</vt:lpstr>
      <vt:lpstr>华文中宋</vt:lpstr>
      <vt:lpstr>Arial</vt:lpstr>
      <vt:lpstr>Courier New</vt:lpstr>
      <vt:lpstr>Gill Sans MT</vt:lpstr>
      <vt:lpstr>Impact</vt:lpstr>
      <vt:lpstr>徽章</vt:lpstr>
      <vt:lpstr>信息可视化</vt:lpstr>
      <vt:lpstr>目录</vt:lpstr>
      <vt:lpstr>3D散点图</vt:lpstr>
      <vt:lpstr>3D散点图</vt:lpstr>
      <vt:lpstr>3D散点图</vt:lpstr>
      <vt:lpstr>3D散点图</vt:lpstr>
      <vt:lpstr>网格体，克隆</vt:lpstr>
      <vt:lpstr>mesh</vt:lpstr>
      <vt:lpstr>clones</vt:lpstr>
      <vt:lpstr>实例，瘦实例</vt:lpstr>
      <vt:lpstr>Instanced Mesh</vt:lpstr>
      <vt:lpstr>Thin Instance</vt:lpstr>
      <vt:lpstr>过渡</vt:lpstr>
      <vt:lpstr>过渡选项</vt:lpstr>
      <vt:lpstr>动态过渡选项</vt:lpstr>
      <vt:lpstr>排序转换</vt:lpstr>
      <vt:lpstr>Tween（补间动画）</vt:lpstr>
      <vt:lpstr>用于Mesh更新的Tween</vt:lpstr>
      <vt:lpstr>交互（Interactions）</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信息可视化</dc:title>
  <dc:creator>JuncongLin</dc:creator>
  <cp:lastModifiedBy>世斌 余</cp:lastModifiedBy>
  <cp:revision>121</cp:revision>
  <dcterms:created xsi:type="dcterms:W3CDTF">2022-09-14T08:08:26Z</dcterms:created>
  <dcterms:modified xsi:type="dcterms:W3CDTF">2025-09-18T07:44:08Z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6E4DEC726ABC38E8707F1C63287F005D</vt:lpwstr>
  </property>
  <property fmtid="{D5CDD505-2E9C-101B-9397-08002B2CF9AE}" pid="3" name="KSOProductBuildVer">
    <vt:lpwstr>2052-4.5.0.7405</vt:lpwstr>
  </property>
</Properties>
</file>